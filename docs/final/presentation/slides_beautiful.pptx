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**Tuti:** Morning. We're team FoodLens, and this is our final project for the course. Here's the problem in one line: most food apps hand you a single score and expect you to trust it. We don't do that. We show two things at once, how healthy a product is and how heavy its footprint is, and when those two disagree we point straight at it instead of hiding it. Every recommendation comes with one plain sentence built on a real number from Open Food Facts. The four of us will take you through the next twenty-five minutes: how we got here, the AI under the hood, how we plan to test it, the problems that fought back, a live demo, and what we'd change. I'll start with the design.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**Tuti:** Quick map of where we're going. Six points, all required by the rubric. I take the design process. Sufi does the explainable-AI side and why we picked those methods. Alex covers how we test it with real users. Pau takes the technical and design problems. Then we run the live demo together, each of us driving the bit we just talked about. And we close with the lessons, split between Alex and Pau, plus what's next. We left the demo for the end on purpose, right before the conclusions, so by the time you see it running you already know what every piece means. Let's start with the design.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**Tuti:** We didn't start by writing code. We started by listening. Six interviews with people who actually do the weekly shop, from someone who barely cooks to someone running a near-vegetarian household. We kept the questions well away from anything about AI so we wouldn't lead them. Then we coded the transcripts, forty-seven codes that collapsed into five Key Insights. The thing that jumped out was an imbalance. Nutri-Score is right there on the front of the pack. The Eco-Score almost never is. And nobody tells you when the two disagree. That gap is the whole reason FoodLens exists.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**Tuti:** These five insights are what we kept checking ourselves against. KI-1: people don't reject algorithms for being algorithms, they reject the ones whose reasoning is hidden. So always show the why. KI-2: the gap between what people want and what they actually buy is about time and money, not willpower, so we never lecture. KI-3: a single label gives false confidence. Our participants handed us real cases, a soda beating a juice on Nutri-Score, almonds that look healthy but cost a lot ecologically. KI-4: people reached for comparisons on their own. A difference lands faster than an absolute grade. And KI-5: everyone wanted to tune health against eco, but some wanted one button and others wanted the full slider.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**Tuti:** We turned those insights into seven Design Hooks, hard rules for the interface. H1: both axes always on screen. Even when Open Food Facts has no eco grade, the badge still shows up with a "no data" caption instead of vanishing. H2: the explanation isn't on a separate page, it's open on the card by default. H3: one sentence, one number. Charts are a drill-down, not the front door. H4: the slider is health against eco, with price tucked behind an Advanced toggle. H5: comparison takes several products and gives back a ranked list. H6: onboarding asks the bare minimum. H7: every card ends in something you can do. These are what we test the build against.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**Tuti:** We pulled four personas out of the interviews, each one carrying a constraint. Marc shops on autopilot, so the system has to work with zero setup. Pau Estarellas won't trust a score he can't check, so he's why the drill-down exists. Lluís hates greenwashing and being preached at, so the tool has to be opt-in and on demand. And Aina is so short on time and money that any app that lectures her loses instantly, she's our hard line against judgy copy. When two of them pull in opposite directions, we show the trade-off instead of quietly picking a side. That's the foundation. Sufi, over to you for the AI.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**Sufi:** Thanks Tuti. Our XAI choices aren't random, they come straight out of the research on what an explanation actually is. Tim Miller's finding is that good explanations are contrastive, they're selective, and they connect to what the person already knows. A raw model score fails all three. So we matched each technique to one of those. Contrastive: we answer "why this product instead of the one you usually buy". Selective: we show one number, not the whole feature vector, that's our H3 rule. Grounded: we use a model you can actually interpret, and we give the sceptic a way to check the maths. The literature gave us the test; we built the app to pass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**Sufi:** First the model. We don't recompute the Nutri-Score ourselves. The official formula has category quirks, so we read the certified `nutriscore_grade` straight from the API. For the explanation pipeline, though, we trained a Random Forest on a real Open Food Facts dump, around eighty percent accuracy on five-fold cross-validation. Why a forest and not a neural net? Because the feature importances come for free and you can read them, each of the seven per-hundred-gram nutrients gets a weight that makes sense. I want to be honest about scope here. This is a model that verifies the pipeline. It proves the explanation path works end to end. It isn't trying to replace the official grade.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**Sufi:** This is where Miller meets the screen. SHAP gives us local attribution: for this exact product, how much did sugar push the grade down, how much did fibre push it up. That's a vector. A vector breaks the selective rule and buries the shopper. So we squeeze it into one sentence with one number, which is H3 in practice. We don't throw the rest away. It sits behind an "Advanced explanation" toggle, the waterfall you're looking at. One sentence for Marc, the full thing on demand for anyone who wants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**Sufi:** One sentence is plenty for someone in a hurry. It isn't enough for the sceptic. Pau Estarellas told us flat out he won't trust a grade he can't check. So the drill-down is this scatter plot, served from our scatter endpoint, that drops the product onto the health-versus-eco plane next to the rest of its category. He can see for himself whether the recommendation holds up. And it's opt-in, it only shows when he asks for it, which keeps Lluís happy too, he wanted graphs, not guilt. Three layers for three people: the sentence gives Marc instant trust, the advanced SHAP view gives traceability, and the scatter lets Pau check it himself. One more slide before I hand over, on the AI we used.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**Sufi:** One honest slide before I pass it on, because we think you should declare both kinds of AI. Inside the product: a scikit-learn Random Forest drives the Nutri-Score explanation, SHAP gives the local attribution we compress into a sentence, a weighted KNN powers the alternatives, and DuckDB lets us query the full Open Food Facts dump. In development: we used AI coding assistants for boilerplate, tests, and docs. But every change was reviewed by a human, picked apart in adversarial review, which is literally how we caught a dead allergen filter, and gated by tests. We steer the AI. The design calls and the checking are ours. With that out in the open, Alex will tell you how we evaluate all of this with users.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**Alex:** Evaluation. We measure two separate things and we keep them apart on purpose, so a nice usability number can't paper over a weak explanation layer. First is the System Usability Scale, Brooke, 1996, ten items, basically: can people get around the dashboard. Second is explanation satisfaction, anchored to the XEQ construct from Wijekoon and colleagues, 2024, so: is it clear, is it consistent, does it give detail when you ask, does it feel reliable and fair, does it actually help you understand. And neither of these is a Google Form. They're a feature in the app, so a participant finishes the tasks and fills them in right there, same browser, same session, no jumping out to another tool.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**Alex:** The procedure is six tasks that follow our documented flows in order. Onboarding and search first, because everything else depends on them, then reading an explanation, finding an alternative, comparing a shelf, setting a usual product, and dragging the slider. After each task there's a Single Ease Question so we can pin friction to a specific flow. SUS comes once, right at the end. The cohort is the same six people we interviewed back in WA3, so this is a small formative study, six users, not a powered experiment. Two of the six are on the team. We say that openly and treat their data as the optimistic case. And the scoring is locked in advance: the standard SUS formula, the sixty-eight benchmark, the Sauro-Lewis grade bands, all committed before any data exists.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**Alex:** Now the honest part, and I want to be really clear about it. The instrument is built and wired, the tasks and the cohort are set, but we haven't collected participant data yet. So we're not going to stand here and quote a usability score we never measured. Making up numbers would be about the worst thing an HCI team could do. What we did instead is pre-register everything: the scoring, the thresholds, the bands, and three hypotheses we could genuinely turn out to be wrong about. That the contrastive drill-down lifts satisfaction for the sceptic. That the zero-config path scores well for the pragmatist. And that any moralising phrase costs us trust with the convenience seeker. Committing to all that before the data lands is good method, not a hole in the work. Pau, the technical side is yours.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 Thanks. The biggest single headache was the Open Food Facts API. Search throws random 503s, so we built a quiet fallback to a ten-product local sample with a banner that doesn't block anything, the UI never dies on you. Forget the User-Agent header and it returns a 403, so that header is on every call now. The eco field got renamed, so we read the new `environmental_score_grade` first and fall back to the old `ecoscore_grade`. Search is capped at ten requests a minute, so the backend budgets its calls through a Redis cache. And the backend is optional, it times out, fifteen hundred milliseconds for recommendations, two thousand for explanations, then quietly hands off to the in-browser path. On the design side, the hard part was holding the line: keeping the eco badge visible even when the grade is not-applicable, and not letting a fat SHAP vector break our one-sentence rule.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 And here's the part we're genuinely proud of, even though it's about bugs. An adversarial review and then an engineering pass turned up three real defects before release, and not one of them is something a usability test would have caught. First, and worst: the allergen filters were dead. The frontend wasn't even asking for the allergens field, so there was nothing to filter on. That's a safety problem, not a cosmetic one. We fixed it by pulling the field, normalising it to tokens, and matching exactly. Second, the category search was commented out, dead code, so we wired the filters back to live rendering. Third, a zero that read as missing: a real zero grams of sugar showed up as "no data" because of a truthiness check, so we added proper null guards. We're putting all three on the table. In our field, catching and fixing your own bugs honestly beats a slide that just looks clean. Right, time to show it working. We run the demo together, the four of us.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**Todos:** Right, you've got the full picture, so let's actually show it. We run this part as a team, each of us driving the bit we just presented. It opens on the home page, one clear thing to do, none of the wall of controls you usually get hit with. From there, Discover: a search and the dual-axis grid, both badges on every card, the sentence already open. Click any product and it gets its own page, the reasoning, the main ingredients, and the advanced SHAP view and the scatter Sufi showed you, all on one screen. Drag the priority slider and the ranking really does re-order, a sceptic can confirm it's doing something. Then the diet-and-ethics and allergen filters, and the category browser. And compare-this-shelf: a few products in, a ranked list out with a winner-highlight table and a CSV export. Onboarding still asks only goals, age, and gender, that's H6. If anything falls over, the next two slides are screenshot backups. Switching to the app now.</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**Todos:** This is the backup if the live app plays up, the Discover view. The results grid: every card carries both badges, the contrastive sentence open by default, and a little toggle to drop the product into a comparison. Look at the cards where data is missing, the eco badge still shows, with a question mark or a dash and a caption, instead of disappearing. That's H1 in the actual markup: missing gets shown, never hidden.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**Todos:** And the second backup, the Compare view. A few products go in, and out comes a ranked summary with a one-line reason for each, sitting on top of a table that highlights whichever product leads on each axis, Nutri-Score, Eco-Score, energy, sugars, fat. Notice one small thing that cost us a real bug fix: a genuine zero grams of sugar shows as "0", not "no data". Missing and zero aren't the same, and the table respects that now. That's the platform. Alex will pull the lessons together, and then Pau closes on where this goes next.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**Alex:** Lessons, first half. One: the research up front paid for itself many times over. Those five Key Insights became something we could point at, so we argued from evidence instead of personal taste. Two: honesty turned out to be a feature. Owning the bugs we found, and saying out loud that our data collection isn't done yet, reads as far more credible than a polished story, and "missing is not zero" became a real engineering habit. Three, and this one's newer: information architecture is a design decision, not an afterthought. We started with everything crammed onto one endless page and it overwhelmed people, so we split it into a clear home plus separate views for discover, product, compare, and evaluation, each at the right level. Pau will take the rest of the lessons and where we're headed.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 Lessons, second half, then we close. Four, and this is the big one: explainable AI is an interaction problem before it's a modelling problem. Training the forest was the easy bit. Compressing SHAP into a sentence a sceptic would actually trust was the real work. Five: the limits we set ourselves helped. No build step, no framework, the app opens with a double-click, and the graceful degradation we were forced into kept it alive every time the API misbehaved. Where it goes next: run the study and fill those placeholder tables with real SUS and explanation numbers; finish the price axis behind the Advanced toggle, which is the thing Aina needs; grow the index, it already holds around eight hundred and sixty real products and we want the whole catalogue; and eventually a longer, in-the-wild study against something like Yuka, to see whether dual-axis contrastive design actually changes what people buy. That's FoodLens. Two scores, a real comparison, honest about what it does and doesn't prove yet. Repo's on the slide. Thanks, we're happy to take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3EED8"/>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2C5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48640"/>
            <a:ext cx="10817352" cy="365760"/>
          </a:xfrm>
          <a:prstGeom prst="rect">
            <a:avLst/>
          </a:prstGeom>
          <a:noFill/>
        </p:spPr>
        <p:txBody>
          <a:bodyPr wrap="square">
            <a:spAutoFit/>
          </a:bodyPr>
          <a:lstStyle/>
          <a:p>
            <a:pPr algn="l"/>
            <a:r>
              <a:rPr sz="1000" b="0" i="0">
                <a:solidFill>
                  <a:srgbClr val="6B6550"/>
                </a:solidFill>
                <a:latin typeface="Courier New"/>
              </a:rPr>
              <a:t>UIB · HCI 11755 · Final Project · June 2026</a:t>
            </a:r>
          </a:p>
        </p:txBody>
      </p:sp>
      <p:sp>
        <p:nvSpPr>
          <p:cNvPr id="4" name="TextBox 3"/>
          <p:cNvSpPr txBox="1"/>
          <p:nvPr/>
        </p:nvSpPr>
        <p:spPr>
          <a:xfrm>
            <a:off x="777240" y="1005840"/>
            <a:ext cx="10817352" cy="1828800"/>
          </a:xfrm>
          <a:prstGeom prst="rect">
            <a:avLst/>
          </a:prstGeom>
          <a:noFill/>
        </p:spPr>
        <p:txBody>
          <a:bodyPr wrap="none">
            <a:spAutoFit/>
          </a:bodyPr>
          <a:lstStyle/>
          <a:p>
            <a:r>
              <a:rPr sz="7200" b="0">
                <a:solidFill>
                  <a:srgbClr val="1B1A0E"/>
                </a:solidFill>
                <a:latin typeface="Georgia"/>
              </a:rPr>
              <a:t>Food</a:t>
            </a:r>
            <a:r>
              <a:rPr sz="7200" i="1">
                <a:solidFill>
                  <a:srgbClr val="2C5018"/>
                </a:solidFill>
                <a:latin typeface="Georgia"/>
              </a:rPr>
              <a:t>Lens</a:t>
            </a:r>
          </a:p>
        </p:txBody>
      </p:sp>
      <p:sp>
        <p:nvSpPr>
          <p:cNvPr id="5" name="TextBox 4"/>
          <p:cNvSpPr txBox="1"/>
          <p:nvPr/>
        </p:nvSpPr>
        <p:spPr>
          <a:xfrm>
            <a:off x="777240" y="2834640"/>
            <a:ext cx="7315200" cy="822960"/>
          </a:xfrm>
          <a:prstGeom prst="rect">
            <a:avLst/>
          </a:prstGeom>
          <a:noFill/>
        </p:spPr>
        <p:txBody>
          <a:bodyPr wrap="square">
            <a:spAutoFit/>
          </a:bodyPr>
          <a:lstStyle/>
          <a:p>
            <a:pPr algn="l"/>
            <a:r>
              <a:rPr sz="1800" b="0" i="0">
                <a:solidFill>
                  <a:srgbClr val="6B6550"/>
                </a:solidFill>
                <a:latin typeface="Calibri"/>
              </a:rPr>
              <a:t>Transparent multi-objective food recommendations via contrastive XAI</a:t>
            </a:r>
          </a:p>
        </p:txBody>
      </p:sp>
      <p:sp>
        <p:nvSpPr>
          <p:cNvPr id="6" name="TextBox 5"/>
          <p:cNvSpPr txBox="1"/>
          <p:nvPr/>
        </p:nvSpPr>
        <p:spPr>
          <a:xfrm>
            <a:off x="777240" y="3429000"/>
            <a:ext cx="7315200" cy="457200"/>
          </a:xfrm>
          <a:prstGeom prst="rect">
            <a:avLst/>
          </a:prstGeom>
          <a:noFill/>
        </p:spPr>
        <p:txBody>
          <a:bodyPr wrap="square">
            <a:spAutoFit/>
          </a:bodyPr>
          <a:lstStyle/>
          <a:p>
            <a:pPr algn="l"/>
            <a:r>
              <a:rPr sz="1500" b="0" i="1">
                <a:solidFill>
                  <a:srgbClr val="6B6550"/>
                </a:solidFill>
                <a:latin typeface="Calibri"/>
              </a:rPr>
              <a:t>Health + Eco — shown together, never averaged, always explained.</a:t>
            </a:r>
          </a:p>
        </p:txBody>
      </p:sp>
      <p:sp>
        <p:nvSpPr>
          <p:cNvPr id="7" name="Rectangle 6"/>
          <p:cNvSpPr/>
          <p:nvPr/>
        </p:nvSpPr>
        <p:spPr>
          <a:xfrm>
            <a:off x="777240" y="4023360"/>
            <a:ext cx="6400800" cy="18288"/>
          </a:xfrm>
          <a:prstGeom prst="rect">
            <a:avLst/>
          </a:prstGeom>
          <a:solidFill>
            <a:srgbClr val="C8C2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4206240"/>
            <a:ext cx="8229600" cy="1371600"/>
          </a:xfrm>
          <a:prstGeom prst="rect">
            <a:avLst/>
          </a:prstGeom>
          <a:noFill/>
        </p:spPr>
        <p:txBody>
          <a:bodyPr wrap="square">
            <a:spAutoFit/>
          </a:bodyPr>
          <a:lstStyle/>
          <a:p>
            <a:pPr>
              <a:spcAft>
                <a:spcPts val="200"/>
              </a:spcAft>
            </a:pPr>
            <a:r>
              <a:rPr sz="1500">
                <a:solidFill>
                  <a:srgbClr val="1B1A0E"/>
                </a:solidFill>
                <a:latin typeface="Calibri"/>
              </a:rPr>
              <a:t>· Alejandro Bordón</a:t>
            </a:r>
          </a:p>
          <a:p>
            <a:pPr>
              <a:spcAft>
                <a:spcPts val="200"/>
              </a:spcAft>
            </a:pPr>
            <a:r>
              <a:rPr sz="1500">
                <a:solidFill>
                  <a:srgbClr val="1B1A0E"/>
                </a:solidFill>
                <a:latin typeface="Calibri"/>
              </a:rPr>
              <a:t>· Soufyane Youbi</a:t>
            </a:r>
          </a:p>
          <a:p>
            <a:pPr>
              <a:spcAft>
                <a:spcPts val="200"/>
              </a:spcAft>
            </a:pPr>
            <a:r>
              <a:rPr sz="1500">
                <a:solidFill>
                  <a:srgbClr val="1B1A0E"/>
                </a:solidFill>
                <a:latin typeface="Calibri"/>
              </a:rPr>
              <a:t>· Alejandro Rodríguez</a:t>
            </a:r>
          </a:p>
          <a:p>
            <a:pPr>
              <a:spcAft>
                <a:spcPts val="200"/>
              </a:spcAft>
            </a:pPr>
            <a:r>
              <a:rPr sz="1500">
                <a:solidFill>
                  <a:srgbClr val="1B1A0E"/>
                </a:solidFill>
                <a:latin typeface="Calibri"/>
              </a:rPr>
              <a:t>· Pau Girón</a:t>
            </a:r>
          </a:p>
        </p:txBody>
      </p:sp>
      <p:sp>
        <p:nvSpPr>
          <p:cNvPr id="9" name="TextBox 8"/>
          <p:cNvSpPr txBox="1"/>
          <p:nvPr/>
        </p:nvSpPr>
        <p:spPr>
          <a:xfrm>
            <a:off x="8531352" y="5852160"/>
            <a:ext cx="2926080" cy="457200"/>
          </a:xfrm>
          <a:prstGeom prst="rect">
            <a:avLst/>
          </a:prstGeom>
          <a:noFill/>
        </p:spPr>
        <p:txBody>
          <a:bodyPr wrap="square">
            <a:spAutoFit/>
          </a:bodyPr>
          <a:lstStyle/>
          <a:p>
            <a:pPr algn="r"/>
            <a:r>
              <a:rPr sz="900" b="0" i="0">
                <a:solidFill>
                  <a:srgbClr val="6B6550"/>
                </a:solidFill>
                <a:latin typeface="Courier New"/>
              </a:rPr>
              <a:t>Course 11755 — Human-Computer Interaction
MUSI-IA, UIB · June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3EED8"/>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2C5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48640"/>
            <a:ext cx="10817352" cy="731520"/>
          </a:xfrm>
          <a:prstGeom prst="rect">
            <a:avLst/>
          </a:prstGeom>
          <a:noFill/>
        </p:spPr>
        <p:txBody>
          <a:bodyPr wrap="square">
            <a:spAutoFit/>
          </a:bodyPr>
          <a:lstStyle/>
          <a:p>
            <a:pPr algn="l"/>
            <a:r>
              <a:rPr sz="1100" b="0" i="0">
                <a:solidFill>
                  <a:srgbClr val="6B6550"/>
                </a:solidFill>
                <a:latin typeface="Courier New"/>
              </a:rPr>
              <a:t>Overview</a:t>
            </a:r>
          </a:p>
        </p:txBody>
      </p:sp>
      <p:sp>
        <p:nvSpPr>
          <p:cNvPr id="4" name="TextBox 3"/>
          <p:cNvSpPr txBox="1"/>
          <p:nvPr/>
        </p:nvSpPr>
        <p:spPr>
          <a:xfrm>
            <a:off x="685800" y="914400"/>
            <a:ext cx="5486400" cy="914400"/>
          </a:xfrm>
          <a:prstGeom prst="rect">
            <a:avLst/>
          </a:prstGeom>
          <a:noFill/>
        </p:spPr>
        <p:txBody>
          <a:bodyPr wrap="square">
            <a:spAutoFit/>
          </a:bodyPr>
          <a:lstStyle/>
          <a:p>
            <a:pPr algn="l"/>
            <a:r>
              <a:rPr sz="3600" b="0" i="0">
                <a:solidFill>
                  <a:srgbClr val="1B1A0E"/>
                </a:solidFill>
                <a:latin typeface="Georgia"/>
              </a:rPr>
              <a:t>Outline</a:t>
            </a:r>
          </a:p>
        </p:txBody>
      </p:sp>
      <p:sp>
        <p:nvSpPr>
          <p:cNvPr id="5" name="Rectangle 4"/>
          <p:cNvSpPr/>
          <p:nvPr/>
        </p:nvSpPr>
        <p:spPr>
          <a:xfrm>
            <a:off x="685800" y="1920240"/>
            <a:ext cx="457200" cy="676656"/>
          </a:xfrm>
          <a:prstGeom prst="rect">
            <a:avLst/>
          </a:prstGeom>
          <a:solidFill>
            <a:srgbClr val="ECE7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956816"/>
            <a:ext cx="365760" cy="731520"/>
          </a:xfrm>
          <a:prstGeom prst="rect">
            <a:avLst/>
          </a:prstGeom>
          <a:noFill/>
        </p:spPr>
        <p:txBody>
          <a:bodyPr wrap="square">
            <a:spAutoFit/>
          </a:bodyPr>
          <a:lstStyle/>
          <a:p>
            <a:pPr algn="ctr"/>
            <a:r>
              <a:rPr sz="1100" b="0" i="0">
                <a:solidFill>
                  <a:srgbClr val="2C5018"/>
                </a:solidFill>
                <a:latin typeface="Courier New"/>
              </a:rPr>
              <a:t>1</a:t>
            </a:r>
          </a:p>
        </p:txBody>
      </p:sp>
      <p:sp>
        <p:nvSpPr>
          <p:cNvPr id="7" name="Rectangle 6"/>
          <p:cNvSpPr/>
          <p:nvPr/>
        </p:nvSpPr>
        <p:spPr>
          <a:xfrm>
            <a:off x="1161288" y="2286000"/>
            <a:ext cx="10341864" cy="9144"/>
          </a:xfrm>
          <a:prstGeom prst="rect">
            <a:avLst/>
          </a:prstGeom>
          <a:solidFill>
            <a:srgbClr val="C8C2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80160" y="1956816"/>
            <a:ext cx="10222992" cy="731520"/>
          </a:xfrm>
          <a:prstGeom prst="rect">
            <a:avLst/>
          </a:prstGeom>
          <a:noFill/>
        </p:spPr>
        <p:txBody>
          <a:bodyPr wrap="square">
            <a:spAutoFit/>
          </a:bodyPr>
          <a:lstStyle/>
          <a:p>
            <a:pPr algn="l"/>
            <a:r>
              <a:rPr sz="1700" b="0" i="0">
                <a:solidFill>
                  <a:srgbClr val="1B1A0E"/>
                </a:solidFill>
                <a:latin typeface="Calibri"/>
              </a:rPr>
              <a:t>**Design process &amp; rationale**</a:t>
            </a:r>
          </a:p>
        </p:txBody>
      </p:sp>
      <p:sp>
        <p:nvSpPr>
          <p:cNvPr id="9" name="Rectangle 8"/>
          <p:cNvSpPr/>
          <p:nvPr/>
        </p:nvSpPr>
        <p:spPr>
          <a:xfrm>
            <a:off x="685800" y="2651760"/>
            <a:ext cx="457200" cy="676656"/>
          </a:xfrm>
          <a:prstGeom prst="rect">
            <a:avLst/>
          </a:prstGeom>
          <a:solidFill>
            <a:srgbClr val="ECE7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688336"/>
            <a:ext cx="365760" cy="731520"/>
          </a:xfrm>
          <a:prstGeom prst="rect">
            <a:avLst/>
          </a:prstGeom>
          <a:noFill/>
        </p:spPr>
        <p:txBody>
          <a:bodyPr wrap="square">
            <a:spAutoFit/>
          </a:bodyPr>
          <a:lstStyle/>
          <a:p>
            <a:pPr algn="ctr"/>
            <a:r>
              <a:rPr sz="1100" b="0" i="0">
                <a:solidFill>
                  <a:srgbClr val="2C5018"/>
                </a:solidFill>
                <a:latin typeface="Courier New"/>
              </a:rPr>
              <a:t>2</a:t>
            </a:r>
          </a:p>
        </p:txBody>
      </p:sp>
      <p:sp>
        <p:nvSpPr>
          <p:cNvPr id="11" name="Rectangle 10"/>
          <p:cNvSpPr/>
          <p:nvPr/>
        </p:nvSpPr>
        <p:spPr>
          <a:xfrm>
            <a:off x="1161288" y="3017520"/>
            <a:ext cx="10341864" cy="9144"/>
          </a:xfrm>
          <a:prstGeom prst="rect">
            <a:avLst/>
          </a:prstGeom>
          <a:solidFill>
            <a:srgbClr val="C8C2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80160" y="2688336"/>
            <a:ext cx="10222992" cy="731520"/>
          </a:xfrm>
          <a:prstGeom prst="rect">
            <a:avLst/>
          </a:prstGeom>
          <a:noFill/>
        </p:spPr>
        <p:txBody>
          <a:bodyPr wrap="square">
            <a:spAutoFit/>
          </a:bodyPr>
          <a:lstStyle/>
          <a:p>
            <a:pPr algn="l"/>
            <a:r>
              <a:rPr sz="1700" b="0" i="0">
                <a:solidFill>
                  <a:srgbClr val="1B1A0E"/>
                </a:solidFill>
                <a:latin typeface="Calibri"/>
              </a:rPr>
              <a:t>**XAI methods selection**</a:t>
            </a:r>
          </a:p>
        </p:txBody>
      </p:sp>
      <p:sp>
        <p:nvSpPr>
          <p:cNvPr id="13" name="Rectangle 12"/>
          <p:cNvSpPr/>
          <p:nvPr/>
        </p:nvSpPr>
        <p:spPr>
          <a:xfrm>
            <a:off x="685800" y="3383280"/>
            <a:ext cx="457200" cy="676656"/>
          </a:xfrm>
          <a:prstGeom prst="rect">
            <a:avLst/>
          </a:prstGeom>
          <a:solidFill>
            <a:srgbClr val="ECE7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3419856"/>
            <a:ext cx="365760" cy="731520"/>
          </a:xfrm>
          <a:prstGeom prst="rect">
            <a:avLst/>
          </a:prstGeom>
          <a:noFill/>
        </p:spPr>
        <p:txBody>
          <a:bodyPr wrap="square">
            <a:spAutoFit/>
          </a:bodyPr>
          <a:lstStyle/>
          <a:p>
            <a:pPr algn="ctr"/>
            <a:r>
              <a:rPr sz="1100" b="0" i="0">
                <a:solidFill>
                  <a:srgbClr val="2C5018"/>
                </a:solidFill>
                <a:latin typeface="Courier New"/>
              </a:rPr>
              <a:t>3</a:t>
            </a:r>
          </a:p>
        </p:txBody>
      </p:sp>
      <p:sp>
        <p:nvSpPr>
          <p:cNvPr id="15" name="Rectangle 14"/>
          <p:cNvSpPr/>
          <p:nvPr/>
        </p:nvSpPr>
        <p:spPr>
          <a:xfrm>
            <a:off x="1161288" y="3749040"/>
            <a:ext cx="10341864" cy="9144"/>
          </a:xfrm>
          <a:prstGeom prst="rect">
            <a:avLst/>
          </a:prstGeom>
          <a:solidFill>
            <a:srgbClr val="C8C2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80160" y="3419856"/>
            <a:ext cx="10222992" cy="731520"/>
          </a:xfrm>
          <a:prstGeom prst="rect">
            <a:avLst/>
          </a:prstGeom>
          <a:noFill/>
        </p:spPr>
        <p:txBody>
          <a:bodyPr wrap="square">
            <a:spAutoFit/>
          </a:bodyPr>
          <a:lstStyle/>
          <a:p>
            <a:pPr algn="l"/>
            <a:r>
              <a:rPr sz="1700" b="0" i="0">
                <a:solidFill>
                  <a:srgbClr val="1B1A0E"/>
                </a:solidFill>
                <a:latin typeface="Calibri"/>
              </a:rPr>
              <a:t>**Key insights from user testing**</a:t>
            </a:r>
          </a:p>
        </p:txBody>
      </p:sp>
      <p:sp>
        <p:nvSpPr>
          <p:cNvPr id="17" name="Rectangle 16"/>
          <p:cNvSpPr/>
          <p:nvPr/>
        </p:nvSpPr>
        <p:spPr>
          <a:xfrm>
            <a:off x="685800" y="4114800"/>
            <a:ext cx="457200" cy="676656"/>
          </a:xfrm>
          <a:prstGeom prst="rect">
            <a:avLst/>
          </a:prstGeom>
          <a:solidFill>
            <a:srgbClr val="ECE7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4151376"/>
            <a:ext cx="365760" cy="731520"/>
          </a:xfrm>
          <a:prstGeom prst="rect">
            <a:avLst/>
          </a:prstGeom>
          <a:noFill/>
        </p:spPr>
        <p:txBody>
          <a:bodyPr wrap="square">
            <a:spAutoFit/>
          </a:bodyPr>
          <a:lstStyle/>
          <a:p>
            <a:pPr algn="ctr"/>
            <a:r>
              <a:rPr sz="1100" b="0" i="0">
                <a:solidFill>
                  <a:srgbClr val="2C5018"/>
                </a:solidFill>
                <a:latin typeface="Courier New"/>
              </a:rPr>
              <a:t>4</a:t>
            </a:r>
          </a:p>
        </p:txBody>
      </p:sp>
      <p:sp>
        <p:nvSpPr>
          <p:cNvPr id="19" name="Rectangle 18"/>
          <p:cNvSpPr/>
          <p:nvPr/>
        </p:nvSpPr>
        <p:spPr>
          <a:xfrm>
            <a:off x="1161288" y="4480560"/>
            <a:ext cx="10341864" cy="9144"/>
          </a:xfrm>
          <a:prstGeom prst="rect">
            <a:avLst/>
          </a:prstGeom>
          <a:solidFill>
            <a:srgbClr val="C8C2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280160" y="4151376"/>
            <a:ext cx="10222992" cy="731520"/>
          </a:xfrm>
          <a:prstGeom prst="rect">
            <a:avLst/>
          </a:prstGeom>
          <a:noFill/>
        </p:spPr>
        <p:txBody>
          <a:bodyPr wrap="square">
            <a:spAutoFit/>
          </a:bodyPr>
          <a:lstStyle/>
          <a:p>
            <a:pPr algn="l"/>
            <a:r>
              <a:rPr sz="1700" b="0" i="0">
                <a:solidFill>
                  <a:srgbClr val="1B1A0E"/>
                </a:solidFill>
                <a:latin typeface="Calibri"/>
              </a:rPr>
              <a:t>**Technical &amp; design challenges**</a:t>
            </a:r>
          </a:p>
        </p:txBody>
      </p:sp>
      <p:sp>
        <p:nvSpPr>
          <p:cNvPr id="21" name="Rectangle 20"/>
          <p:cNvSpPr/>
          <p:nvPr/>
        </p:nvSpPr>
        <p:spPr>
          <a:xfrm>
            <a:off x="685800" y="4846320"/>
            <a:ext cx="457200" cy="676656"/>
          </a:xfrm>
          <a:prstGeom prst="rect">
            <a:avLst/>
          </a:prstGeom>
          <a:solidFill>
            <a:srgbClr val="ECE7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4882896"/>
            <a:ext cx="365760" cy="731520"/>
          </a:xfrm>
          <a:prstGeom prst="rect">
            <a:avLst/>
          </a:prstGeom>
          <a:noFill/>
        </p:spPr>
        <p:txBody>
          <a:bodyPr wrap="square">
            <a:spAutoFit/>
          </a:bodyPr>
          <a:lstStyle/>
          <a:p>
            <a:pPr algn="ctr"/>
            <a:r>
              <a:rPr sz="1100" b="0" i="0">
                <a:solidFill>
                  <a:srgbClr val="2C5018"/>
                </a:solidFill>
                <a:latin typeface="Courier New"/>
              </a:rPr>
              <a:t>5</a:t>
            </a:r>
          </a:p>
        </p:txBody>
      </p:sp>
      <p:sp>
        <p:nvSpPr>
          <p:cNvPr id="23" name="Rectangle 22"/>
          <p:cNvSpPr/>
          <p:nvPr/>
        </p:nvSpPr>
        <p:spPr>
          <a:xfrm>
            <a:off x="1161288" y="5212080"/>
            <a:ext cx="10341864" cy="9144"/>
          </a:xfrm>
          <a:prstGeom prst="rect">
            <a:avLst/>
          </a:prstGeom>
          <a:solidFill>
            <a:srgbClr val="C8C2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280160" y="4882896"/>
            <a:ext cx="10222992" cy="731520"/>
          </a:xfrm>
          <a:prstGeom prst="rect">
            <a:avLst/>
          </a:prstGeom>
          <a:noFill/>
        </p:spPr>
        <p:txBody>
          <a:bodyPr wrap="square">
            <a:spAutoFit/>
          </a:bodyPr>
          <a:lstStyle/>
          <a:p>
            <a:pPr algn="l"/>
            <a:r>
              <a:rPr sz="1700" b="0" i="0">
                <a:solidFill>
                  <a:srgbClr val="1B1A0E"/>
                </a:solidFill>
                <a:latin typeface="Calibri"/>
              </a:rPr>
              <a:t>**Live demonstration of the dashboard**</a:t>
            </a:r>
          </a:p>
        </p:txBody>
      </p:sp>
      <p:sp>
        <p:nvSpPr>
          <p:cNvPr id="25" name="Rectangle 24"/>
          <p:cNvSpPr/>
          <p:nvPr/>
        </p:nvSpPr>
        <p:spPr>
          <a:xfrm>
            <a:off x="685800" y="5577840"/>
            <a:ext cx="457200" cy="676656"/>
          </a:xfrm>
          <a:prstGeom prst="rect">
            <a:avLst/>
          </a:prstGeom>
          <a:solidFill>
            <a:srgbClr val="ECE7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5614416"/>
            <a:ext cx="365760" cy="731520"/>
          </a:xfrm>
          <a:prstGeom prst="rect">
            <a:avLst/>
          </a:prstGeom>
          <a:noFill/>
        </p:spPr>
        <p:txBody>
          <a:bodyPr wrap="square">
            <a:spAutoFit/>
          </a:bodyPr>
          <a:lstStyle/>
          <a:p>
            <a:pPr algn="ctr"/>
            <a:r>
              <a:rPr sz="1100" b="0" i="0">
                <a:solidFill>
                  <a:srgbClr val="2C5018"/>
                </a:solidFill>
                <a:latin typeface="Courier New"/>
              </a:rPr>
              <a:t>6</a:t>
            </a:r>
          </a:p>
        </p:txBody>
      </p:sp>
      <p:sp>
        <p:nvSpPr>
          <p:cNvPr id="27" name="Rectangle 26"/>
          <p:cNvSpPr/>
          <p:nvPr/>
        </p:nvSpPr>
        <p:spPr>
          <a:xfrm>
            <a:off x="1161288" y="5943600"/>
            <a:ext cx="10341864" cy="9144"/>
          </a:xfrm>
          <a:prstGeom prst="rect">
            <a:avLst/>
          </a:prstGeom>
          <a:solidFill>
            <a:srgbClr val="C8C2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280160" y="5614416"/>
            <a:ext cx="10222992" cy="731520"/>
          </a:xfrm>
          <a:prstGeom prst="rect">
            <a:avLst/>
          </a:prstGeom>
          <a:noFill/>
        </p:spPr>
        <p:txBody>
          <a:bodyPr wrap="square">
            <a:spAutoFit/>
          </a:bodyPr>
          <a:lstStyle/>
          <a:p>
            <a:pPr algn="l"/>
            <a:r>
              <a:rPr sz="1700" b="0" i="0">
                <a:solidFill>
                  <a:srgbClr val="1B1A0E"/>
                </a:solidFill>
                <a:latin typeface="Calibri"/>
              </a:rPr>
              <a:t>**Lessons learned &amp; future improvements**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2C5018"/>
        </a:solidFill>
        <a:effectLst/>
      </p:bgPr>
    </p:bg>
    <p:spTree>
      <p:nvGrpSpPr>
        <p:cNvPr id="1" name=""/>
        <p:cNvGrpSpPr/>
        <p:nvPr/>
      </p:nvGrpSpPr>
      <p:grpSpPr/>
      <p:sp>
        <p:nvSpPr>
          <p:cNvPr id="2" name="TextBox 1"/>
          <p:cNvSpPr txBox="1"/>
          <p:nvPr/>
        </p:nvSpPr>
        <p:spPr>
          <a:xfrm>
            <a:off x="8988552" y="3657600"/>
            <a:ext cx="2743200" cy="2743200"/>
          </a:xfrm>
          <a:prstGeom prst="rect">
            <a:avLst/>
          </a:prstGeom>
          <a:noFill/>
        </p:spPr>
        <p:txBody>
          <a:bodyPr wrap="square">
            <a:spAutoFit/>
          </a:bodyPr>
          <a:lstStyle/>
          <a:p>
            <a:pPr algn="r"/>
            <a:r>
              <a:rPr sz="18000" b="0" i="0">
                <a:solidFill>
                  <a:srgbClr val="4A7A2A"/>
                </a:solidFill>
                <a:latin typeface="Georgia"/>
              </a:rPr>
              <a:t>1</a:t>
            </a:r>
          </a:p>
        </p:txBody>
      </p:sp>
      <p:sp>
        <p:nvSpPr>
          <p:cNvPr id="3" name="TextBox 2"/>
          <p:cNvSpPr txBox="1"/>
          <p:nvPr/>
        </p:nvSpPr>
        <p:spPr>
          <a:xfrm>
            <a:off x="685800" y="822960"/>
            <a:ext cx="10817352" cy="365760"/>
          </a:xfrm>
          <a:prstGeom prst="rect">
            <a:avLst/>
          </a:prstGeom>
          <a:noFill/>
        </p:spPr>
        <p:txBody>
          <a:bodyPr wrap="square">
            <a:spAutoFit/>
          </a:bodyPr>
          <a:lstStyle/>
          <a:p>
            <a:pPr algn="l"/>
            <a:r>
              <a:rPr sz="1100" b="0" i="0">
                <a:solidFill>
                  <a:srgbClr val="AACC88"/>
                </a:solidFill>
                <a:latin typeface="Courier New"/>
              </a:rPr>
              <a:t>Section 1</a:t>
            </a:r>
          </a:p>
        </p:txBody>
      </p:sp>
      <p:sp>
        <p:nvSpPr>
          <p:cNvPr id="4" name="TextBox 3"/>
          <p:cNvSpPr txBox="1"/>
          <p:nvPr/>
        </p:nvSpPr>
        <p:spPr>
          <a:xfrm>
            <a:off x="685800" y="1371600"/>
            <a:ext cx="8229600" cy="2743200"/>
          </a:xfrm>
          <a:prstGeom prst="rect">
            <a:avLst/>
          </a:prstGeom>
          <a:noFill/>
        </p:spPr>
        <p:txBody>
          <a:bodyPr wrap="square">
            <a:spAutoFit/>
          </a:bodyPr>
          <a:lstStyle/>
          <a:p>
            <a:r>
              <a:rPr sz="4800" b="0">
                <a:solidFill>
                  <a:srgbClr val="FAF8F0"/>
                </a:solidFill>
                <a:latin typeface="Georgia"/>
              </a:rPr>
              <a:t>Design process
</a:t>
            </a:r>
            <a:r>
              <a:rPr sz="4800" i="1">
                <a:solidFill>
                  <a:srgbClr val="CCEEAA"/>
                </a:solidFill>
                <a:latin typeface="Georgia"/>
              </a:rPr>
              <a:t>&amp; rationale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3EED8"/>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2C5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48640"/>
            <a:ext cx="10817352" cy="914400"/>
          </a:xfrm>
          <a:prstGeom prst="rect">
            <a:avLst/>
          </a:prstGeom>
          <a:noFill/>
        </p:spPr>
        <p:txBody>
          <a:bodyPr wrap="square">
            <a:spAutoFit/>
          </a:bodyPr>
          <a:lstStyle/>
          <a:p>
            <a:r>
              <a:rPr sz="3000" b="0" i="0">
                <a:solidFill>
                  <a:srgbClr val="1B1A0E"/>
                </a:solidFill>
                <a:latin typeface="Georgia"/>
              </a:rPr>
              <a:t>WA3 discovery: research before code</a:t>
            </a:r>
          </a:p>
        </p:txBody>
      </p:sp>
      <p:sp>
        <p:nvSpPr>
          <p:cNvPr id="4" name="TextBox 3"/>
          <p:cNvSpPr txBox="1"/>
          <p:nvPr/>
        </p:nvSpPr>
        <p:spPr>
          <a:xfrm>
            <a:off x="685800" y="1554480"/>
            <a:ext cx="10817352" cy="4754880"/>
          </a:xfrm>
          <a:prstGeom prst="rect">
            <a:avLst/>
          </a:prstGeom>
          <a:noFill/>
        </p:spPr>
        <p:txBody>
          <a:bodyPr wrap="square">
            <a:spAutoFit/>
          </a:bodyPr>
          <a:lstStyle/>
          <a:p>
            <a:pPr>
              <a:spcBef>
                <a:spcPts val="600"/>
              </a:spcBef>
            </a:pPr>
            <a:r>
              <a:rPr sz="1500" b="0" i="0">
                <a:solidFill>
                  <a:srgbClr val="1B1A0E"/>
                </a:solidFill>
                <a:latin typeface="Calibri"/>
              </a:rPr>
              <a:t>We ran </a:t>
            </a:r>
            <a:r>
              <a:rPr sz="1500" b="1" i="0">
                <a:solidFill>
                  <a:srgbClr val="1B1A0E"/>
                </a:solidFill>
                <a:latin typeface="Calibri"/>
              </a:rPr>
              <a:t>six semi-structured interviews</a:t>
            </a:r>
            <a:r>
              <a:rPr sz="1500" b="0" i="0">
                <a:solidFill>
                  <a:srgbClr val="1B1A0E"/>
                </a:solidFill>
                <a:latin typeface="Calibri"/>
              </a:rPr>
              <a:t> with people who make real grocery decisions — from a 20-year-old student to a 41-year-old designer on a quasi-vegetarian diet.</a:t>
            </a:r>
          </a:p>
          <a:p>
            <a:pPr>
              <a:spcBef>
                <a:spcPts val="500"/>
              </a:spcBef>
            </a:pPr>
            <a:r>
              <a:rPr sz="1800" b="1">
                <a:solidFill>
                  <a:srgbClr val="2C5018"/>
                </a:solidFill>
                <a:latin typeface="Calibri"/>
              </a:rPr>
              <a:t>·  </a:t>
            </a:r>
            <a:r>
              <a:rPr sz="1600" b="0" i="0">
                <a:solidFill>
                  <a:srgbClr val="1B1A0E"/>
                </a:solidFill>
                <a:latin typeface="Calibri"/>
              </a:rPr>
              <a:t>Protocol kept </a:t>
            </a:r>
            <a:r>
              <a:rPr sz="1600" b="1" i="0">
                <a:solidFill>
                  <a:srgbClr val="1B1A0E"/>
                </a:solidFill>
                <a:latin typeface="Calibri"/>
              </a:rPr>
              <a:t>context exploration separate from XAI concepts</a:t>
            </a:r>
            <a:r>
              <a:rPr sz="1600" b="0" i="0">
                <a:solidFill>
                  <a:srgbClr val="1B1A0E"/>
                </a:solidFill>
                <a:latin typeface="Calibri"/>
              </a:rPr>
              <a:t> to avoid leading questions</a:t>
            </a:r>
          </a:p>
          <a:p>
            <a:pPr>
              <a:spcBef>
                <a:spcPts val="500"/>
              </a:spcBef>
            </a:pPr>
            <a:r>
              <a:rPr sz="1800" b="1">
                <a:solidFill>
                  <a:srgbClr val="2C5018"/>
                </a:solidFill>
                <a:latin typeface="Calibri"/>
              </a:rPr>
              <a:t>·  </a:t>
            </a:r>
            <a:r>
              <a:rPr sz="1600" b="0" i="0">
                <a:solidFill>
                  <a:srgbClr val="1B1A0E"/>
                </a:solidFill>
                <a:latin typeface="Calibri"/>
              </a:rPr>
              <a:t>Thematic analysis (Braun &amp; Clarke): </a:t>
            </a:r>
            <a:r>
              <a:rPr sz="1600" b="1" i="0">
                <a:solidFill>
                  <a:srgbClr val="1B1A0E"/>
                </a:solidFill>
                <a:latin typeface="Calibri"/>
              </a:rPr>
              <a:t>47 codes -&gt; 5 Key Insights</a:t>
            </a:r>
          </a:p>
          <a:p>
            <a:pPr>
              <a:spcBef>
                <a:spcPts val="500"/>
              </a:spcBef>
            </a:pPr>
            <a:r>
              <a:rPr sz="1800" b="1">
                <a:solidFill>
                  <a:srgbClr val="2C5018"/>
                </a:solidFill>
                <a:latin typeface="Calibri"/>
              </a:rPr>
              <a:t>·  </a:t>
            </a:r>
            <a:r>
              <a:rPr sz="1600" b="0" i="0">
                <a:solidFill>
                  <a:srgbClr val="1B1A0E"/>
                </a:solidFill>
                <a:latin typeface="Calibri"/>
              </a:rPr>
              <a:t>The asymmetry we found: </a:t>
            </a:r>
            <a:r>
              <a:rPr sz="1600" b="1" i="0">
                <a:solidFill>
                  <a:srgbClr val="1B1A0E"/>
                </a:solidFill>
                <a:latin typeface="Calibri"/>
              </a:rPr>
              <a:t>health is a label you read in passing; ecology is buried in a database</a:t>
            </a:r>
            <a:r>
              <a:rPr sz="1600" b="0" i="0">
                <a:solidFill>
                  <a:srgbClr val="1B1A0E"/>
                </a:solidFill>
                <a:latin typeface="Calibri"/>
              </a:rPr>
              <a:t> — and the conflicts between them are surfaced nowhere</a:t>
            </a:r>
          </a:p>
          <a:p>
            <a:pPr>
              <a:spcBef>
                <a:spcPts val="600"/>
              </a:spcBef>
            </a:pPr>
            <a:r>
              <a:rPr sz="1500" b="0" i="0">
                <a:solidFill>
                  <a:srgbClr val="1B1A0E"/>
                </a:solidFill>
                <a:latin typeface="Calibri"/>
              </a:rPr>
              <a:t>Every feature we shipped traces back to one of those insights. Nothing was designed by intuition alone.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3EED8"/>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2C5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48640"/>
            <a:ext cx="10817352" cy="914400"/>
          </a:xfrm>
          <a:prstGeom prst="rect">
            <a:avLst/>
          </a:prstGeom>
          <a:noFill/>
        </p:spPr>
        <p:txBody>
          <a:bodyPr wrap="square">
            <a:spAutoFit/>
          </a:bodyPr>
          <a:lstStyle/>
          <a:p>
            <a:r>
              <a:rPr sz="3000" b="0" i="0">
                <a:solidFill>
                  <a:srgbClr val="1B1A0E"/>
                </a:solidFill>
                <a:latin typeface="Georgia"/>
              </a:rPr>
              <a:t>The five Key Insights</a:t>
            </a:r>
          </a:p>
        </p:txBody>
      </p:sp>
      <p:sp>
        <p:nvSpPr>
          <p:cNvPr id="4" name="TextBox 3"/>
          <p:cNvSpPr txBox="1"/>
          <p:nvPr/>
        </p:nvSpPr>
        <p:spPr>
          <a:xfrm>
            <a:off x="685800" y="1554480"/>
            <a:ext cx="10817352" cy="4754880"/>
          </a:xfrm>
          <a:prstGeom prst="rect">
            <a:avLst/>
          </a:prstGeom>
          <a:noFill/>
        </p:spPr>
        <p:txBody>
          <a:bodyPr wrap="square">
            <a:spAutoFit/>
          </a:bodyPr>
          <a:lstStyle/>
          <a:p>
            <a:pPr>
              <a:spcBef>
                <a:spcPts val="500"/>
              </a:spcBef>
            </a:pPr>
            <a:r>
              <a:rPr sz="1800" b="1">
                <a:solidFill>
                  <a:srgbClr val="2C5018"/>
                </a:solidFill>
                <a:latin typeface="Calibri"/>
              </a:rPr>
              <a:t>·  </a:t>
            </a:r>
            <a:r>
              <a:rPr sz="1600" b="1" i="0">
                <a:solidFill>
                  <a:srgbClr val="1B1A0E"/>
                </a:solidFill>
                <a:latin typeface="Calibri"/>
              </a:rPr>
              <a:t>KI-1 — Visible reasoning is a prerequisite for trust.</a:t>
            </a:r>
            <a:r>
              <a:rPr sz="1600" b="0" i="0">
                <a:solidFill>
                  <a:srgbClr val="1B1A0E"/>
                </a:solidFill>
                <a:latin typeface="Calibri"/>
              </a:rPr>
              <a:t> An opaque score reads as marketing. Never hide the "why".</a:t>
            </a:r>
          </a:p>
          <a:p>
            <a:pPr>
              <a:spcBef>
                <a:spcPts val="500"/>
              </a:spcBef>
            </a:pPr>
            <a:r>
              <a:rPr sz="1800" b="1">
                <a:solidFill>
                  <a:srgbClr val="2C5018"/>
                </a:solidFill>
                <a:latin typeface="Calibri"/>
              </a:rPr>
              <a:t>·  </a:t>
            </a:r>
            <a:r>
              <a:rPr sz="1600" b="1" i="0">
                <a:solidFill>
                  <a:srgbClr val="1B1A0E"/>
                </a:solidFill>
                <a:latin typeface="Calibri"/>
              </a:rPr>
              <a:t>KI-2 — The value-action gap is contextual.</a:t>
            </a:r>
            <a:r>
              <a:rPr sz="1600" b="0" i="0">
                <a:solidFill>
                  <a:srgbClr val="1B1A0E"/>
                </a:solidFill>
                <a:latin typeface="Calibri"/>
              </a:rPr>
              <a:t> Time, budget, fatigue override good intentions. Never moralise.</a:t>
            </a:r>
          </a:p>
          <a:p>
            <a:pPr>
              <a:spcBef>
                <a:spcPts val="500"/>
              </a:spcBef>
            </a:pPr>
            <a:r>
              <a:rPr sz="1800" b="1">
                <a:solidFill>
                  <a:srgbClr val="2C5018"/>
                </a:solidFill>
                <a:latin typeface="Calibri"/>
              </a:rPr>
              <a:t>·  </a:t>
            </a:r>
            <a:r>
              <a:rPr sz="1600" b="1" i="0">
                <a:solidFill>
                  <a:srgbClr val="1B1A0E"/>
                </a:solidFill>
                <a:latin typeface="Calibri"/>
              </a:rPr>
              <a:t>KI-3 — Single-axis labels create axis blindness.</a:t>
            </a:r>
            <a:r>
              <a:rPr sz="1600" b="0" i="0">
                <a:solidFill>
                  <a:srgbClr val="1B1A0E"/>
                </a:solidFill>
                <a:latin typeface="Calibri"/>
              </a:rPr>
              <a:t> A soda outscoring juice; water-hungry almonds looking "healthy".</a:t>
            </a:r>
          </a:p>
          <a:p>
            <a:pPr>
              <a:spcBef>
                <a:spcPts val="500"/>
              </a:spcBef>
            </a:pPr>
            <a:r>
              <a:rPr sz="1800" b="1">
                <a:solidFill>
                  <a:srgbClr val="2C5018"/>
                </a:solidFill>
                <a:latin typeface="Calibri"/>
              </a:rPr>
              <a:t>·  </a:t>
            </a:r>
            <a:r>
              <a:rPr sz="1600" b="1" i="0">
                <a:solidFill>
                  <a:srgbClr val="1B1A0E"/>
                </a:solidFill>
                <a:latin typeface="Calibri"/>
              </a:rPr>
              <a:t>KI-4 — Contrastive framing turns explanations into decisions.</a:t>
            </a:r>
            <a:r>
              <a:rPr sz="1600" b="0" i="0">
                <a:solidFill>
                  <a:srgbClr val="1B1A0E"/>
                </a:solidFill>
                <a:latin typeface="Calibri"/>
              </a:rPr>
              <a:t> "30% less sugar than yours" beats "70/100".</a:t>
            </a:r>
          </a:p>
          <a:p>
            <a:pPr>
              <a:spcBef>
                <a:spcPts val="500"/>
              </a:spcBef>
            </a:pPr>
            <a:r>
              <a:rPr sz="1800" b="1">
                <a:solidFill>
                  <a:srgbClr val="2C5018"/>
                </a:solidFill>
                <a:latin typeface="Calibri"/>
              </a:rPr>
              <a:t>·  </a:t>
            </a:r>
            <a:r>
              <a:rPr sz="1600" b="1" i="0">
                <a:solidFill>
                  <a:srgbClr val="1B1A0E"/>
                </a:solidFill>
                <a:latin typeface="Calibri"/>
              </a:rPr>
              <a:t>KI-5 — Tolerance for configuration varies widely.</a:t>
            </a:r>
            <a:r>
              <a:rPr sz="1600" b="0" i="0">
                <a:solidFill>
                  <a:srgbClr val="1B1A0E"/>
                </a:solidFill>
                <a:latin typeface="Calibri"/>
              </a:rPr>
              <a:t> Sensible default, presets, advanced slider behind progressive disclosure.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3EED8"/>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2C5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48640"/>
            <a:ext cx="10817352" cy="914400"/>
          </a:xfrm>
          <a:prstGeom prst="rect">
            <a:avLst/>
          </a:prstGeom>
          <a:noFill/>
        </p:spPr>
        <p:txBody>
          <a:bodyPr wrap="square">
            <a:spAutoFit/>
          </a:bodyPr>
          <a:lstStyle/>
          <a:p>
            <a:r>
              <a:rPr sz="3000" b="0" i="0">
                <a:solidFill>
                  <a:srgbClr val="1B1A0E"/>
                </a:solidFill>
                <a:latin typeface="Georgia"/>
              </a:rPr>
              <a:t>From insights to seven Design Hooks</a:t>
            </a:r>
          </a:p>
        </p:txBody>
      </p:sp>
      <p:graphicFrame>
        <p:nvGraphicFramePr>
          <p:cNvPr id="4" name="Table 3"/>
          <p:cNvGraphicFramePr>
            <a:graphicFrameLocks noGrp="1"/>
          </p:cNvGraphicFramePr>
          <p:nvPr/>
        </p:nvGraphicFramePr>
        <p:xfrm>
          <a:off x="685800" y="1554480"/>
          <a:ext cx="10817352" cy="3072384"/>
        </p:xfrm>
        <a:graphic>
          <a:graphicData uri="http://schemas.openxmlformats.org/drawingml/2006/table">
            <a:tbl>
              <a:tblPr firstRow="1" bandRow="1">
                <a:tableStyleId>{5C22544A-7EE6-4342-B048-85BDC9FD1C3A}</a:tableStyleId>
              </a:tblPr>
              <a:tblGrid>
                <a:gridCol w="1280160"/>
                <a:gridCol w="9537192"/>
              </a:tblGrid>
              <a:tr h="384048">
                <a:tc>
                  <a:txBody>
                    <a:bodyPr wrap="square"/>
                    <a:lstStyle/>
                    <a:p>
                      <a:r>
                        <a:rPr sz="1200" b="1">
                          <a:solidFill>
                            <a:srgbClr val="FAF8F0"/>
                          </a:solidFill>
                          <a:latin typeface="Calibri"/>
                        </a:rPr>
                        <a:t>Hook</a:t>
                      </a:r>
                    </a:p>
                  </a:txBody>
                  <a:tcPr>
                    <a:solidFill>
                      <a:srgbClr val="2C5018"/>
                    </a:solidFill>
                  </a:tcPr>
                </a:tc>
                <a:tc>
                  <a:txBody>
                    <a:bodyPr wrap="square"/>
                    <a:lstStyle/>
                    <a:p>
                      <a:r>
                        <a:rPr sz="1200" b="1">
                          <a:solidFill>
                            <a:srgbClr val="FAF8F0"/>
                          </a:solidFill>
                          <a:latin typeface="Calibri"/>
                        </a:rPr>
                        <a:t>Rule it enforces</a:t>
                      </a:r>
                    </a:p>
                  </a:txBody>
                  <a:tcPr>
                    <a:solidFill>
                      <a:srgbClr val="2C5018"/>
                    </a:solidFill>
                  </a:tcPr>
                </a:tc>
              </a:tr>
              <a:tr h="384048">
                <a:tc>
                  <a:txBody>
                    <a:bodyPr wrap="square"/>
                    <a:lstStyle/>
                    <a:p>
                      <a:r>
                        <a:rPr sz="1200" b="1">
                          <a:solidFill>
                            <a:srgbClr val="2C5018"/>
                          </a:solidFill>
                          <a:latin typeface="Calibri"/>
                        </a:rPr>
                        <a:t>H1</a:t>
                      </a:r>
                    </a:p>
                  </a:txBody>
                  <a:tcPr>
                    <a:solidFill>
                      <a:srgbClr val="ECE7D4"/>
                    </a:solidFill>
                  </a:tcPr>
                </a:tc>
                <a:tc>
                  <a:txBody>
                    <a:bodyPr wrap="square"/>
                    <a:lstStyle/>
                    <a:p>
                      <a:r>
                        <a:rPr sz="1100" b="0">
                          <a:solidFill>
                            <a:srgbClr val="1B1A0E"/>
                          </a:solidFill>
                          <a:latin typeface="Calibri"/>
                        </a:rPr>
                        <a:t>Dual-axis default — eco badge never hidden, even "no data" renders with a caption</a:t>
                      </a:r>
                    </a:p>
                  </a:txBody>
                  <a:tcPr>
                    <a:solidFill>
                      <a:srgbClr val="ECE7D4"/>
                    </a:solidFill>
                  </a:tcPr>
                </a:tc>
              </a:tr>
              <a:tr h="384048">
                <a:tc>
                  <a:txBody>
                    <a:bodyPr wrap="square"/>
                    <a:lstStyle/>
                    <a:p>
                      <a:r>
                        <a:rPr sz="1200" b="1">
                          <a:solidFill>
                            <a:srgbClr val="2C5018"/>
                          </a:solidFill>
                          <a:latin typeface="Calibri"/>
                        </a:rPr>
                        <a:t>H2</a:t>
                      </a:r>
                    </a:p>
                  </a:txBody>
                  <a:tcPr>
                    <a:solidFill>
                      <a:srgbClr val="F3EED8"/>
                    </a:solidFill>
                  </a:tcPr>
                </a:tc>
                <a:tc>
                  <a:txBody>
                    <a:bodyPr wrap="square"/>
                    <a:lstStyle/>
                    <a:p>
                      <a:r>
                        <a:rPr sz="1100" b="0">
                          <a:solidFill>
                            <a:srgbClr val="1B1A0E"/>
                          </a:solidFill>
                          <a:latin typeface="Calibri"/>
                        </a:rPr>
                        <a:t>Reasoning IS the recommendation — contrastive sentence open by default</a:t>
                      </a:r>
                    </a:p>
                  </a:txBody>
                  <a:tcPr>
                    <a:solidFill>
                      <a:srgbClr val="F3EED8"/>
                    </a:solidFill>
                  </a:tcPr>
                </a:tc>
              </a:tr>
              <a:tr h="384048">
                <a:tc>
                  <a:txBody>
                    <a:bodyPr wrap="square"/>
                    <a:lstStyle/>
                    <a:p>
                      <a:r>
                        <a:rPr sz="1200" b="1">
                          <a:solidFill>
                            <a:srgbClr val="2C5018"/>
                          </a:solidFill>
                          <a:latin typeface="Calibri"/>
                        </a:rPr>
                        <a:t>H3</a:t>
                      </a:r>
                    </a:p>
                  </a:txBody>
                  <a:tcPr>
                    <a:solidFill>
                      <a:srgbClr val="ECE7D4"/>
                    </a:solidFill>
                  </a:tcPr>
                </a:tc>
                <a:tc>
                  <a:txBody>
                    <a:bodyPr wrap="square"/>
                    <a:lstStyle/>
                    <a:p>
                      <a:r>
                        <a:rPr sz="1100" b="0">
                          <a:solidFill>
                            <a:srgbClr val="1B1A0E"/>
                          </a:solidFill>
                          <a:latin typeface="Calibri"/>
                        </a:rPr>
                        <a:t>One sentence, one number — charts are drill-downs, not the entry point</a:t>
                      </a:r>
                    </a:p>
                  </a:txBody>
                  <a:tcPr>
                    <a:solidFill>
                      <a:srgbClr val="ECE7D4"/>
                    </a:solidFill>
                  </a:tcPr>
                </a:tc>
              </a:tr>
              <a:tr h="384048">
                <a:tc>
                  <a:txBody>
                    <a:bodyPr wrap="square"/>
                    <a:lstStyle/>
                    <a:p>
                      <a:r>
                        <a:rPr sz="1200" b="1">
                          <a:solidFill>
                            <a:srgbClr val="2C5018"/>
                          </a:solidFill>
                          <a:latin typeface="Calibri"/>
                        </a:rPr>
                        <a:t>H4</a:t>
                      </a:r>
                    </a:p>
                  </a:txBody>
                  <a:tcPr>
                    <a:solidFill>
                      <a:srgbClr val="F3EED8"/>
                    </a:solidFill>
                  </a:tcPr>
                </a:tc>
                <a:tc>
                  <a:txBody>
                    <a:bodyPr wrap="square"/>
                    <a:lstStyle/>
                    <a:p>
                      <a:r>
                        <a:rPr sz="1100" b="0">
                          <a:solidFill>
                            <a:srgbClr val="1B1A0E"/>
                          </a:solidFill>
                          <a:latin typeface="Calibri"/>
                        </a:rPr>
                        <a:t>Configurable first axis — health/eco slider; price behind "Advanced"</a:t>
                      </a:r>
                    </a:p>
                  </a:txBody>
                  <a:tcPr>
                    <a:solidFill>
                      <a:srgbClr val="F3EED8"/>
                    </a:solidFill>
                  </a:tcPr>
                </a:tc>
              </a:tr>
              <a:tr h="384048">
                <a:tc>
                  <a:txBody>
                    <a:bodyPr wrap="square"/>
                    <a:lstStyle/>
                    <a:p>
                      <a:r>
                        <a:rPr sz="1200" b="1">
                          <a:solidFill>
                            <a:srgbClr val="2C5018"/>
                          </a:solidFill>
                          <a:latin typeface="Calibri"/>
                        </a:rPr>
                        <a:t>H5</a:t>
                      </a:r>
                    </a:p>
                  </a:txBody>
                  <a:tcPr>
                    <a:solidFill>
                      <a:srgbClr val="ECE7D4"/>
                    </a:solidFill>
                  </a:tcPr>
                </a:tc>
                <a:tc>
                  <a:txBody>
                    <a:bodyPr wrap="square"/>
                    <a:lstStyle/>
                    <a:p>
                      <a:r>
                        <a:rPr sz="1100" b="0">
                          <a:solidFill>
                            <a:srgbClr val="1B1A0E"/>
                          </a:solidFill>
                          <a:latin typeface="Calibri"/>
                        </a:rPr>
                        <a:t>Compare-this-shelf — N products in, ranked list out, one-line justification each</a:t>
                      </a:r>
                    </a:p>
                  </a:txBody>
                  <a:tcPr>
                    <a:solidFill>
                      <a:srgbClr val="ECE7D4"/>
                    </a:solidFill>
                  </a:tcPr>
                </a:tc>
              </a:tr>
              <a:tr h="384048">
                <a:tc>
                  <a:txBody>
                    <a:bodyPr wrap="square"/>
                    <a:lstStyle/>
                    <a:p>
                      <a:r>
                        <a:rPr sz="1200" b="1">
                          <a:solidFill>
                            <a:srgbClr val="2C5018"/>
                          </a:solidFill>
                          <a:latin typeface="Calibri"/>
                        </a:rPr>
                        <a:t>H6</a:t>
                      </a:r>
                    </a:p>
                  </a:txBody>
                  <a:tcPr>
                    <a:solidFill>
                      <a:srgbClr val="F3EED8"/>
                    </a:solidFill>
                  </a:tcPr>
                </a:tc>
                <a:tc>
                  <a:txBody>
                    <a:bodyPr wrap="square"/>
                    <a:lstStyle/>
                    <a:p>
                      <a:r>
                        <a:rPr sz="1100" b="0">
                          <a:solidFill>
                            <a:srgbClr val="1B1A0E"/>
                          </a:solidFill>
                          <a:latin typeface="Calibri"/>
                        </a:rPr>
                        <a:t>Minimal onboarding — goals + age + gender only</a:t>
                      </a:r>
                    </a:p>
                  </a:txBody>
                  <a:tcPr>
                    <a:solidFill>
                      <a:srgbClr val="F3EED8"/>
                    </a:solidFill>
                  </a:tcPr>
                </a:tc>
              </a:tr>
              <a:tr h="384048">
                <a:tc>
                  <a:txBody>
                    <a:bodyPr wrap="square"/>
                    <a:lstStyle/>
                    <a:p>
                      <a:r>
                        <a:rPr sz="1200" b="1">
                          <a:solidFill>
                            <a:srgbClr val="2C5018"/>
                          </a:solidFill>
                          <a:latin typeface="Calibri"/>
                        </a:rPr>
                        <a:t>H7</a:t>
                      </a:r>
                    </a:p>
                  </a:txBody>
                  <a:tcPr>
                    <a:solidFill>
                      <a:srgbClr val="ECE7D4"/>
                    </a:solidFill>
                  </a:tcPr>
                </a:tc>
                <a:tc>
                  <a:txBody>
                    <a:bodyPr wrap="square"/>
                    <a:lstStyle/>
                    <a:p>
                      <a:r>
                        <a:rPr sz="1100" b="0">
                          <a:solidFill>
                            <a:srgbClr val="1B1A0E"/>
                          </a:solidFill>
                          <a:latin typeface="Calibri"/>
                        </a:rPr>
                        <a:t>Close into action — every card ends in a real next step</a:t>
                      </a:r>
                    </a:p>
                  </a:txBody>
                  <a:tcPr>
                    <a:solidFill>
                      <a:srgbClr val="ECE7D4"/>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3EED8"/>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2C5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48640"/>
            <a:ext cx="10817352" cy="914400"/>
          </a:xfrm>
          <a:prstGeom prst="rect">
            <a:avLst/>
          </a:prstGeom>
          <a:noFill/>
        </p:spPr>
        <p:txBody>
          <a:bodyPr wrap="none">
            <a:spAutoFit/>
          </a:bodyPr>
          <a:lstStyle/>
          <a:p>
            <a:r>
              <a:rPr sz="2800" b="0" i="0">
                <a:solidFill>
                  <a:srgbClr val="1B1A0E"/>
                </a:solidFill>
                <a:latin typeface="Georgia"/>
              </a:rPr>
              <a:t>Personas: who we are designing for</a:t>
            </a:r>
          </a:p>
        </p:txBody>
      </p:sp>
      <p:sp>
        <p:nvSpPr>
          <p:cNvPr id="4" name="Rectangle 3"/>
          <p:cNvSpPr/>
          <p:nvPr/>
        </p:nvSpPr>
        <p:spPr>
          <a:xfrm>
            <a:off x="6094476" y="1554480"/>
            <a:ext cx="18288" cy="5120640"/>
          </a:xfrm>
          <a:prstGeom prst="rect">
            <a:avLst/>
          </a:prstGeom>
          <a:solidFill>
            <a:srgbClr val="C8C2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600200"/>
            <a:ext cx="5271516" cy="4709160"/>
          </a:xfrm>
          <a:prstGeom prst="rect">
            <a:avLst/>
          </a:prstGeom>
          <a:noFill/>
        </p:spPr>
        <p:txBody>
          <a:bodyPr wrap="square">
            <a:spAutoFit/>
          </a:bodyPr>
          <a:lstStyle/>
          <a:p>
            <a:pPr>
              <a:spcBef>
                <a:spcPts val="400"/>
              </a:spcBef>
            </a:pPr>
            <a:r>
              <a:rPr sz="1600" b="1">
                <a:solidFill>
                  <a:srgbClr val="2C5018"/>
                </a:solidFill>
                <a:latin typeface="Calibri"/>
              </a:rPr>
              <a:t>·  </a:t>
            </a:r>
            <a:r>
              <a:rPr sz="1500" b="1" i="0">
                <a:solidFill>
                  <a:srgbClr val="1B1A0E"/>
                </a:solidFill>
                <a:latin typeface="Calibri"/>
              </a:rPr>
              <a:t>Marc Vidal</a:t>
            </a:r>
            <a:r>
              <a:rPr sz="1500" b="0" i="0">
                <a:solidFill>
                  <a:srgbClr val="1B1A0E"/>
                </a:solidFill>
                <a:latin typeface="Calibri"/>
              </a:rPr>
              <a:t> — time-strapped pragmatist. Shops on autopilot, will not configure. Wants instantly visible reasoning.</a:t>
            </a:r>
          </a:p>
          <a:p>
            <a:pPr>
              <a:spcBef>
                <a:spcPts val="400"/>
              </a:spcBef>
            </a:pPr>
            <a:r>
              <a:rPr sz="1600" b="1">
                <a:solidFill>
                  <a:srgbClr val="2C5018"/>
                </a:solidFill>
                <a:latin typeface="Calibri"/>
              </a:rPr>
              <a:t>·  </a:t>
            </a:r>
            <a:r>
              <a:rPr sz="1500" b="1" i="0">
                <a:solidFill>
                  <a:srgbClr val="1B1A0E"/>
                </a:solidFill>
                <a:latin typeface="Calibri"/>
              </a:rPr>
              <a:t>Pau Estarellas</a:t>
            </a:r>
            <a:r>
              <a:rPr sz="1500" b="0" i="0">
                <a:solidFill>
                  <a:srgbClr val="1B1A0E"/>
                </a:solidFill>
                <a:latin typeface="Calibri"/>
              </a:rPr>
              <a:t> — sceptical analyst. Distrusts opaque scores. Needs verifiable numbers and the drill-down.</a:t>
            </a:r>
          </a:p>
        </p:txBody>
      </p:sp>
      <p:sp>
        <p:nvSpPr>
          <p:cNvPr id="6" name="TextBox 5"/>
          <p:cNvSpPr txBox="1"/>
          <p:nvPr/>
        </p:nvSpPr>
        <p:spPr>
          <a:xfrm>
            <a:off x="6231636" y="1600200"/>
            <a:ext cx="5271516" cy="4709160"/>
          </a:xfrm>
          <a:prstGeom prst="rect">
            <a:avLst/>
          </a:prstGeom>
          <a:noFill/>
        </p:spPr>
        <p:txBody>
          <a:bodyPr wrap="square">
            <a:spAutoFit/>
          </a:bodyPr>
          <a:lstStyle/>
          <a:p>
            <a:pPr>
              <a:spcBef>
                <a:spcPts val="400"/>
              </a:spcBef>
            </a:pPr>
            <a:r>
              <a:rPr sz="1600" b="1">
                <a:solidFill>
                  <a:srgbClr val="2C5018"/>
                </a:solidFill>
                <a:latin typeface="Calibri"/>
              </a:rPr>
              <a:t>·  </a:t>
            </a:r>
            <a:r>
              <a:rPr sz="1500" b="1" i="0">
                <a:solidFill>
                  <a:srgbClr val="1B1A0E"/>
                </a:solidFill>
                <a:latin typeface="Calibri"/>
              </a:rPr>
              <a:t>Lluís Tomàs</a:t>
            </a:r>
            <a:r>
              <a:rPr sz="1500" b="0" i="0">
                <a:solidFill>
                  <a:srgbClr val="1B1A0E"/>
                </a:solidFill>
                <a:latin typeface="Calibri"/>
              </a:rPr>
              <a:t> — autonomous planner. Hates greenwashing and moralising. Wants quick visual graphs, opt-in only.</a:t>
            </a:r>
          </a:p>
          <a:p>
            <a:pPr>
              <a:spcBef>
                <a:spcPts val="400"/>
              </a:spcBef>
            </a:pPr>
            <a:r>
              <a:rPr sz="1600" b="1">
                <a:solidFill>
                  <a:srgbClr val="2C5018"/>
                </a:solidFill>
                <a:latin typeface="Calibri"/>
              </a:rPr>
              <a:t>·  </a:t>
            </a:r>
            <a:r>
              <a:rPr sz="1500" b="1" i="0">
                <a:solidFill>
                  <a:srgbClr val="1B1A0E"/>
                </a:solidFill>
                <a:latin typeface="Calibri"/>
              </a:rPr>
              <a:t>Aina Servera</a:t>
            </a:r>
            <a:r>
              <a:rPr sz="1500" b="0" i="0">
                <a:solidFill>
                  <a:srgbClr val="1B1A0E"/>
                </a:solidFill>
                <a:latin typeface="Calibri"/>
              </a:rPr>
              <a:t> — convenience seeker. Time- and budget-bound. Hard boundary against guilt-inducing UX.</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C5018"/>
        </a:solidFill>
        <a:effectLst/>
      </p:bgPr>
    </p:bg>
    <p:spTree>
      <p:nvGrpSpPr>
        <p:cNvPr id="1" name=""/>
        <p:cNvGrpSpPr/>
        <p:nvPr/>
      </p:nvGrpSpPr>
      <p:grpSpPr/>
      <p:sp>
        <p:nvSpPr>
          <p:cNvPr id="2" name="TextBox 1"/>
          <p:cNvSpPr txBox="1"/>
          <p:nvPr/>
        </p:nvSpPr>
        <p:spPr>
          <a:xfrm>
            <a:off x="8988552" y="3657600"/>
            <a:ext cx="2743200" cy="2743200"/>
          </a:xfrm>
          <a:prstGeom prst="rect">
            <a:avLst/>
          </a:prstGeom>
          <a:noFill/>
        </p:spPr>
        <p:txBody>
          <a:bodyPr wrap="square">
            <a:spAutoFit/>
          </a:bodyPr>
          <a:lstStyle/>
          <a:p>
            <a:pPr algn="r"/>
            <a:r>
              <a:rPr sz="18000" b="0" i="0">
                <a:solidFill>
                  <a:srgbClr val="4A7A2A"/>
                </a:solidFill>
                <a:latin typeface="Georgia"/>
              </a:rPr>
              <a:t>2</a:t>
            </a:r>
          </a:p>
        </p:txBody>
      </p:sp>
      <p:sp>
        <p:nvSpPr>
          <p:cNvPr id="3" name="TextBox 2"/>
          <p:cNvSpPr txBox="1"/>
          <p:nvPr/>
        </p:nvSpPr>
        <p:spPr>
          <a:xfrm>
            <a:off x="685800" y="822960"/>
            <a:ext cx="10817352" cy="365760"/>
          </a:xfrm>
          <a:prstGeom prst="rect">
            <a:avLst/>
          </a:prstGeom>
          <a:noFill/>
        </p:spPr>
        <p:txBody>
          <a:bodyPr wrap="square">
            <a:spAutoFit/>
          </a:bodyPr>
          <a:lstStyle/>
          <a:p>
            <a:pPr algn="l"/>
            <a:r>
              <a:rPr sz="1100" b="0" i="0">
                <a:solidFill>
                  <a:srgbClr val="AACC88"/>
                </a:solidFill>
                <a:latin typeface="Courier New"/>
              </a:rPr>
              <a:t>Section 2</a:t>
            </a:r>
          </a:p>
        </p:txBody>
      </p:sp>
      <p:sp>
        <p:nvSpPr>
          <p:cNvPr id="4" name="TextBox 3"/>
          <p:cNvSpPr txBox="1"/>
          <p:nvPr/>
        </p:nvSpPr>
        <p:spPr>
          <a:xfrm>
            <a:off x="685800" y="1371600"/>
            <a:ext cx="8229600" cy="2743200"/>
          </a:xfrm>
          <a:prstGeom prst="rect">
            <a:avLst/>
          </a:prstGeom>
          <a:noFill/>
        </p:spPr>
        <p:txBody>
          <a:bodyPr wrap="square">
            <a:spAutoFit/>
          </a:bodyPr>
          <a:lstStyle/>
          <a:p>
            <a:r>
              <a:rPr sz="4800">
                <a:solidFill>
                  <a:srgbClr val="FAF8F0"/>
                </a:solidFill>
                <a:latin typeface="Georgia"/>
              </a:rPr>
              <a:t>XAI methods selection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3EED8"/>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2C5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48640"/>
            <a:ext cx="10817352" cy="914400"/>
          </a:xfrm>
          <a:prstGeom prst="rect">
            <a:avLst/>
          </a:prstGeom>
          <a:noFill/>
        </p:spPr>
        <p:txBody>
          <a:bodyPr wrap="square">
            <a:spAutoFit/>
          </a:bodyPr>
          <a:lstStyle/>
          <a:p>
            <a:r>
              <a:rPr sz="3000" b="0" i="0">
                <a:solidFill>
                  <a:srgbClr val="1B1A0E"/>
                </a:solidFill>
                <a:latin typeface="Georgia"/>
              </a:rPr>
              <a:t>Why these methods: Miller's criteria</a:t>
            </a:r>
          </a:p>
        </p:txBody>
      </p:sp>
      <p:sp>
        <p:nvSpPr>
          <p:cNvPr id="4" name="TextBox 3"/>
          <p:cNvSpPr txBox="1"/>
          <p:nvPr/>
        </p:nvSpPr>
        <p:spPr>
          <a:xfrm>
            <a:off x="685800" y="1554480"/>
            <a:ext cx="10817352" cy="4754880"/>
          </a:xfrm>
          <a:prstGeom prst="rect">
            <a:avLst/>
          </a:prstGeom>
          <a:noFill/>
        </p:spPr>
        <p:txBody>
          <a:bodyPr wrap="square">
            <a:spAutoFit/>
          </a:bodyPr>
          <a:lstStyle/>
          <a:p>
            <a:pPr>
              <a:spcBef>
                <a:spcPts val="600"/>
              </a:spcBef>
            </a:pPr>
            <a:r>
              <a:rPr sz="1500" b="0" i="0">
                <a:solidFill>
                  <a:srgbClr val="1B1A0E"/>
                </a:solidFill>
                <a:latin typeface="Calibri"/>
              </a:rPr>
              <a:t>Tim Miller (2019): good explanations are </a:t>
            </a:r>
            <a:r>
              <a:rPr sz="1500" b="1" i="0">
                <a:solidFill>
                  <a:srgbClr val="1B1A0E"/>
                </a:solidFill>
                <a:latin typeface="Calibri"/>
              </a:rPr>
              <a:t>contrastive, selective, and grounded in the user's mental model</a:t>
            </a:r>
            <a:r>
              <a:rPr sz="1500" b="0" i="0">
                <a:solidFill>
                  <a:srgbClr val="1B1A0E"/>
                </a:solidFill>
                <a:latin typeface="Calibri"/>
              </a:rPr>
              <a:t> — not raw scores.</a:t>
            </a:r>
          </a:p>
          <a:p>
            <a:pPr>
              <a:spcBef>
                <a:spcPts val="600"/>
              </a:spcBef>
            </a:pPr>
            <a:r>
              <a:rPr sz="1500" b="0" i="0">
                <a:solidFill>
                  <a:srgbClr val="1B1A0E"/>
                </a:solidFill>
                <a:latin typeface="Calibri"/>
              </a:rPr>
              <a:t>We chose each XAI component to satisfy a specific criterion:</a:t>
            </a:r>
          </a:p>
          <a:p>
            <a:pPr>
              <a:spcBef>
                <a:spcPts val="500"/>
              </a:spcBef>
            </a:pPr>
            <a:r>
              <a:rPr sz="1800" b="1">
                <a:solidFill>
                  <a:srgbClr val="2C5018"/>
                </a:solidFill>
                <a:latin typeface="Calibri"/>
              </a:rPr>
              <a:t>·  </a:t>
            </a:r>
            <a:r>
              <a:rPr sz="1600" b="1" i="0">
                <a:solidFill>
                  <a:srgbClr val="1B1A0E"/>
                </a:solidFill>
                <a:latin typeface="Calibri"/>
              </a:rPr>
              <a:t>Contrastive</a:t>
            </a:r>
            <a:r>
              <a:rPr sz="1600" b="0" i="0">
                <a:solidFill>
                  <a:srgbClr val="1B1A0E"/>
                </a:solidFill>
                <a:latin typeface="Calibri"/>
              </a:rPr>
              <a:t> -&gt; "why this and not your usual?" — the contrastive sentence generator</a:t>
            </a:r>
          </a:p>
          <a:p>
            <a:pPr>
              <a:spcBef>
                <a:spcPts val="500"/>
              </a:spcBef>
            </a:pPr>
            <a:r>
              <a:rPr sz="1800" b="1">
                <a:solidFill>
                  <a:srgbClr val="2C5018"/>
                </a:solidFill>
                <a:latin typeface="Calibri"/>
              </a:rPr>
              <a:t>·  </a:t>
            </a:r>
            <a:r>
              <a:rPr sz="1600" b="1" i="0">
                <a:solidFill>
                  <a:srgbClr val="1B1A0E"/>
                </a:solidFill>
                <a:latin typeface="Calibri"/>
              </a:rPr>
              <a:t>Selective</a:t>
            </a:r>
            <a:r>
              <a:rPr sz="1600" b="0" i="0">
                <a:solidFill>
                  <a:srgbClr val="1B1A0E"/>
                </a:solidFill>
                <a:latin typeface="Calibri"/>
              </a:rPr>
              <a:t> -&gt; one number, not twenty — H3 discipline over rich model output</a:t>
            </a:r>
          </a:p>
          <a:p>
            <a:pPr>
              <a:spcBef>
                <a:spcPts val="500"/>
              </a:spcBef>
            </a:pPr>
            <a:r>
              <a:rPr sz="1800" b="1">
                <a:solidFill>
                  <a:srgbClr val="2C5018"/>
                </a:solidFill>
                <a:latin typeface="Calibri"/>
              </a:rPr>
              <a:t>·  </a:t>
            </a:r>
            <a:r>
              <a:rPr sz="1600" b="1" i="0">
                <a:solidFill>
                  <a:srgbClr val="1B1A0E"/>
                </a:solidFill>
                <a:latin typeface="Calibri"/>
              </a:rPr>
              <a:t>Grounded / auditable</a:t>
            </a:r>
            <a:r>
              <a:rPr sz="1600" b="0" i="0">
                <a:solidFill>
                  <a:srgbClr val="1B1A0E"/>
                </a:solidFill>
                <a:latin typeface="Calibri"/>
              </a:rPr>
              <a:t> -&gt; an interpretable model plus a verifiable drill-down for the sceptic</a:t>
            </a:r>
          </a:p>
          <a:p>
            <a:pPr>
              <a:spcBef>
                <a:spcPts val="600"/>
              </a:spcBef>
            </a:pPr>
            <a:r>
              <a:rPr sz="1500" b="0" i="0">
                <a:solidFill>
                  <a:srgbClr val="1B1A0E"/>
                </a:solidFill>
                <a:latin typeface="Calibri"/>
              </a:rPr>
              <a:t>The literature gave us the test; our job was to make a vanilla-JS app pass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3EED8"/>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2C5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48640"/>
            <a:ext cx="10817352" cy="914400"/>
          </a:xfrm>
          <a:prstGeom prst="rect">
            <a:avLst/>
          </a:prstGeom>
          <a:noFill/>
        </p:spPr>
        <p:txBody>
          <a:bodyPr wrap="square">
            <a:spAutoFit/>
          </a:bodyPr>
          <a:lstStyle/>
          <a:p>
            <a:r>
              <a:rPr sz="3000" b="0" i="0">
                <a:solidFill>
                  <a:srgbClr val="1B1A0E"/>
                </a:solidFill>
                <a:latin typeface="Georgia"/>
              </a:rPr>
              <a:t>An interpretable model: Random Forest for Nutri-Score</a:t>
            </a:r>
          </a:p>
        </p:txBody>
      </p:sp>
      <p:sp>
        <p:nvSpPr>
          <p:cNvPr id="4" name="TextBox 3"/>
          <p:cNvSpPr txBox="1"/>
          <p:nvPr/>
        </p:nvSpPr>
        <p:spPr>
          <a:xfrm>
            <a:off x="685800" y="1554480"/>
            <a:ext cx="10817352" cy="4754880"/>
          </a:xfrm>
          <a:prstGeom prst="rect">
            <a:avLst/>
          </a:prstGeom>
          <a:noFill/>
        </p:spPr>
        <p:txBody>
          <a:bodyPr wrap="square">
            <a:spAutoFit/>
          </a:bodyPr>
          <a:lstStyle/>
          <a:p>
            <a:pPr>
              <a:spcBef>
                <a:spcPts val="500"/>
              </a:spcBef>
            </a:pPr>
            <a:r>
              <a:rPr sz="1800" b="1">
                <a:solidFill>
                  <a:srgbClr val="2C5018"/>
                </a:solidFill>
                <a:latin typeface="Calibri"/>
              </a:rPr>
              <a:t>·  </a:t>
            </a:r>
            <a:r>
              <a:rPr sz="1600" b="0" i="0">
                <a:solidFill>
                  <a:srgbClr val="1B1A0E"/>
                </a:solidFill>
                <a:latin typeface="Calibri"/>
              </a:rPr>
              <a:t>The system reads the </a:t>
            </a:r>
            <a:r>
              <a:rPr sz="1600" b="1" i="0">
                <a:solidFill>
                  <a:srgbClr val="1B1A0E"/>
                </a:solidFill>
                <a:latin typeface="Calibri"/>
              </a:rPr>
              <a:t>official `nutriscore_grade`</a:t>
            </a:r>
            <a:r>
              <a:rPr sz="1600" b="0" i="0">
                <a:solidFill>
                  <a:srgbClr val="1B1A0E"/>
                </a:solidFill>
                <a:latin typeface="Calibri"/>
              </a:rPr>
              <a:t> — we never recompute the certified label locally.</a:t>
            </a:r>
          </a:p>
          <a:p>
            <a:pPr>
              <a:spcBef>
                <a:spcPts val="500"/>
              </a:spcBef>
            </a:pPr>
            <a:r>
              <a:rPr sz="1800" b="1">
                <a:solidFill>
                  <a:srgbClr val="2C5018"/>
                </a:solidFill>
                <a:latin typeface="Calibri"/>
              </a:rPr>
              <a:t>·  </a:t>
            </a:r>
            <a:r>
              <a:rPr sz="1600" b="0" i="0">
                <a:solidFill>
                  <a:srgbClr val="1B1A0E"/>
                </a:solidFill>
                <a:latin typeface="Calibri"/>
              </a:rPr>
              <a:t>For the XAI pipeline we trained a </a:t>
            </a:r>
            <a:r>
              <a:rPr sz="1600" b="1" i="0">
                <a:solidFill>
                  <a:srgbClr val="1B1A0E"/>
                </a:solidFill>
                <a:latin typeface="Calibri"/>
              </a:rPr>
              <a:t>Random Forest</a:t>
            </a:r>
            <a:r>
              <a:rPr sz="1600" b="0" i="0">
                <a:solidFill>
                  <a:srgbClr val="1B1A0E"/>
                </a:solidFill>
                <a:latin typeface="Calibri"/>
              </a:rPr>
              <a:t> on a real OFF dump (~80% five-fold CV accuracy).</a:t>
            </a:r>
          </a:p>
          <a:p>
            <a:pPr>
              <a:spcBef>
                <a:spcPts val="500"/>
              </a:spcBef>
            </a:pPr>
            <a:r>
              <a:rPr sz="1800" b="1">
                <a:solidFill>
                  <a:srgbClr val="2C5018"/>
                </a:solidFill>
                <a:latin typeface="Calibri"/>
              </a:rPr>
              <a:t>·  </a:t>
            </a:r>
            <a:r>
              <a:rPr sz="1600" b="0" i="0">
                <a:solidFill>
                  <a:srgbClr val="1B1A0E"/>
                </a:solidFill>
                <a:latin typeface="Calibri"/>
              </a:rPr>
              <a:t>Why a forest, not a deep net: </a:t>
            </a:r>
            <a:r>
              <a:rPr sz="1600" b="1" i="0">
                <a:solidFill>
                  <a:srgbClr val="1B1A0E"/>
                </a:solidFill>
                <a:latin typeface="Calibri"/>
              </a:rPr>
              <a:t>feature importances are first-class</a:t>
            </a:r>
            <a:r>
              <a:rPr sz="1600" b="0" i="0">
                <a:solidFill>
                  <a:srgbClr val="1B1A0E"/>
                </a:solidFill>
                <a:latin typeface="Calibri"/>
              </a:rPr>
              <a:t> — fat, sugars, saturated fat, salt, protein, fibre, energy each carry a readable weight.</a:t>
            </a:r>
          </a:p>
          <a:p>
            <a:pPr>
              <a:spcBef>
                <a:spcPts val="500"/>
              </a:spcBef>
            </a:pPr>
            <a:r>
              <a:rPr sz="1800" b="1">
                <a:solidFill>
                  <a:srgbClr val="2C5018"/>
                </a:solidFill>
                <a:latin typeface="Calibri"/>
              </a:rPr>
              <a:t>·  </a:t>
            </a:r>
            <a:r>
              <a:rPr sz="1600" b="0" i="0">
                <a:solidFill>
                  <a:srgbClr val="1B1A0E"/>
                </a:solidFill>
                <a:latin typeface="Calibri"/>
              </a:rPr>
              <a:t>This is a </a:t>
            </a:r>
            <a:r>
              <a:rPr sz="1600" b="1" i="0">
                <a:solidFill>
                  <a:srgbClr val="1B1A0E"/>
                </a:solidFill>
                <a:latin typeface="Calibri"/>
              </a:rPr>
              <a:t>pipeline-verification model</a:t>
            </a:r>
            <a:r>
              <a:rPr sz="1600" b="0" i="0">
                <a:solidFill>
                  <a:srgbClr val="1B1A0E"/>
                </a:solidFill>
                <a:latin typeface="Calibri"/>
              </a:rPr>
              <a:t>: it proves the explanation path end-to-end, it does not replace the official grade.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3EED8"/>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2C5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48640"/>
            <a:ext cx="10817352" cy="914400"/>
          </a:xfrm>
          <a:prstGeom prst="rect">
            <a:avLst/>
          </a:prstGeom>
          <a:noFill/>
        </p:spPr>
        <p:txBody>
          <a:bodyPr wrap="square">
            <a:spAutoFit/>
          </a:bodyPr>
          <a:lstStyle/>
          <a:p>
            <a:r>
              <a:rPr sz="3000" b="0" i="0">
                <a:solidFill>
                  <a:srgbClr val="1B1A0E"/>
                </a:solidFill>
                <a:latin typeface="Georgia"/>
              </a:rPr>
              <a:t>SHAP -&gt; one contrastive sentence, one number</a:t>
            </a:r>
          </a:p>
        </p:txBody>
      </p:sp>
      <p:pic>
        <p:nvPicPr>
          <p:cNvPr id="4" name="Picture 3" descr="shap_explanation.png"/>
          <p:cNvPicPr>
            <a:picLocks noChangeAspect="1"/>
          </p:cNvPicPr>
          <p:nvPr/>
        </p:nvPicPr>
        <p:blipFill>
          <a:blip r:embed="rId2"/>
          <a:stretch>
            <a:fillRect/>
          </a:stretch>
        </p:blipFill>
        <p:spPr>
          <a:xfrm>
            <a:off x="1875709" y="1554480"/>
            <a:ext cx="8437534" cy="2557279"/>
          </a:xfrm>
          <a:prstGeom prst="rect">
            <a:avLst/>
          </a:prstGeom>
        </p:spPr>
      </p:pic>
      <p:sp>
        <p:nvSpPr>
          <p:cNvPr id="5" name="TextBox 4"/>
          <p:cNvSpPr txBox="1"/>
          <p:nvPr/>
        </p:nvSpPr>
        <p:spPr>
          <a:xfrm>
            <a:off x="685800" y="4248919"/>
            <a:ext cx="10817352" cy="2060441"/>
          </a:xfrm>
          <a:prstGeom prst="rect">
            <a:avLst/>
          </a:prstGeom>
          <a:noFill/>
        </p:spPr>
        <p:txBody>
          <a:bodyPr wrap="square">
            <a:spAutoFit/>
          </a:bodyPr>
          <a:lstStyle/>
          <a:p>
            <a:pPr>
              <a:spcBef>
                <a:spcPts val="500"/>
              </a:spcBef>
            </a:pPr>
            <a:r>
              <a:rPr sz="1800" b="1">
                <a:solidFill>
                  <a:srgbClr val="2C5018"/>
                </a:solidFill>
                <a:latin typeface="Calibri"/>
              </a:rPr>
              <a:t>·  </a:t>
            </a:r>
            <a:r>
              <a:rPr sz="1600" b="1" i="0">
                <a:solidFill>
                  <a:srgbClr val="1B1A0E"/>
                </a:solidFill>
                <a:latin typeface="Calibri"/>
              </a:rPr>
              <a:t>SHAP local attribution</a:t>
            </a:r>
            <a:r>
              <a:rPr sz="1600" b="0" i="0">
                <a:solidFill>
                  <a:srgbClr val="1B1A0E"/>
                </a:solidFill>
                <a:latin typeface="Calibri"/>
              </a:rPr>
              <a:t> computes each nutrient's contribution for </a:t>
            </a:r>
            <a:r>
              <a:rPr sz="1600" b="0" i="1">
                <a:solidFill>
                  <a:srgbClr val="1B1A0E"/>
                </a:solidFill>
                <a:latin typeface="Calibri"/>
              </a:rPr>
              <a:t>this</a:t>
            </a:r>
            <a:r>
              <a:rPr sz="1600" b="0" i="0">
                <a:solidFill>
                  <a:srgbClr val="1B1A0E"/>
                </a:solidFill>
                <a:latin typeface="Calibri"/>
              </a:rPr>
              <a:t> product</a:t>
            </a:r>
          </a:p>
          <a:p>
            <a:pPr>
              <a:spcBef>
                <a:spcPts val="500"/>
              </a:spcBef>
            </a:pPr>
            <a:r>
              <a:rPr sz="1800" b="1">
                <a:solidFill>
                  <a:srgbClr val="2C5018"/>
                </a:solidFill>
                <a:latin typeface="Calibri"/>
              </a:rPr>
              <a:t>·  </a:t>
            </a:r>
            <a:r>
              <a:rPr sz="1600" b="0" i="0">
                <a:solidFill>
                  <a:srgbClr val="1B1A0E"/>
                </a:solidFill>
                <a:latin typeface="Calibri"/>
              </a:rPr>
              <a:t>We compress that vector into </a:t>
            </a:r>
            <a:r>
              <a:rPr sz="1600" b="1" i="0">
                <a:solidFill>
                  <a:srgbClr val="1B1A0E"/>
                </a:solidFill>
                <a:latin typeface="Calibri"/>
              </a:rPr>
              <a:t>one contrastive sentence with exactly one verifiable number</a:t>
            </a:r>
            <a:r>
              <a:rPr sz="1600" b="0" i="0">
                <a:solidFill>
                  <a:srgbClr val="1B1A0E"/>
                </a:solidFill>
                <a:latin typeface="Calibri"/>
              </a:rPr>
              <a:t> (H3)</a:t>
            </a:r>
          </a:p>
          <a:p>
            <a:pPr>
              <a:spcBef>
                <a:spcPts val="500"/>
              </a:spcBef>
            </a:pPr>
            <a:r>
              <a:rPr sz="1800" b="1">
                <a:solidFill>
                  <a:srgbClr val="2C5018"/>
                </a:solidFill>
                <a:latin typeface="Calibri"/>
              </a:rPr>
              <a:t>·  </a:t>
            </a:r>
            <a:r>
              <a:rPr sz="1600" b="0" i="0">
                <a:solidFill>
                  <a:srgbClr val="1B1A0E"/>
                </a:solidFill>
                <a:latin typeface="Calibri"/>
              </a:rPr>
              <a:t>The full SHAP detail is parked behind an </a:t>
            </a:r>
            <a:r>
              <a:rPr sz="1600" b="1" i="0">
                <a:solidFill>
                  <a:srgbClr val="1B1A0E"/>
                </a:solidFill>
                <a:latin typeface="Calibri"/>
              </a:rPr>
              <a:t>"Advanced explanation"</a:t>
            </a:r>
            <a:r>
              <a:rPr sz="1600" b="0" i="0">
                <a:solidFill>
                  <a:srgbClr val="1B1A0E"/>
                </a:solidFill>
                <a:latin typeface="Calibri"/>
              </a:rPr>
              <a:t> — selective by default, complete on demand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3EED8"/>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2C5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48640"/>
            <a:ext cx="10817352" cy="914400"/>
          </a:xfrm>
          <a:prstGeom prst="rect">
            <a:avLst/>
          </a:prstGeom>
          <a:noFill/>
        </p:spPr>
        <p:txBody>
          <a:bodyPr wrap="square">
            <a:spAutoFit/>
          </a:bodyPr>
          <a:lstStyle/>
          <a:p>
            <a:r>
              <a:rPr sz="3000" b="0" i="0">
                <a:solidFill>
                  <a:srgbClr val="1B1A0E"/>
                </a:solidFill>
                <a:latin typeface="Georgia"/>
              </a:rPr>
              <a:t>The scatter drill-down: for the sceptic who verifies</a:t>
            </a:r>
          </a:p>
        </p:txBody>
      </p:sp>
      <p:pic>
        <p:nvPicPr>
          <p:cNvPr id="4" name="Picture 3" descr="scatter_plot.png"/>
          <p:cNvPicPr>
            <a:picLocks noChangeAspect="1"/>
          </p:cNvPicPr>
          <p:nvPr/>
        </p:nvPicPr>
        <p:blipFill>
          <a:blip r:embed="rId2"/>
          <a:stretch>
            <a:fillRect/>
          </a:stretch>
        </p:blipFill>
        <p:spPr>
          <a:xfrm>
            <a:off x="2632923" y="1554480"/>
            <a:ext cx="6923105" cy="3628582"/>
          </a:xfrm>
          <a:prstGeom prst="rect">
            <a:avLst/>
          </a:prstGeom>
        </p:spPr>
      </p:pic>
      <p:sp>
        <p:nvSpPr>
          <p:cNvPr id="5" name="TextBox 4"/>
          <p:cNvSpPr txBox="1"/>
          <p:nvPr/>
        </p:nvSpPr>
        <p:spPr>
          <a:xfrm>
            <a:off x="685800" y="5320222"/>
            <a:ext cx="10817352" cy="989138"/>
          </a:xfrm>
          <a:prstGeom prst="rect">
            <a:avLst/>
          </a:prstGeom>
          <a:noFill/>
        </p:spPr>
        <p:txBody>
          <a:bodyPr wrap="square">
            <a:spAutoFit/>
          </a:bodyPr>
          <a:lstStyle/>
          <a:p>
            <a:pPr>
              <a:spcBef>
                <a:spcPts val="500"/>
              </a:spcBef>
            </a:pPr>
            <a:r>
              <a:rPr sz="1800" b="1">
                <a:solidFill>
                  <a:srgbClr val="2C5018"/>
                </a:solidFill>
                <a:latin typeface="Calibri"/>
              </a:rPr>
              <a:t>·  </a:t>
            </a:r>
            <a:r>
              <a:rPr sz="1600" b="0" i="0">
                <a:solidFill>
                  <a:srgbClr val="1B1A0E"/>
                </a:solidFill>
                <a:latin typeface="Calibri"/>
              </a:rPr>
              <a:t>The contrastive sentence answers Marc in half a second; </a:t>
            </a:r>
            <a:r>
              <a:rPr sz="1600" b="1" i="0">
                <a:solidFill>
                  <a:srgbClr val="1B1A0E"/>
                </a:solidFill>
                <a:latin typeface="Calibri"/>
              </a:rPr>
              <a:t>Pau Estarellas wants to see the space.</a:t>
            </a:r>
          </a:p>
          <a:p>
            <a:pPr>
              <a:spcBef>
                <a:spcPts val="500"/>
              </a:spcBef>
            </a:pPr>
            <a:r>
              <a:rPr sz="1800" b="1">
                <a:solidFill>
                  <a:srgbClr val="2C5018"/>
                </a:solidFill>
                <a:latin typeface="Calibri"/>
              </a:rPr>
              <a:t>·  </a:t>
            </a:r>
            <a:r>
              <a:rPr sz="1600" b="0" i="0">
                <a:solidFill>
                  <a:srgbClr val="6B6550"/>
                </a:solidFill>
                <a:latin typeface="Courier New"/>
              </a:rPr>
              <a:t>GET /api/scatter</a:t>
            </a:r>
            <a:r>
              <a:rPr sz="1600" b="0" i="0">
                <a:solidFill>
                  <a:srgbClr val="1B1A0E"/>
                </a:solidFill>
                <a:latin typeface="Calibri"/>
              </a:rPr>
              <a:t> returns a </a:t>
            </a:r>
            <a:r>
              <a:rPr sz="1600" b="1" i="0">
                <a:solidFill>
                  <a:srgbClr val="1B1A0E"/>
                </a:solidFill>
                <a:latin typeface="Calibri"/>
              </a:rPr>
              <a:t>visual XAI scatter plot</a:t>
            </a:r>
            <a:r>
              <a:rPr sz="1600" b="0" i="0">
                <a:solidFill>
                  <a:srgbClr val="1B1A0E"/>
                </a:solidFill>
                <a:latin typeface="Calibri"/>
              </a:rPr>
              <a:t>: where this product sits on the health/eco plane relative to its category.</a:t>
            </a:r>
          </a:p>
          <a:p>
            <a:pPr>
              <a:spcBef>
                <a:spcPts val="500"/>
              </a:spcBef>
            </a:pPr>
            <a:r>
              <a:rPr sz="1800" b="1">
                <a:solidFill>
                  <a:srgbClr val="2C5018"/>
                </a:solidFill>
                <a:latin typeface="Calibri"/>
              </a:rPr>
              <a:t>·  </a:t>
            </a:r>
            <a:r>
              <a:rPr sz="1600" b="0" i="0">
                <a:solidFill>
                  <a:srgbClr val="1B1A0E"/>
                </a:solidFill>
                <a:latin typeface="Calibri"/>
              </a:rPr>
              <a:t>The drill-down is </a:t>
            </a:r>
            <a:r>
              <a:rPr sz="1600" b="1" i="0">
                <a:solidFill>
                  <a:srgbClr val="1B1A0E"/>
                </a:solidFill>
                <a:latin typeface="Calibri"/>
              </a:rPr>
              <a:t>opt-in</a:t>
            </a:r>
            <a:r>
              <a:rPr sz="1600" b="0" i="0">
                <a:solidFill>
                  <a:srgbClr val="1B1A0E"/>
                </a:solidFill>
                <a:latin typeface="Calibri"/>
              </a:rPr>
              <a:t> — Miller's selectivity, and Lluís's "no moralising, just show me the graph".</a:t>
            </a:r>
          </a:p>
          <a:p>
            <a:pPr>
              <a:spcBef>
                <a:spcPts val="600"/>
              </a:spcBef>
            </a:pPr>
            <a:r>
              <a:rPr sz="1500" b="1" i="0">
                <a:solidFill>
                  <a:srgbClr val="1B1A0E"/>
                </a:solidFill>
                <a:latin typeface="Calibri"/>
              </a:rPr>
              <a:t>How each method helps the user:</a:t>
            </a:r>
            <a:r>
              <a:rPr sz="1500" b="0" i="0">
                <a:solidFill>
                  <a:srgbClr val="1B1A0E"/>
                </a:solidFill>
                <a:latin typeface="Calibri"/>
              </a:rPr>
              <a:t> sentence = instant trust; SHAP advanced view = traceability; scatter = independent verification.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3EED8"/>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2C5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48640"/>
            <a:ext cx="10817352" cy="914400"/>
          </a:xfrm>
          <a:prstGeom prst="rect">
            <a:avLst/>
          </a:prstGeom>
          <a:noFill/>
        </p:spPr>
        <p:txBody>
          <a:bodyPr wrap="none">
            <a:spAutoFit/>
          </a:bodyPr>
          <a:lstStyle/>
          <a:p>
            <a:r>
              <a:rPr sz="2800" b="0" i="0">
                <a:solidFill>
                  <a:srgbClr val="1B1A0E"/>
                </a:solidFill>
                <a:latin typeface="Georgia"/>
              </a:rPr>
              <a:t>The AI we used — in the product and in development</a:t>
            </a:r>
          </a:p>
        </p:txBody>
      </p:sp>
      <p:sp>
        <p:nvSpPr>
          <p:cNvPr id="4" name="Rectangle 3"/>
          <p:cNvSpPr/>
          <p:nvPr/>
        </p:nvSpPr>
        <p:spPr>
          <a:xfrm>
            <a:off x="6094476" y="1554480"/>
            <a:ext cx="18288" cy="5120640"/>
          </a:xfrm>
          <a:prstGeom prst="rect">
            <a:avLst/>
          </a:prstGeom>
          <a:solidFill>
            <a:srgbClr val="C8C2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600200"/>
            <a:ext cx="5271516" cy="4709160"/>
          </a:xfrm>
          <a:prstGeom prst="rect">
            <a:avLst/>
          </a:prstGeom>
          <a:noFill/>
        </p:spPr>
        <p:txBody>
          <a:bodyPr wrap="square">
            <a:spAutoFit/>
          </a:bodyPr>
          <a:lstStyle/>
          <a:p>
            <a:pPr>
              <a:spcBef>
                <a:spcPts val="600"/>
              </a:spcBef>
              <a:spcAft>
                <a:spcPts val="400"/>
              </a:spcAft>
            </a:pPr>
            <a:r>
              <a:rPr sz="1600" b="1">
                <a:solidFill>
                  <a:srgbClr val="2C5018"/>
                </a:solidFill>
                <a:latin typeface="Georgia"/>
              </a:rPr>
              <a:t>In the product (ML / XAI)</a:t>
            </a:r>
          </a:p>
          <a:p>
            <a:pPr>
              <a:spcBef>
                <a:spcPts val="400"/>
              </a:spcBef>
            </a:pPr>
            <a:r>
              <a:rPr sz="1600" b="1">
                <a:solidFill>
                  <a:srgbClr val="2C5018"/>
                </a:solidFill>
                <a:latin typeface="Calibri"/>
              </a:rPr>
              <a:t>·  </a:t>
            </a:r>
            <a:r>
              <a:rPr sz="1500" b="1" i="0">
                <a:solidFill>
                  <a:srgbClr val="1B1A0E"/>
                </a:solidFill>
                <a:latin typeface="Calibri"/>
              </a:rPr>
              <a:t>Random Forest</a:t>
            </a:r>
            <a:r>
              <a:rPr sz="1500" b="0" i="0">
                <a:solidFill>
                  <a:srgbClr val="1B1A0E"/>
                </a:solidFill>
                <a:latin typeface="Calibri"/>
              </a:rPr>
              <a:t> (scikit-learn) — predicts Nutri-Score for the explanation pipeline</a:t>
            </a:r>
          </a:p>
          <a:p>
            <a:pPr>
              <a:spcBef>
                <a:spcPts val="400"/>
              </a:spcBef>
            </a:pPr>
            <a:r>
              <a:rPr sz="1600" b="1">
                <a:solidFill>
                  <a:srgbClr val="2C5018"/>
                </a:solidFill>
                <a:latin typeface="Calibri"/>
              </a:rPr>
              <a:t>·  </a:t>
            </a:r>
            <a:r>
              <a:rPr sz="1500" b="1" i="0">
                <a:solidFill>
                  <a:srgbClr val="1B1A0E"/>
                </a:solidFill>
                <a:latin typeface="Calibri"/>
              </a:rPr>
              <a:t>SHAP</a:t>
            </a:r>
            <a:r>
              <a:rPr sz="1500" b="0" i="0">
                <a:solidFill>
                  <a:srgbClr val="1B1A0E"/>
                </a:solidFill>
                <a:latin typeface="Calibri"/>
              </a:rPr>
              <a:t> — local feature attribution -&gt; the one contrastive sentence</a:t>
            </a:r>
          </a:p>
          <a:p>
            <a:pPr>
              <a:spcBef>
                <a:spcPts val="400"/>
              </a:spcBef>
            </a:pPr>
            <a:r>
              <a:rPr sz="1600" b="1">
                <a:solidFill>
                  <a:srgbClr val="2C5018"/>
                </a:solidFill>
                <a:latin typeface="Calibri"/>
              </a:rPr>
              <a:t>·  </a:t>
            </a:r>
            <a:r>
              <a:rPr sz="1500" b="1" i="0">
                <a:solidFill>
                  <a:srgbClr val="1B1A0E"/>
                </a:solidFill>
                <a:latin typeface="Calibri"/>
              </a:rPr>
              <a:t>Weighted KNN</a:t>
            </a:r>
            <a:r>
              <a:rPr sz="1500" b="0" i="0">
                <a:solidFill>
                  <a:srgbClr val="1B1A0E"/>
                </a:solidFill>
                <a:latin typeface="Calibri"/>
              </a:rPr>
              <a:t> — the Alternative Engine (healthier / greener substitutes)</a:t>
            </a:r>
          </a:p>
          <a:p>
            <a:pPr>
              <a:spcBef>
                <a:spcPts val="400"/>
              </a:spcBef>
            </a:pPr>
            <a:r>
              <a:rPr sz="1600" b="1">
                <a:solidFill>
                  <a:srgbClr val="2C5018"/>
                </a:solidFill>
                <a:latin typeface="Calibri"/>
              </a:rPr>
              <a:t>·  </a:t>
            </a:r>
            <a:r>
              <a:rPr sz="1500" b="1" i="0">
                <a:solidFill>
                  <a:srgbClr val="1B1A0E"/>
                </a:solidFill>
                <a:latin typeface="Calibri"/>
              </a:rPr>
              <a:t>DuckDB</a:t>
            </a:r>
            <a:r>
              <a:rPr sz="1500" b="0" i="0">
                <a:solidFill>
                  <a:srgbClr val="1B1A0E"/>
                </a:solidFill>
                <a:latin typeface="Calibri"/>
              </a:rPr>
              <a:t> — queries the full OFF dump at scale</a:t>
            </a:r>
          </a:p>
        </p:txBody>
      </p:sp>
      <p:sp>
        <p:nvSpPr>
          <p:cNvPr id="6" name="TextBox 5"/>
          <p:cNvSpPr txBox="1"/>
          <p:nvPr/>
        </p:nvSpPr>
        <p:spPr>
          <a:xfrm>
            <a:off x="6231636" y="1600200"/>
            <a:ext cx="5271516" cy="4709160"/>
          </a:xfrm>
          <a:prstGeom prst="rect">
            <a:avLst/>
          </a:prstGeom>
          <a:noFill/>
        </p:spPr>
        <p:txBody>
          <a:bodyPr wrap="square">
            <a:spAutoFit/>
          </a:bodyPr>
          <a:lstStyle/>
          <a:p>
            <a:pPr>
              <a:spcBef>
                <a:spcPts val="600"/>
              </a:spcBef>
              <a:spcAft>
                <a:spcPts val="400"/>
              </a:spcAft>
            </a:pPr>
            <a:r>
              <a:rPr sz="1600" b="1">
                <a:solidFill>
                  <a:srgbClr val="2C5018"/>
                </a:solidFill>
                <a:latin typeface="Georgia"/>
              </a:rPr>
              <a:t>In development (generative AI)</a:t>
            </a:r>
          </a:p>
          <a:p>
            <a:pPr>
              <a:spcBef>
                <a:spcPts val="400"/>
              </a:spcBef>
            </a:pPr>
            <a:r>
              <a:rPr sz="1600" b="1">
                <a:solidFill>
                  <a:srgbClr val="2C5018"/>
                </a:solidFill>
                <a:latin typeface="Calibri"/>
              </a:rPr>
              <a:t>·  </a:t>
            </a:r>
            <a:r>
              <a:rPr sz="1500" b="1" i="0">
                <a:solidFill>
                  <a:srgbClr val="1B1A0E"/>
                </a:solidFill>
                <a:latin typeface="Calibri"/>
              </a:rPr>
              <a:t>LLM coding assistants</a:t>
            </a:r>
            <a:r>
              <a:rPr sz="1500" b="0" i="0">
                <a:solidFill>
                  <a:srgbClr val="1B1A0E"/>
                </a:solidFill>
                <a:latin typeface="Calibri"/>
              </a:rPr>
              <a:t> to speed up boilerplate, tests, and docs</a:t>
            </a:r>
          </a:p>
          <a:p>
            <a:pPr>
              <a:spcBef>
                <a:spcPts val="400"/>
              </a:spcBef>
            </a:pPr>
            <a:r>
              <a:rPr sz="1600" b="1">
                <a:solidFill>
                  <a:srgbClr val="2C5018"/>
                </a:solidFill>
                <a:latin typeface="Calibri"/>
              </a:rPr>
              <a:t>·  </a:t>
            </a:r>
            <a:r>
              <a:rPr sz="1500" b="1" i="0">
                <a:solidFill>
                  <a:srgbClr val="1B1A0E"/>
                </a:solidFill>
                <a:latin typeface="Calibri"/>
              </a:rPr>
              <a:t>Human-verified</a:t>
            </a:r>
            <a:r>
              <a:rPr sz="1500" b="0" i="0">
                <a:solidFill>
                  <a:srgbClr val="1B1A0E"/>
                </a:solidFill>
                <a:latin typeface="Calibri"/>
              </a:rPr>
              <a:t>: every change reviewed, adversarially audited (this caught the dead allergen filter), and gated by tests</a:t>
            </a:r>
          </a:p>
          <a:p>
            <a:pPr>
              <a:spcBef>
                <a:spcPts val="400"/>
              </a:spcBef>
            </a:pPr>
            <a:r>
              <a:rPr sz="1600" b="1">
                <a:solidFill>
                  <a:srgbClr val="2C5018"/>
                </a:solidFill>
                <a:latin typeface="Calibri"/>
              </a:rPr>
              <a:t>·  </a:t>
            </a:r>
            <a:r>
              <a:rPr sz="1500" b="0" i="0">
                <a:solidFill>
                  <a:srgbClr val="1B1A0E"/>
                </a:solidFill>
                <a:latin typeface="Calibri"/>
              </a:rPr>
              <a:t>We </a:t>
            </a:r>
            <a:r>
              <a:rPr sz="1500" b="1" i="0">
                <a:solidFill>
                  <a:srgbClr val="1B1A0E"/>
                </a:solidFill>
                <a:latin typeface="Calibri"/>
              </a:rPr>
              <a:t>direct</a:t>
            </a:r>
            <a:r>
              <a:rPr sz="1500" b="0" i="0">
                <a:solidFill>
                  <a:srgbClr val="1B1A0E"/>
                </a:solidFill>
                <a:latin typeface="Calibri"/>
              </a:rPr>
              <a:t> the AI — the design and the verification are ours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C5018"/>
        </a:solidFill>
        <a:effectLst/>
      </p:bgPr>
    </p:bg>
    <p:spTree>
      <p:nvGrpSpPr>
        <p:cNvPr id="1" name=""/>
        <p:cNvGrpSpPr/>
        <p:nvPr/>
      </p:nvGrpSpPr>
      <p:grpSpPr/>
      <p:sp>
        <p:nvSpPr>
          <p:cNvPr id="2" name="TextBox 1"/>
          <p:cNvSpPr txBox="1"/>
          <p:nvPr/>
        </p:nvSpPr>
        <p:spPr>
          <a:xfrm>
            <a:off x="8988552" y="3657600"/>
            <a:ext cx="2743200" cy="2743200"/>
          </a:xfrm>
          <a:prstGeom prst="rect">
            <a:avLst/>
          </a:prstGeom>
          <a:noFill/>
        </p:spPr>
        <p:txBody>
          <a:bodyPr wrap="square">
            <a:spAutoFit/>
          </a:bodyPr>
          <a:lstStyle/>
          <a:p>
            <a:pPr algn="r"/>
            <a:r>
              <a:rPr sz="18000" b="0" i="0">
                <a:solidFill>
                  <a:srgbClr val="4A7A2A"/>
                </a:solidFill>
                <a:latin typeface="Georgia"/>
              </a:rPr>
              <a:t>3</a:t>
            </a:r>
          </a:p>
        </p:txBody>
      </p:sp>
      <p:sp>
        <p:nvSpPr>
          <p:cNvPr id="3" name="TextBox 2"/>
          <p:cNvSpPr txBox="1"/>
          <p:nvPr/>
        </p:nvSpPr>
        <p:spPr>
          <a:xfrm>
            <a:off x="685800" y="822960"/>
            <a:ext cx="10817352" cy="365760"/>
          </a:xfrm>
          <a:prstGeom prst="rect">
            <a:avLst/>
          </a:prstGeom>
          <a:noFill/>
        </p:spPr>
        <p:txBody>
          <a:bodyPr wrap="square">
            <a:spAutoFit/>
          </a:bodyPr>
          <a:lstStyle/>
          <a:p>
            <a:pPr algn="l"/>
            <a:r>
              <a:rPr sz="1100" b="0" i="0">
                <a:solidFill>
                  <a:srgbClr val="AACC88"/>
                </a:solidFill>
                <a:latin typeface="Courier New"/>
              </a:rPr>
              <a:t>Section 3</a:t>
            </a:r>
          </a:p>
        </p:txBody>
      </p:sp>
      <p:sp>
        <p:nvSpPr>
          <p:cNvPr id="4" name="TextBox 3"/>
          <p:cNvSpPr txBox="1"/>
          <p:nvPr/>
        </p:nvSpPr>
        <p:spPr>
          <a:xfrm>
            <a:off x="685800" y="1371600"/>
            <a:ext cx="8229600" cy="2743200"/>
          </a:xfrm>
          <a:prstGeom prst="rect">
            <a:avLst/>
          </a:prstGeom>
          <a:noFill/>
        </p:spPr>
        <p:txBody>
          <a:bodyPr wrap="square">
            <a:spAutoFit/>
          </a:bodyPr>
          <a:lstStyle/>
          <a:p>
            <a:r>
              <a:rPr sz="4800">
                <a:solidFill>
                  <a:srgbClr val="FAF8F0"/>
                </a:solidFill>
                <a:latin typeface="Georgia"/>
              </a:rPr>
              <a:t>Key insights from user testing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3EED8"/>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2C5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48640"/>
            <a:ext cx="10817352" cy="914400"/>
          </a:xfrm>
          <a:prstGeom prst="rect">
            <a:avLst/>
          </a:prstGeom>
          <a:noFill/>
        </p:spPr>
        <p:txBody>
          <a:bodyPr wrap="square">
            <a:spAutoFit/>
          </a:bodyPr>
          <a:lstStyle/>
          <a:p>
            <a:r>
              <a:rPr sz="3000" b="0" i="0">
                <a:solidFill>
                  <a:srgbClr val="1B1A0E"/>
                </a:solidFill>
                <a:latin typeface="Georgia"/>
              </a:rPr>
              <a:t>Two instruments, built in-app (F-46)</a:t>
            </a:r>
          </a:p>
        </p:txBody>
      </p:sp>
      <p:pic>
        <p:nvPicPr>
          <p:cNvPr id="4" name="Picture 3" descr="eval_form.png"/>
          <p:cNvPicPr>
            <a:picLocks noChangeAspect="1"/>
          </p:cNvPicPr>
          <p:nvPr/>
        </p:nvPicPr>
        <p:blipFill>
          <a:blip r:embed="rId2"/>
          <a:stretch>
            <a:fillRect/>
          </a:stretch>
        </p:blipFill>
        <p:spPr>
          <a:xfrm>
            <a:off x="3606485" y="1554480"/>
            <a:ext cx="4975981" cy="8876982"/>
          </a:xfrm>
          <a:prstGeom prst="rect">
            <a:avLst/>
          </a:prstGeom>
        </p:spPr>
      </p:pic>
      <p:sp>
        <p:nvSpPr>
          <p:cNvPr id="5" name="TextBox 4"/>
          <p:cNvSpPr txBox="1"/>
          <p:nvPr/>
        </p:nvSpPr>
        <p:spPr>
          <a:xfrm>
            <a:off x="685800" y="10568622"/>
            <a:ext cx="10817352" cy="-4259262"/>
          </a:xfrm>
          <a:prstGeom prst="rect">
            <a:avLst/>
          </a:prstGeom>
          <a:noFill/>
        </p:spPr>
        <p:txBody>
          <a:bodyPr wrap="square">
            <a:spAutoFit/>
          </a:bodyPr>
          <a:lstStyle/>
          <a:p>
            <a:pPr>
              <a:spcBef>
                <a:spcPts val="500"/>
              </a:spcBef>
            </a:pPr>
            <a:r>
              <a:rPr sz="1800" b="1">
                <a:solidFill>
                  <a:srgbClr val="2C5018"/>
                </a:solidFill>
                <a:latin typeface="Calibri"/>
              </a:rPr>
              <a:t>·  </a:t>
            </a:r>
            <a:r>
              <a:rPr sz="1600" b="1" i="0">
                <a:solidFill>
                  <a:srgbClr val="1B1A0E"/>
                </a:solidFill>
                <a:latin typeface="Calibri"/>
              </a:rPr>
              <a:t>SUS</a:t>
            </a:r>
            <a:r>
              <a:rPr sz="1600" b="0" i="0">
                <a:solidFill>
                  <a:srgbClr val="1B1A0E"/>
                </a:solidFill>
                <a:latin typeface="Calibri"/>
              </a:rPr>
              <a:t> (Brooke 1996) — 10 items, usability of the dashboard (KI-2)</a:t>
            </a:r>
          </a:p>
          <a:p>
            <a:pPr>
              <a:spcBef>
                <a:spcPts val="500"/>
              </a:spcBef>
            </a:pPr>
            <a:r>
              <a:rPr sz="1800" b="1">
                <a:solidFill>
                  <a:srgbClr val="2C5018"/>
                </a:solidFill>
                <a:latin typeface="Calibri"/>
              </a:rPr>
              <a:t>·  </a:t>
            </a:r>
            <a:r>
              <a:rPr sz="1600" b="1" i="0">
                <a:solidFill>
                  <a:srgbClr val="1B1A0E"/>
                </a:solidFill>
                <a:latin typeface="Calibri"/>
              </a:rPr>
              <a:t>Explanation Satisfaction</a:t>
            </a:r>
            <a:r>
              <a:rPr sz="1600" b="0" i="0">
                <a:solidFill>
                  <a:srgbClr val="1B1A0E"/>
                </a:solidFill>
                <a:latin typeface="Calibri"/>
              </a:rPr>
              <a:t> — anchored to </a:t>
            </a:r>
            <a:r>
              <a:rPr sz="1600" b="1" i="0">
                <a:solidFill>
                  <a:srgbClr val="1B1A0E"/>
                </a:solidFill>
                <a:latin typeface="Calibri"/>
              </a:rPr>
              <a:t>XEQ</a:t>
            </a:r>
            <a:r>
              <a:rPr sz="1600" b="0" i="0">
                <a:solidFill>
                  <a:srgbClr val="1B1A0E"/>
                </a:solidFill>
                <a:latin typeface="Calibri"/>
              </a:rPr>
              <a:t> (Wijekoon 2024): clarity, consistency, on-demand detail, reliability/fairness, improved understanding (KI-1, KI-4)</a:t>
            </a:r>
          </a:p>
          <a:p>
            <a:pPr>
              <a:spcBef>
                <a:spcPts val="500"/>
              </a:spcBef>
            </a:pPr>
            <a:r>
              <a:rPr sz="1800" b="1">
                <a:solidFill>
                  <a:srgbClr val="2C5018"/>
                </a:solidFill>
                <a:latin typeface="Calibri"/>
              </a:rPr>
              <a:t>·  </a:t>
            </a:r>
            <a:r>
              <a:rPr sz="1600" b="0" i="0">
                <a:solidFill>
                  <a:srgbClr val="1B1A0E"/>
                </a:solidFill>
                <a:latin typeface="Calibri"/>
              </a:rPr>
              <a:t>Both </a:t>
            </a:r>
            <a:r>
              <a:rPr sz="1600" b="1" i="0">
                <a:solidFill>
                  <a:srgbClr val="1B1A0E"/>
                </a:solidFill>
                <a:latin typeface="Calibri"/>
              </a:rPr>
              <a:t>wired into the prototype</a:t>
            </a:r>
            <a:r>
              <a:rPr sz="1600" b="0" i="0">
                <a:solidFill>
                  <a:srgbClr val="1B1A0E"/>
                </a:solidFill>
                <a:latin typeface="Calibri"/>
              </a:rPr>
              <a:t> — completed in the same browser session, no external survey tool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3EED8"/>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2C5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48640"/>
            <a:ext cx="10817352" cy="914400"/>
          </a:xfrm>
          <a:prstGeom prst="rect">
            <a:avLst/>
          </a:prstGeom>
          <a:noFill/>
        </p:spPr>
        <p:txBody>
          <a:bodyPr wrap="square">
            <a:spAutoFit/>
          </a:bodyPr>
          <a:lstStyle/>
          <a:p>
            <a:r>
              <a:rPr sz="3000" b="0" i="0">
                <a:solidFill>
                  <a:srgbClr val="1B1A0E"/>
                </a:solidFill>
                <a:latin typeface="Georgia"/>
              </a:rPr>
              <a:t>Procedure &amp; cohort</a:t>
            </a:r>
          </a:p>
        </p:txBody>
      </p:sp>
      <p:sp>
        <p:nvSpPr>
          <p:cNvPr id="4" name="TextBox 3"/>
          <p:cNvSpPr txBox="1"/>
          <p:nvPr/>
        </p:nvSpPr>
        <p:spPr>
          <a:xfrm>
            <a:off x="685800" y="1554480"/>
            <a:ext cx="10817352" cy="4754880"/>
          </a:xfrm>
          <a:prstGeom prst="rect">
            <a:avLst/>
          </a:prstGeom>
          <a:noFill/>
        </p:spPr>
        <p:txBody>
          <a:bodyPr wrap="square">
            <a:spAutoFit/>
          </a:bodyPr>
          <a:lstStyle/>
          <a:p>
            <a:pPr>
              <a:spcBef>
                <a:spcPts val="500"/>
              </a:spcBef>
            </a:pPr>
            <a:r>
              <a:rPr sz="1800" b="1">
                <a:solidFill>
                  <a:srgbClr val="2C5018"/>
                </a:solidFill>
                <a:latin typeface="Calibri"/>
              </a:rPr>
              <a:t>·  </a:t>
            </a:r>
            <a:r>
              <a:rPr sz="1600" b="1" i="0">
                <a:solidFill>
                  <a:srgbClr val="1B1A0E"/>
                </a:solidFill>
                <a:latin typeface="Calibri"/>
              </a:rPr>
              <a:t>Six task scenarios</a:t>
            </a:r>
            <a:r>
              <a:rPr sz="1600" b="0" i="0">
                <a:solidFill>
                  <a:srgbClr val="1B1A0E"/>
                </a:solidFill>
                <a:latin typeface="Calibri"/>
              </a:rPr>
              <a:t> mapped to documented user flows: onboarding+search · read explanation · find alternative · compare shelf · set "my usual" · drag slider</a:t>
            </a:r>
          </a:p>
          <a:p>
            <a:pPr>
              <a:spcBef>
                <a:spcPts val="500"/>
              </a:spcBef>
            </a:pPr>
            <a:r>
              <a:rPr sz="1800" b="1">
                <a:solidFill>
                  <a:srgbClr val="2C5018"/>
                </a:solidFill>
                <a:latin typeface="Calibri"/>
              </a:rPr>
              <a:t>·  </a:t>
            </a:r>
            <a:r>
              <a:rPr sz="1600" b="1" i="0">
                <a:solidFill>
                  <a:srgbClr val="1B1A0E"/>
                </a:solidFill>
                <a:latin typeface="Calibri"/>
              </a:rPr>
              <a:t>SEQ</a:t>
            </a:r>
            <a:r>
              <a:rPr sz="1600" b="0" i="0">
                <a:solidFill>
                  <a:srgbClr val="1B1A0E"/>
                </a:solidFill>
                <a:latin typeface="Calibri"/>
              </a:rPr>
              <a:t> after each task for per-flow diagnostics; SUS once at the end</a:t>
            </a:r>
          </a:p>
          <a:p>
            <a:pPr>
              <a:spcBef>
                <a:spcPts val="500"/>
              </a:spcBef>
            </a:pPr>
            <a:r>
              <a:rPr sz="1800" b="1">
                <a:solidFill>
                  <a:srgbClr val="2C5018"/>
                </a:solidFill>
                <a:latin typeface="Calibri"/>
              </a:rPr>
              <a:t>·  </a:t>
            </a:r>
            <a:r>
              <a:rPr sz="1600" b="1" i="0">
                <a:solidFill>
                  <a:srgbClr val="1B1A0E"/>
                </a:solidFill>
                <a:latin typeface="Calibri"/>
              </a:rPr>
              <a:t>Cohort:</a:t>
            </a:r>
            <a:r>
              <a:rPr sz="1600" b="0" i="0">
                <a:solidFill>
                  <a:srgbClr val="1B1A0E"/>
                </a:solidFill>
                <a:latin typeface="Calibri"/>
              </a:rPr>
              <a:t> the six WA3 interviewees re-used (Nielsen formative, n=6). P01 &amp; P03 are team members — declared bias, weighted as optimistic</a:t>
            </a:r>
          </a:p>
          <a:p>
            <a:pPr>
              <a:spcBef>
                <a:spcPts val="500"/>
              </a:spcBef>
            </a:pPr>
            <a:r>
              <a:rPr sz="1800" b="1">
                <a:solidFill>
                  <a:srgbClr val="2C5018"/>
                </a:solidFill>
                <a:latin typeface="Calibri"/>
              </a:rPr>
              <a:t>·  </a:t>
            </a:r>
            <a:r>
              <a:rPr sz="1600" b="0" i="0">
                <a:solidFill>
                  <a:srgbClr val="1B1A0E"/>
                </a:solidFill>
                <a:latin typeface="Calibri"/>
              </a:rPr>
              <a:t>Scoring </a:t>
            </a:r>
            <a:r>
              <a:rPr sz="1600" b="1" i="0">
                <a:solidFill>
                  <a:srgbClr val="1B1A0E"/>
                </a:solidFill>
                <a:latin typeface="Calibri"/>
              </a:rPr>
              <a:t>pre-registered</a:t>
            </a:r>
            <a:r>
              <a:rPr sz="1600" b="0" i="0">
                <a:solidFill>
                  <a:srgbClr val="1B1A0E"/>
                </a:solidFill>
                <a:latin typeface="Calibri"/>
              </a:rPr>
              <a:t>: odd items raw minus 1, even items 5 minus raw, then x2.5 to 0-100; benchmark </a:t>
            </a:r>
            <a:r>
              <a:rPr sz="1600" b="1" i="0">
                <a:solidFill>
                  <a:srgbClr val="1B1A0E"/>
                </a:solidFill>
                <a:latin typeface="Calibri"/>
              </a:rPr>
              <a:t>68</a:t>
            </a:r>
            <a:r>
              <a:rPr sz="1600" b="0" i="0">
                <a:solidFill>
                  <a:srgbClr val="1B1A0E"/>
                </a:solidFill>
                <a:latin typeface="Calibri"/>
              </a:rPr>
              <a:t>, Sauro–Lewis grade bands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3EED8"/>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2C5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48640"/>
            <a:ext cx="10817352" cy="914400"/>
          </a:xfrm>
          <a:prstGeom prst="rect">
            <a:avLst/>
          </a:prstGeom>
          <a:noFill/>
        </p:spPr>
        <p:txBody>
          <a:bodyPr wrap="square">
            <a:spAutoFit/>
          </a:bodyPr>
          <a:lstStyle/>
          <a:p>
            <a:r>
              <a:rPr sz="3000" b="0" i="0">
                <a:solidFill>
                  <a:srgbClr val="1B1A0E"/>
                </a:solidFill>
                <a:latin typeface="Georgia"/>
              </a:rPr>
              <a:t>Honest status: instrument built, data pending</a:t>
            </a:r>
          </a:p>
        </p:txBody>
      </p:sp>
      <p:sp>
        <p:nvSpPr>
          <p:cNvPr id="4" name="TextBox 3"/>
          <p:cNvSpPr txBox="1"/>
          <p:nvPr/>
        </p:nvSpPr>
        <p:spPr>
          <a:xfrm>
            <a:off x="685800" y="1554480"/>
            <a:ext cx="10817352" cy="4754880"/>
          </a:xfrm>
          <a:prstGeom prst="rect">
            <a:avLst/>
          </a:prstGeom>
          <a:noFill/>
        </p:spPr>
        <p:txBody>
          <a:bodyPr wrap="square">
            <a:spAutoFit/>
          </a:bodyPr>
          <a:lstStyle/>
          <a:p>
            <a:pPr>
              <a:spcBef>
                <a:spcPts val="500"/>
              </a:spcBef>
            </a:pPr>
            <a:r>
              <a:rPr sz="1800" b="1">
                <a:solidFill>
                  <a:srgbClr val="2C5018"/>
                </a:solidFill>
                <a:latin typeface="Calibri"/>
              </a:rPr>
              <a:t>·  </a:t>
            </a:r>
            <a:r>
              <a:rPr sz="1600" b="0" i="0">
                <a:solidFill>
                  <a:srgbClr val="1B1A0E"/>
                </a:solidFill>
                <a:latin typeface="Calibri"/>
              </a:rPr>
              <a:t>The instrument is </a:t>
            </a:r>
            <a:r>
              <a:rPr sz="1600" b="1" i="0">
                <a:solidFill>
                  <a:srgbClr val="1B1A0E"/>
                </a:solidFill>
                <a:latin typeface="Calibri"/>
              </a:rPr>
              <a:t>built, wired, and ready</a:t>
            </a:r>
            <a:r>
              <a:rPr sz="1600" b="0" i="0">
                <a:solidFill>
                  <a:srgbClr val="1B1A0E"/>
                </a:solidFill>
                <a:latin typeface="Calibri"/>
              </a:rPr>
              <a:t>. The task suite and cohort are defined.</a:t>
            </a:r>
          </a:p>
          <a:p>
            <a:pPr>
              <a:spcBef>
                <a:spcPts val="500"/>
              </a:spcBef>
            </a:pPr>
            <a:r>
              <a:rPr sz="1800" b="1">
                <a:solidFill>
                  <a:srgbClr val="2C5018"/>
                </a:solidFill>
                <a:latin typeface="Calibri"/>
              </a:rPr>
              <a:t>·  </a:t>
            </a:r>
            <a:r>
              <a:rPr sz="1600" b="1" i="0">
                <a:solidFill>
                  <a:srgbClr val="1B1A0E"/>
                </a:solidFill>
                <a:latin typeface="Calibri"/>
              </a:rPr>
              <a:t>No participant data has been collected yet.</a:t>
            </a:r>
            <a:r>
              <a:rPr sz="1600" b="0" i="0">
                <a:solidFill>
                  <a:srgbClr val="1B1A0E"/>
                </a:solidFill>
                <a:latin typeface="Calibri"/>
              </a:rPr>
              <a:t> We will </a:t>
            </a:r>
            <a:r>
              <a:rPr sz="1600" b="1" i="0">
                <a:solidFill>
                  <a:srgbClr val="1B1A0E"/>
                </a:solidFill>
                <a:latin typeface="Calibri"/>
              </a:rPr>
              <a:t>not</a:t>
            </a:r>
            <a:r>
              <a:rPr sz="1600" b="0" i="0">
                <a:solidFill>
                  <a:srgbClr val="1B1A0E"/>
                </a:solidFill>
                <a:latin typeface="Calibri"/>
              </a:rPr>
              <a:t> quote a SUS score we did not measure.</a:t>
            </a:r>
          </a:p>
          <a:p>
            <a:pPr>
              <a:spcBef>
                <a:spcPts val="500"/>
              </a:spcBef>
            </a:pPr>
            <a:r>
              <a:rPr sz="1800" b="1">
                <a:solidFill>
                  <a:srgbClr val="2C5018"/>
                </a:solidFill>
                <a:latin typeface="Calibri"/>
              </a:rPr>
              <a:t>·  </a:t>
            </a:r>
            <a:r>
              <a:rPr sz="1600" b="0" i="0">
                <a:solidFill>
                  <a:srgbClr val="1B1A0E"/>
                </a:solidFill>
                <a:latin typeface="Calibri"/>
              </a:rPr>
              <a:t>Pre-committing the scoring rules and thresholds </a:t>
            </a:r>
            <a:r>
              <a:rPr sz="1600" b="1" i="0">
                <a:solidFill>
                  <a:srgbClr val="1B1A0E"/>
                </a:solidFill>
                <a:latin typeface="Calibri"/>
              </a:rPr>
              <a:t>before</a:t>
            </a:r>
            <a:r>
              <a:rPr sz="1600" b="0" i="0">
                <a:solidFill>
                  <a:srgbClr val="1B1A0E"/>
                </a:solidFill>
                <a:latin typeface="Calibri"/>
              </a:rPr>
              <a:t> collection is sound method — it removes the temptation to fit interpretation to whatever numbers arrive.</a:t>
            </a:r>
          </a:p>
          <a:p>
            <a:pPr>
              <a:spcBef>
                <a:spcPts val="500"/>
              </a:spcBef>
            </a:pPr>
            <a:r>
              <a:rPr sz="1800" b="1">
                <a:solidFill>
                  <a:srgbClr val="2C5018"/>
                </a:solidFill>
                <a:latin typeface="Calibri"/>
              </a:rPr>
              <a:t>·  </a:t>
            </a:r>
            <a:r>
              <a:rPr sz="1600" b="1" i="0">
                <a:solidFill>
                  <a:srgbClr val="1B1A0E"/>
                </a:solidFill>
                <a:latin typeface="Calibri"/>
              </a:rPr>
              <a:t>Pre-registered hypotheses:</a:t>
            </a:r>
            <a:r>
              <a:rPr sz="1600" b="0" i="0">
                <a:solidFill>
                  <a:srgbClr val="1B1A0E"/>
                </a:solidFill>
                <a:latin typeface="Calibri"/>
              </a:rPr>
              <a:t> (H-a) contrastive + drill-down raises satisfaction for the sceptic; (H-b) zero-config default -&gt; high SEQ for the pragmatist; (H-c) any moralising copy erodes trust for the convenience seeker.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2C5018"/>
        </a:solidFill>
        <a:effectLst/>
      </p:bgPr>
    </p:bg>
    <p:spTree>
      <p:nvGrpSpPr>
        <p:cNvPr id="1" name=""/>
        <p:cNvGrpSpPr/>
        <p:nvPr/>
      </p:nvGrpSpPr>
      <p:grpSpPr/>
      <p:sp>
        <p:nvSpPr>
          <p:cNvPr id="2" name="TextBox 1"/>
          <p:cNvSpPr txBox="1"/>
          <p:nvPr/>
        </p:nvSpPr>
        <p:spPr>
          <a:xfrm>
            <a:off x="8988552" y="3657600"/>
            <a:ext cx="2743200" cy="2743200"/>
          </a:xfrm>
          <a:prstGeom prst="rect">
            <a:avLst/>
          </a:prstGeom>
          <a:noFill/>
        </p:spPr>
        <p:txBody>
          <a:bodyPr wrap="square">
            <a:spAutoFit/>
          </a:bodyPr>
          <a:lstStyle/>
          <a:p>
            <a:pPr algn="r"/>
            <a:r>
              <a:rPr sz="18000" b="0" i="0">
                <a:solidFill>
                  <a:srgbClr val="4A7A2A"/>
                </a:solidFill>
                <a:latin typeface="Georgia"/>
              </a:rPr>
              <a:t>4</a:t>
            </a:r>
          </a:p>
        </p:txBody>
      </p:sp>
      <p:sp>
        <p:nvSpPr>
          <p:cNvPr id="3" name="TextBox 2"/>
          <p:cNvSpPr txBox="1"/>
          <p:nvPr/>
        </p:nvSpPr>
        <p:spPr>
          <a:xfrm>
            <a:off x="685800" y="822960"/>
            <a:ext cx="10817352" cy="365760"/>
          </a:xfrm>
          <a:prstGeom prst="rect">
            <a:avLst/>
          </a:prstGeom>
          <a:noFill/>
        </p:spPr>
        <p:txBody>
          <a:bodyPr wrap="square">
            <a:spAutoFit/>
          </a:bodyPr>
          <a:lstStyle/>
          <a:p>
            <a:pPr algn="l"/>
            <a:r>
              <a:rPr sz="1100" b="0" i="0">
                <a:solidFill>
                  <a:srgbClr val="AACC88"/>
                </a:solidFill>
                <a:latin typeface="Courier New"/>
              </a:rPr>
              <a:t>Section 4</a:t>
            </a:r>
          </a:p>
        </p:txBody>
      </p:sp>
      <p:sp>
        <p:nvSpPr>
          <p:cNvPr id="4" name="TextBox 3"/>
          <p:cNvSpPr txBox="1"/>
          <p:nvPr/>
        </p:nvSpPr>
        <p:spPr>
          <a:xfrm>
            <a:off x="685800" y="1371600"/>
            <a:ext cx="8229600" cy="2743200"/>
          </a:xfrm>
          <a:prstGeom prst="rect">
            <a:avLst/>
          </a:prstGeom>
          <a:noFill/>
        </p:spPr>
        <p:txBody>
          <a:bodyPr wrap="square">
            <a:spAutoFit/>
          </a:bodyPr>
          <a:lstStyle/>
          <a:p>
            <a:r>
              <a:rPr sz="4800" b="0">
                <a:solidFill>
                  <a:srgbClr val="FAF8F0"/>
                </a:solidFill>
                <a:latin typeface="Georgia"/>
              </a:rPr>
              <a:t>Technical
</a:t>
            </a:r>
            <a:r>
              <a:rPr sz="4800" i="1">
                <a:solidFill>
                  <a:srgbClr val="CCEEAA"/>
                </a:solidFill>
                <a:latin typeface="Georgia"/>
              </a:rPr>
              <a:t>&amp; design challenges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3EED8"/>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2C5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48640"/>
            <a:ext cx="10817352" cy="914400"/>
          </a:xfrm>
          <a:prstGeom prst="rect">
            <a:avLst/>
          </a:prstGeom>
          <a:noFill/>
        </p:spPr>
        <p:txBody>
          <a:bodyPr wrap="square">
            <a:spAutoFit/>
          </a:bodyPr>
          <a:lstStyle/>
          <a:p>
            <a:r>
              <a:rPr sz="3000" b="0" i="0">
                <a:solidFill>
                  <a:srgbClr val="1B1A0E"/>
                </a:solidFill>
                <a:latin typeface="Georgia"/>
              </a:rPr>
              <a:t>Open Food Facts: the API fought back</a:t>
            </a:r>
          </a:p>
        </p:txBody>
      </p:sp>
      <p:sp>
        <p:nvSpPr>
          <p:cNvPr id="4" name="TextBox 3"/>
          <p:cNvSpPr txBox="1"/>
          <p:nvPr/>
        </p:nvSpPr>
        <p:spPr>
          <a:xfrm>
            <a:off x="685800" y="1554480"/>
            <a:ext cx="10817352" cy="4754880"/>
          </a:xfrm>
          <a:prstGeom prst="rect">
            <a:avLst/>
          </a:prstGeom>
          <a:noFill/>
        </p:spPr>
        <p:txBody>
          <a:bodyPr wrap="square">
            <a:spAutoFit/>
          </a:bodyPr>
          <a:lstStyle/>
          <a:p>
            <a:pPr>
              <a:spcBef>
                <a:spcPts val="500"/>
              </a:spcBef>
            </a:pPr>
            <a:r>
              <a:rPr sz="1800" b="1">
                <a:solidFill>
                  <a:srgbClr val="2C5018"/>
                </a:solidFill>
                <a:latin typeface="Calibri"/>
              </a:rPr>
              <a:t>·  </a:t>
            </a:r>
            <a:r>
              <a:rPr sz="1600" b="1" i="0">
                <a:solidFill>
                  <a:srgbClr val="1B1A0E"/>
                </a:solidFill>
                <a:latin typeface="Calibri"/>
              </a:rPr>
              <a:t>Intermittent 503s</a:t>
            </a:r>
            <a:r>
              <a:rPr sz="1600" b="0" i="0">
                <a:solidFill>
                  <a:srgbClr val="1B1A0E"/>
                </a:solidFill>
                <a:latin typeface="Calibri"/>
              </a:rPr>
              <a:t> on </a:t>
            </a:r>
            <a:r>
              <a:rPr sz="1600" b="0" i="0">
                <a:solidFill>
                  <a:srgbClr val="6B6550"/>
                </a:solidFill>
                <a:latin typeface="Courier New"/>
              </a:rPr>
              <a:t>/search</a:t>
            </a:r>
            <a:r>
              <a:rPr sz="1600" b="0" i="0">
                <a:solidFill>
                  <a:srgbClr val="1B1A0E"/>
                </a:solidFill>
                <a:latin typeface="Calibri"/>
              </a:rPr>
              <a:t> -&gt; silent fallback to </a:t>
            </a:r>
            <a:r>
              <a:rPr sz="1600" b="0" i="0">
                <a:solidFill>
                  <a:srgbClr val="6B6550"/>
                </a:solidFill>
                <a:latin typeface="Courier New"/>
              </a:rPr>
              <a:t>sample_products.json</a:t>
            </a:r>
            <a:r>
              <a:rPr sz="1600" b="0" i="0">
                <a:solidFill>
                  <a:srgbClr val="1B1A0E"/>
                </a:solidFill>
                <a:latin typeface="Calibri"/>
              </a:rPr>
              <a:t>, non-blocking banner keeps the UI alive</a:t>
            </a:r>
          </a:p>
          <a:p>
            <a:pPr>
              <a:spcBef>
                <a:spcPts val="500"/>
              </a:spcBef>
            </a:pPr>
            <a:r>
              <a:rPr sz="1800" b="1">
                <a:solidFill>
                  <a:srgbClr val="2C5018"/>
                </a:solidFill>
                <a:latin typeface="Calibri"/>
              </a:rPr>
              <a:t>·  </a:t>
            </a:r>
            <a:r>
              <a:rPr sz="1600" b="1" i="0">
                <a:solidFill>
                  <a:srgbClr val="1B1A0E"/>
                </a:solidFill>
                <a:latin typeface="Calibri"/>
              </a:rPr>
              <a:t>Missing `User-Agent` -&gt; 403.</a:t>
            </a:r>
            <a:r>
              <a:rPr sz="1600" b="0" i="0">
                <a:solidFill>
                  <a:srgbClr val="1B1A0E"/>
                </a:solidFill>
                <a:latin typeface="Calibri"/>
              </a:rPr>
              <a:t> Mandatory header </a:t>
            </a:r>
            <a:r>
              <a:rPr sz="1600" b="0" i="0">
                <a:solidFill>
                  <a:srgbClr val="6B6550"/>
                </a:solidFill>
                <a:latin typeface="Courier New"/>
              </a:rPr>
              <a:t>FoodLens-MVP/0.1</a:t>
            </a:r>
            <a:r>
              <a:rPr sz="1600" b="0" i="0">
                <a:solidFill>
                  <a:srgbClr val="1B1A0E"/>
                </a:solidFill>
                <a:latin typeface="Calibri"/>
              </a:rPr>
              <a:t> on every call</a:t>
            </a:r>
          </a:p>
          <a:p>
            <a:pPr>
              <a:spcBef>
                <a:spcPts val="500"/>
              </a:spcBef>
            </a:pPr>
            <a:r>
              <a:rPr sz="1800" b="1">
                <a:solidFill>
                  <a:srgbClr val="2C5018"/>
                </a:solidFill>
                <a:latin typeface="Calibri"/>
              </a:rPr>
              <a:t>·  </a:t>
            </a:r>
            <a:r>
              <a:rPr sz="1600" b="1" i="0">
                <a:solidFill>
                  <a:srgbClr val="1B1A0E"/>
                </a:solidFill>
                <a:latin typeface="Calibri"/>
              </a:rPr>
              <a:t>Field rename:</a:t>
            </a:r>
            <a:r>
              <a:rPr sz="1600" b="0" i="0">
                <a:solidFill>
                  <a:srgbClr val="1B1A0E"/>
                </a:solidFill>
                <a:latin typeface="Calibri"/>
              </a:rPr>
              <a:t> read </a:t>
            </a:r>
            <a:r>
              <a:rPr sz="1600" b="0" i="0">
                <a:solidFill>
                  <a:srgbClr val="6B6550"/>
                </a:solidFill>
                <a:latin typeface="Courier New"/>
              </a:rPr>
              <a:t>environmental_score_grade</a:t>
            </a:r>
            <a:r>
              <a:rPr sz="1600" b="0" i="0">
                <a:solidFill>
                  <a:srgbClr val="1B1A0E"/>
                </a:solidFill>
                <a:latin typeface="Calibri"/>
              </a:rPr>
              <a:t> </a:t>
            </a:r>
            <a:r>
              <a:rPr sz="1600" b="1" i="0">
                <a:solidFill>
                  <a:srgbClr val="1B1A0E"/>
                </a:solidFill>
                <a:latin typeface="Calibri"/>
              </a:rPr>
              <a:t>first</a:t>
            </a:r>
            <a:r>
              <a:rPr sz="1600" b="0" i="0">
                <a:solidFill>
                  <a:srgbClr val="1B1A0E"/>
                </a:solidFill>
                <a:latin typeface="Calibri"/>
              </a:rPr>
              <a:t>, fall back to legacy </a:t>
            </a:r>
            <a:r>
              <a:rPr sz="1600" b="0" i="0">
                <a:solidFill>
                  <a:srgbClr val="6B6550"/>
                </a:solidFill>
                <a:latin typeface="Courier New"/>
              </a:rPr>
              <a:t>ecoscore_grade</a:t>
            </a:r>
          </a:p>
          <a:p>
            <a:pPr>
              <a:spcBef>
                <a:spcPts val="500"/>
              </a:spcBef>
            </a:pPr>
            <a:r>
              <a:rPr sz="1800" b="1">
                <a:solidFill>
                  <a:srgbClr val="2C5018"/>
                </a:solidFill>
                <a:latin typeface="Calibri"/>
              </a:rPr>
              <a:t>·  </a:t>
            </a:r>
            <a:r>
              <a:rPr sz="1600" b="1" i="0">
                <a:solidFill>
                  <a:srgbClr val="1B1A0E"/>
                </a:solidFill>
                <a:latin typeface="Calibri"/>
              </a:rPr>
              <a:t>Rate limits</a:t>
            </a:r>
            <a:r>
              <a:rPr sz="1600" b="0" i="0">
                <a:solidFill>
                  <a:srgbClr val="1B1A0E"/>
                </a:solidFill>
                <a:latin typeface="Calibri"/>
              </a:rPr>
              <a:t> (search 10/min) -&gt; </a:t>
            </a:r>
            <a:r>
              <a:rPr sz="1600" b="1" i="0">
                <a:solidFill>
                  <a:srgbClr val="1B1A0E"/>
                </a:solidFill>
                <a:latin typeface="Calibri"/>
              </a:rPr>
              <a:t>Redis</a:t>
            </a:r>
            <a:r>
              <a:rPr sz="1600" b="0" i="0">
                <a:solidFill>
                  <a:srgbClr val="1B1A0E"/>
                </a:solidFill>
                <a:latin typeface="Calibri"/>
              </a:rPr>
              <a:t> cache budgeting on the backend</a:t>
            </a:r>
          </a:p>
          <a:p>
            <a:pPr>
              <a:spcBef>
                <a:spcPts val="500"/>
              </a:spcBef>
            </a:pPr>
            <a:r>
              <a:rPr sz="1800" b="1">
                <a:solidFill>
                  <a:srgbClr val="2C5018"/>
                </a:solidFill>
                <a:latin typeface="Calibri"/>
              </a:rPr>
              <a:t>·  </a:t>
            </a:r>
            <a:r>
              <a:rPr sz="1600" b="1" i="0">
                <a:solidFill>
                  <a:srgbClr val="1B1A0E"/>
                </a:solidFill>
                <a:latin typeface="Calibri"/>
              </a:rPr>
              <a:t>Graceful degradation:</a:t>
            </a:r>
            <a:r>
              <a:rPr sz="1600" b="0" i="0">
                <a:solidFill>
                  <a:srgbClr val="1B1A0E"/>
                </a:solidFill>
                <a:latin typeface="Calibri"/>
              </a:rPr>
              <a:t> backend times out at </a:t>
            </a:r>
            <a:r>
              <a:rPr sz="1600" b="1" i="0">
                <a:solidFill>
                  <a:srgbClr val="1B1A0E"/>
                </a:solidFill>
                <a:latin typeface="Calibri"/>
              </a:rPr>
              <a:t>1500 ms</a:t>
            </a:r>
            <a:r>
              <a:rPr sz="1600" b="0" i="0">
                <a:solidFill>
                  <a:srgbClr val="1B1A0E"/>
                </a:solidFill>
                <a:latin typeface="Calibri"/>
              </a:rPr>
              <a:t> (KNN) / </a:t>
            </a:r>
            <a:r>
              <a:rPr sz="1600" b="1" i="0">
                <a:solidFill>
                  <a:srgbClr val="1B1A0E"/>
                </a:solidFill>
                <a:latin typeface="Calibri"/>
              </a:rPr>
              <a:t>2000 ms</a:t>
            </a:r>
            <a:r>
              <a:rPr sz="1600" b="0" i="0">
                <a:solidFill>
                  <a:srgbClr val="1B1A0E"/>
                </a:solidFill>
                <a:latin typeface="Calibri"/>
              </a:rPr>
              <a:t> (explanation), then falls back to the in-browser path</a:t>
            </a:r>
          </a:p>
          <a:p>
            <a:pPr>
              <a:spcBef>
                <a:spcPts val="600"/>
              </a:spcBef>
            </a:pPr>
            <a:r>
              <a:rPr sz="1500" b="0" i="0">
                <a:solidFill>
                  <a:srgbClr val="1B1A0E"/>
                </a:solidFill>
                <a:latin typeface="Calibri"/>
              </a:rPr>
              <a:t>Design discipline under pressure: keep the </a:t>
            </a:r>
            <a:r>
              <a:rPr sz="1500" b="1" i="0">
                <a:solidFill>
                  <a:srgbClr val="1B1A0E"/>
                </a:solidFill>
                <a:latin typeface="Calibri"/>
              </a:rPr>
              <a:t>eco badge visible</a:t>
            </a:r>
            <a:r>
              <a:rPr sz="1500" b="0" i="0">
                <a:solidFill>
                  <a:srgbClr val="1B1A0E"/>
                </a:solidFill>
                <a:latin typeface="Calibri"/>
              </a:rPr>
              <a:t> for "not-applicable" (H1); hold </a:t>
            </a:r>
            <a:r>
              <a:rPr sz="1500" b="1" i="0">
                <a:solidFill>
                  <a:srgbClr val="1B1A0E"/>
                </a:solidFill>
                <a:latin typeface="Calibri"/>
              </a:rPr>
              <a:t>one-sentence-one-number</a:t>
            </a:r>
            <a:r>
              <a:rPr sz="1500" b="0" i="0">
                <a:solidFill>
                  <a:srgbClr val="1B1A0E"/>
                </a:solidFill>
                <a:latin typeface="Calibri"/>
              </a:rPr>
              <a:t> even when SHAP hands us a rich vector (H3).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3EED8"/>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2C5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48640"/>
            <a:ext cx="10817352" cy="914400"/>
          </a:xfrm>
          <a:prstGeom prst="rect">
            <a:avLst/>
          </a:prstGeom>
          <a:noFill/>
        </p:spPr>
        <p:txBody>
          <a:bodyPr wrap="square">
            <a:spAutoFit/>
          </a:bodyPr>
          <a:lstStyle/>
          <a:p>
            <a:r>
              <a:rPr sz="3000" b="0" i="0">
                <a:solidFill>
                  <a:srgbClr val="1B1A0E"/>
                </a:solidFill>
                <a:latin typeface="Georgia"/>
              </a:rPr>
              <a:t>Honest QA: defects we found and fixed before release</a:t>
            </a:r>
          </a:p>
        </p:txBody>
      </p:sp>
      <p:sp>
        <p:nvSpPr>
          <p:cNvPr id="4" name="TextBox 3"/>
          <p:cNvSpPr txBox="1"/>
          <p:nvPr/>
        </p:nvSpPr>
        <p:spPr>
          <a:xfrm>
            <a:off x="685800" y="1554480"/>
            <a:ext cx="10817352" cy="4754880"/>
          </a:xfrm>
          <a:prstGeom prst="rect">
            <a:avLst/>
          </a:prstGeom>
          <a:noFill/>
        </p:spPr>
        <p:txBody>
          <a:bodyPr wrap="square">
            <a:spAutoFit/>
          </a:bodyPr>
          <a:lstStyle/>
          <a:p>
            <a:pPr>
              <a:spcBef>
                <a:spcPts val="600"/>
              </a:spcBef>
            </a:pPr>
            <a:r>
              <a:rPr sz="1500" b="0" i="0">
                <a:solidFill>
                  <a:srgbClr val="1B1A0E"/>
                </a:solidFill>
                <a:latin typeface="Calibri"/>
              </a:rPr>
              <a:t>An adversarial review + engineering pass caught </a:t>
            </a:r>
            <a:r>
              <a:rPr sz="1500" b="1" i="0">
                <a:solidFill>
                  <a:srgbClr val="1B1A0E"/>
                </a:solidFill>
                <a:latin typeface="Calibri"/>
              </a:rPr>
              <a:t>three real defects</a:t>
            </a:r>
            <a:r>
              <a:rPr sz="1500" b="0" i="0">
                <a:solidFill>
                  <a:srgbClr val="1B1A0E"/>
                </a:solidFill>
                <a:latin typeface="Calibri"/>
              </a:rPr>
              <a:t> — none of which a usability test would have caught:</a:t>
            </a:r>
          </a:p>
          <a:p>
            <a:pPr>
              <a:spcBef>
                <a:spcPts val="500"/>
              </a:spcBef>
            </a:pPr>
            <a:r>
              <a:rPr sz="1800" b="1">
                <a:solidFill>
                  <a:srgbClr val="2C5018"/>
                </a:solidFill>
                <a:latin typeface="Calibri"/>
              </a:rPr>
              <a:t>·  </a:t>
            </a:r>
            <a:r>
              <a:rPr sz="1600" b="1" i="0">
                <a:solidFill>
                  <a:srgbClr val="1B1A0E"/>
                </a:solidFill>
                <a:latin typeface="Calibri"/>
              </a:rPr>
              <a:t>Allergen filters were dead.</a:t>
            </a:r>
            <a:r>
              <a:rPr sz="1600" b="0" i="0">
                <a:solidFill>
                  <a:srgbClr val="1B1A0E"/>
                </a:solidFill>
                <a:latin typeface="Calibri"/>
              </a:rPr>
              <a:t> </a:t>
            </a:r>
            <a:r>
              <a:rPr sz="1600" b="0" i="0">
                <a:solidFill>
                  <a:srgbClr val="6B6550"/>
                </a:solidFill>
                <a:latin typeface="Courier New"/>
              </a:rPr>
              <a:t>api.js</a:t>
            </a:r>
            <a:r>
              <a:rPr sz="1600" b="0" i="0">
                <a:solidFill>
                  <a:srgbClr val="1B1A0E"/>
                </a:solidFill>
                <a:latin typeface="Calibri"/>
              </a:rPr>
              <a:t> never requested </a:t>
            </a:r>
            <a:r>
              <a:rPr sz="1600" b="0" i="0">
                <a:solidFill>
                  <a:srgbClr val="6B6550"/>
                </a:solidFill>
                <a:latin typeface="Courier New"/>
              </a:rPr>
              <a:t>allergens_tags</a:t>
            </a:r>
            <a:r>
              <a:rPr sz="1600" b="0" i="0">
                <a:solidFill>
                  <a:srgbClr val="1B1A0E"/>
                </a:solidFill>
                <a:latin typeface="Calibri"/>
              </a:rPr>
              <a:t>, so cards carried no allergen data — a </a:t>
            </a:r>
            <a:r>
              <a:rPr sz="1600" b="1" i="0">
                <a:solidFill>
                  <a:srgbClr val="1B1A0E"/>
                </a:solidFill>
                <a:latin typeface="Calibri"/>
              </a:rPr>
              <a:t>safety issue</a:t>
            </a:r>
            <a:r>
              <a:rPr sz="1600" b="0" i="0">
                <a:solidFill>
                  <a:srgbClr val="1B1A0E"/>
                </a:solidFill>
                <a:latin typeface="Calibri"/>
              </a:rPr>
              <a:t>. Fix: request the field, normalise to tokens, exact OFF-token matching.</a:t>
            </a:r>
          </a:p>
          <a:p>
            <a:pPr>
              <a:spcBef>
                <a:spcPts val="500"/>
              </a:spcBef>
            </a:pPr>
            <a:r>
              <a:rPr sz="1800" b="1">
                <a:solidFill>
                  <a:srgbClr val="2C5018"/>
                </a:solidFill>
                <a:latin typeface="Calibri"/>
              </a:rPr>
              <a:t>·  </a:t>
            </a:r>
            <a:r>
              <a:rPr sz="1600" b="1" i="0">
                <a:solidFill>
                  <a:srgbClr val="1B1A0E"/>
                </a:solidFill>
                <a:latin typeface="Calibri"/>
              </a:rPr>
              <a:t>Category browser search was commented out.</a:t>
            </a:r>
            <a:r>
              <a:rPr sz="1600" b="0" i="0">
                <a:solidFill>
                  <a:srgbClr val="1B1A0E"/>
                </a:solidFill>
                <a:latin typeface="Calibri"/>
              </a:rPr>
              <a:t> </a:t>
            </a:r>
            <a:r>
              <a:rPr sz="1600" b="0" i="0">
                <a:solidFill>
                  <a:srgbClr val="6B6550"/>
                </a:solidFill>
                <a:latin typeface="Courier New"/>
              </a:rPr>
              <a:t>runSearch</a:t>
            </a:r>
            <a:r>
              <a:rPr sz="1600" b="0" i="0">
                <a:solidFill>
                  <a:srgbClr val="1B1A0E"/>
                </a:solidFill>
                <a:latin typeface="Calibri"/>
              </a:rPr>
              <a:t> wiring was dead. Fix: connected dropdown filters to live in-memory rendering.</a:t>
            </a:r>
          </a:p>
          <a:p>
            <a:pPr>
              <a:spcBef>
                <a:spcPts val="500"/>
              </a:spcBef>
            </a:pPr>
            <a:r>
              <a:rPr sz="1800" b="1">
                <a:solidFill>
                  <a:srgbClr val="2C5018"/>
                </a:solidFill>
                <a:latin typeface="Calibri"/>
              </a:rPr>
              <a:t>·  </a:t>
            </a:r>
            <a:r>
              <a:rPr sz="1600" b="1" i="0">
                <a:solidFill>
                  <a:srgbClr val="1B1A0E"/>
                </a:solidFill>
                <a:latin typeface="Calibri"/>
              </a:rPr>
              <a:t>Falsy-zero bug.</a:t>
            </a:r>
            <a:r>
              <a:rPr sz="1600" b="0" i="0">
                <a:solidFill>
                  <a:srgbClr val="1B1A0E"/>
                </a:solidFill>
                <a:latin typeface="Calibri"/>
              </a:rPr>
              <a:t> A genuine </a:t>
            </a:r>
            <a:r>
              <a:rPr sz="1600" b="1" i="0">
                <a:solidFill>
                  <a:srgbClr val="1B1A0E"/>
                </a:solidFill>
                <a:latin typeface="Calibri"/>
              </a:rPr>
              <a:t>0 g</a:t>
            </a:r>
            <a:r>
              <a:rPr sz="1600" b="0" i="0">
                <a:solidFill>
                  <a:srgbClr val="1B1A0E"/>
                </a:solidFill>
                <a:latin typeface="Calibri"/>
              </a:rPr>
              <a:t> rendered as "no data" under a truthiness test. Fix: explicit </a:t>
            </a:r>
            <a:r>
              <a:rPr sz="1600" b="0" i="0">
                <a:solidFill>
                  <a:srgbClr val="6B6550"/>
                </a:solidFill>
                <a:latin typeface="Courier New"/>
              </a:rPr>
              <a:t>typeof</a:t>
            </a:r>
            <a:r>
              <a:rPr sz="1600" b="0" i="0">
                <a:solidFill>
                  <a:srgbClr val="1B1A0E"/>
                </a:solidFill>
                <a:latin typeface="Calibri"/>
              </a:rPr>
              <a:t>/null guards — real 0 shows "0"; missing shows "no data".</a:t>
            </a:r>
          </a:p>
          <a:p>
            <a:pPr>
              <a:spcBef>
                <a:spcPts val="600"/>
              </a:spcBef>
            </a:pPr>
            <a:r>
              <a:rPr sz="1500" b="0" i="0">
                <a:solidFill>
                  <a:srgbClr val="1B1A0E"/>
                </a:solidFill>
                <a:latin typeface="Calibri"/>
              </a:rPr>
              <a:t>We disclose these candidly. Finding them strengthens the build; hiding them would not.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2C5018"/>
        </a:solidFill>
        <a:effectLst/>
      </p:bgPr>
    </p:bg>
    <p:spTree>
      <p:nvGrpSpPr>
        <p:cNvPr id="1" name=""/>
        <p:cNvGrpSpPr/>
        <p:nvPr/>
      </p:nvGrpSpPr>
      <p:grpSpPr/>
      <p:sp>
        <p:nvSpPr>
          <p:cNvPr id="2" name="TextBox 1"/>
          <p:cNvSpPr txBox="1"/>
          <p:nvPr/>
        </p:nvSpPr>
        <p:spPr>
          <a:xfrm>
            <a:off x="8988552" y="3657600"/>
            <a:ext cx="2743200" cy="2743200"/>
          </a:xfrm>
          <a:prstGeom prst="rect">
            <a:avLst/>
          </a:prstGeom>
          <a:noFill/>
        </p:spPr>
        <p:txBody>
          <a:bodyPr wrap="square">
            <a:spAutoFit/>
          </a:bodyPr>
          <a:lstStyle/>
          <a:p>
            <a:pPr algn="r"/>
            <a:r>
              <a:rPr sz="18000" b="0" i="0">
                <a:solidFill>
                  <a:srgbClr val="4A7A2A"/>
                </a:solidFill>
                <a:latin typeface="Georgia"/>
              </a:rPr>
              <a:t>5</a:t>
            </a:r>
          </a:p>
        </p:txBody>
      </p:sp>
      <p:sp>
        <p:nvSpPr>
          <p:cNvPr id="3" name="TextBox 2"/>
          <p:cNvSpPr txBox="1"/>
          <p:nvPr/>
        </p:nvSpPr>
        <p:spPr>
          <a:xfrm>
            <a:off x="685800" y="822960"/>
            <a:ext cx="10817352" cy="365760"/>
          </a:xfrm>
          <a:prstGeom prst="rect">
            <a:avLst/>
          </a:prstGeom>
          <a:noFill/>
        </p:spPr>
        <p:txBody>
          <a:bodyPr wrap="square">
            <a:spAutoFit/>
          </a:bodyPr>
          <a:lstStyle/>
          <a:p>
            <a:pPr algn="l"/>
            <a:r>
              <a:rPr sz="1100" b="0" i="0">
                <a:solidFill>
                  <a:srgbClr val="AACC88"/>
                </a:solidFill>
                <a:latin typeface="Courier New"/>
              </a:rPr>
              <a:t>Section 5</a:t>
            </a:r>
          </a:p>
        </p:txBody>
      </p:sp>
      <p:sp>
        <p:nvSpPr>
          <p:cNvPr id="4" name="TextBox 3"/>
          <p:cNvSpPr txBox="1"/>
          <p:nvPr/>
        </p:nvSpPr>
        <p:spPr>
          <a:xfrm>
            <a:off x="685800" y="1371600"/>
            <a:ext cx="8229600" cy="2743200"/>
          </a:xfrm>
          <a:prstGeom prst="rect">
            <a:avLst/>
          </a:prstGeom>
          <a:noFill/>
        </p:spPr>
        <p:txBody>
          <a:bodyPr wrap="square">
            <a:spAutoFit/>
          </a:bodyPr>
          <a:lstStyle/>
          <a:p>
            <a:r>
              <a:rPr sz="4800">
                <a:solidFill>
                  <a:srgbClr val="FAF8F0"/>
                </a:solidFill>
                <a:latin typeface="Georgia"/>
              </a:rPr>
              <a:t>Live demonstration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3EED8"/>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2C5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48640"/>
            <a:ext cx="10817352" cy="914400"/>
          </a:xfrm>
          <a:prstGeom prst="rect">
            <a:avLst/>
          </a:prstGeom>
          <a:noFill/>
        </p:spPr>
        <p:txBody>
          <a:bodyPr wrap="square">
            <a:spAutoFit/>
          </a:bodyPr>
          <a:lstStyle/>
          <a:p>
            <a:r>
              <a:rPr sz="3000" b="0" i="0">
                <a:solidFill>
                  <a:srgbClr val="1B1A0E"/>
                </a:solidFill>
                <a:latin typeface="Georgia"/>
              </a:rPr>
              <a:t>What we will show live (about 8 min)</a:t>
            </a:r>
          </a:p>
        </p:txBody>
      </p:sp>
      <p:sp>
        <p:nvSpPr>
          <p:cNvPr id="4" name="TextBox 3"/>
          <p:cNvSpPr txBox="1"/>
          <p:nvPr/>
        </p:nvSpPr>
        <p:spPr>
          <a:xfrm>
            <a:off x="685800" y="1554480"/>
            <a:ext cx="10817352" cy="4754880"/>
          </a:xfrm>
          <a:prstGeom prst="rect">
            <a:avLst/>
          </a:prstGeom>
          <a:noFill/>
        </p:spPr>
        <p:txBody>
          <a:bodyPr wrap="square">
            <a:spAutoFit/>
          </a:bodyPr>
          <a:lstStyle/>
          <a:p>
            <a:pPr>
              <a:spcBef>
                <a:spcPts val="400"/>
              </a:spcBef>
            </a:pPr>
            <a:r>
              <a:rPr sz="1500" b="1">
                <a:solidFill>
                  <a:srgbClr val="2C5018"/>
                </a:solidFill>
                <a:latin typeface="Courier New"/>
              </a:rPr>
              <a:t>1.  </a:t>
            </a:r>
            <a:r>
              <a:rPr sz="1600" b="1" i="0">
                <a:solidFill>
                  <a:srgbClr val="1B1A0E"/>
                </a:solidFill>
                <a:latin typeface="Calibri"/>
              </a:rPr>
              <a:t>Onboarding</a:t>
            </a:r>
            <a:r>
              <a:rPr sz="1600" b="0" i="0">
                <a:solidFill>
                  <a:srgbClr val="1B1A0E"/>
                </a:solidFill>
                <a:latin typeface="Calibri"/>
              </a:rPr>
              <a:t> — goals + age + gender only (H6), then a product search</a:t>
            </a:r>
          </a:p>
          <a:p>
            <a:pPr>
              <a:spcBef>
                <a:spcPts val="400"/>
              </a:spcBef>
            </a:pPr>
            <a:r>
              <a:rPr sz="1500" b="1">
                <a:solidFill>
                  <a:srgbClr val="2C5018"/>
                </a:solidFill>
                <a:latin typeface="Courier New"/>
              </a:rPr>
              <a:t>2.  </a:t>
            </a:r>
            <a:r>
              <a:rPr sz="1600" b="1" i="0">
                <a:solidFill>
                  <a:srgbClr val="1B1A0E"/>
                </a:solidFill>
                <a:latin typeface="Calibri"/>
              </a:rPr>
              <a:t>Dual-axis card</a:t>
            </a:r>
            <a:r>
              <a:rPr sz="1600" b="0" i="0">
                <a:solidFill>
                  <a:srgbClr val="1B1A0E"/>
                </a:solidFill>
                <a:latin typeface="Calibri"/>
              </a:rPr>
              <a:t> — Nutri-Score and Eco-Score side by side, contrastive sentence </a:t>
            </a:r>
            <a:r>
              <a:rPr sz="1600" b="1" i="0">
                <a:solidFill>
                  <a:srgbClr val="1B1A0E"/>
                </a:solidFill>
                <a:latin typeface="Calibri"/>
              </a:rPr>
              <a:t>open by default</a:t>
            </a:r>
            <a:r>
              <a:rPr sz="1600" b="0" i="0">
                <a:solidFill>
                  <a:srgbClr val="1B1A0E"/>
                </a:solidFill>
                <a:latin typeface="Calibri"/>
              </a:rPr>
              <a:t> (H1, H2, H3)</a:t>
            </a:r>
          </a:p>
          <a:p>
            <a:pPr>
              <a:spcBef>
                <a:spcPts val="400"/>
              </a:spcBef>
            </a:pPr>
            <a:r>
              <a:rPr sz="1500" b="1">
                <a:solidFill>
                  <a:srgbClr val="2C5018"/>
                </a:solidFill>
                <a:latin typeface="Courier New"/>
              </a:rPr>
              <a:t>3.  </a:t>
            </a:r>
            <a:r>
              <a:rPr sz="1600" b="1" i="0">
                <a:solidFill>
                  <a:srgbClr val="1B1A0E"/>
                </a:solidFill>
                <a:latin typeface="Calibri"/>
              </a:rPr>
              <a:t>Advanced explanation</a:t>
            </a:r>
            <a:r>
              <a:rPr sz="1600" b="0" i="0">
                <a:solidFill>
                  <a:srgbClr val="1B1A0E"/>
                </a:solidFill>
                <a:latin typeface="Calibri"/>
              </a:rPr>
              <a:t> — expand SHAP attribution; open the scatter drill-down</a:t>
            </a:r>
          </a:p>
          <a:p>
            <a:pPr>
              <a:spcBef>
                <a:spcPts val="400"/>
              </a:spcBef>
            </a:pPr>
            <a:r>
              <a:rPr sz="1500" b="1">
                <a:solidFill>
                  <a:srgbClr val="2C5018"/>
                </a:solidFill>
                <a:latin typeface="Courier New"/>
              </a:rPr>
              <a:t>4.  </a:t>
            </a:r>
            <a:r>
              <a:rPr sz="1600" b="1" i="0">
                <a:solidFill>
                  <a:srgbClr val="1B1A0E"/>
                </a:solidFill>
                <a:latin typeface="Calibri"/>
              </a:rPr>
              <a:t>Priority slider</a:t>
            </a:r>
            <a:r>
              <a:rPr sz="1600" b="0" i="0">
                <a:solidFill>
                  <a:srgbClr val="1B1A0E"/>
                </a:solidFill>
                <a:latin typeface="Calibri"/>
              </a:rPr>
              <a:t> — drag health/eco; show the ranking actually changes (H4, KI-5)</a:t>
            </a:r>
          </a:p>
          <a:p>
            <a:pPr>
              <a:spcBef>
                <a:spcPts val="400"/>
              </a:spcBef>
            </a:pPr>
            <a:r>
              <a:rPr sz="1500" b="1">
                <a:solidFill>
                  <a:srgbClr val="2C5018"/>
                </a:solidFill>
                <a:latin typeface="Courier New"/>
              </a:rPr>
              <a:t>5.  </a:t>
            </a:r>
            <a:r>
              <a:rPr sz="1600" b="1" i="0">
                <a:solidFill>
                  <a:srgbClr val="1B1A0E"/>
                </a:solidFill>
                <a:latin typeface="Calibri"/>
              </a:rPr>
              <a:t>Filters</a:t>
            </a:r>
            <a:r>
              <a:rPr sz="1600" b="0" i="0">
                <a:solidFill>
                  <a:srgbClr val="1B1A0E"/>
                </a:solidFill>
                <a:latin typeface="Calibri"/>
              </a:rPr>
              <a:t> — allergen + eco multi-criteria filtering; category browser (Batch-I)</a:t>
            </a:r>
          </a:p>
          <a:p>
            <a:pPr>
              <a:spcBef>
                <a:spcPts val="400"/>
              </a:spcBef>
            </a:pPr>
            <a:r>
              <a:rPr sz="1500" b="1">
                <a:solidFill>
                  <a:srgbClr val="2C5018"/>
                </a:solidFill>
                <a:latin typeface="Courier New"/>
              </a:rPr>
              <a:t>6.  </a:t>
            </a:r>
            <a:r>
              <a:rPr sz="1600" b="1" i="0">
                <a:solidFill>
                  <a:srgbClr val="1B1A0E"/>
                </a:solidFill>
                <a:latin typeface="Calibri"/>
              </a:rPr>
              <a:t>Compare this shelf</a:t>
            </a:r>
            <a:r>
              <a:rPr sz="1600" b="0" i="0">
                <a:solidFill>
                  <a:srgbClr val="1B1A0E"/>
                </a:solidFill>
                <a:latin typeface="Calibri"/>
              </a:rPr>
              <a:t> — N products -&gt; ranked list + winner-highlight table -&gt; </a:t>
            </a:r>
            <a:r>
              <a:rPr sz="1600" b="1" i="0">
                <a:solidFill>
                  <a:srgbClr val="1B1A0E"/>
                </a:solidFill>
                <a:latin typeface="Calibri"/>
              </a:rPr>
              <a:t>CSV export</a:t>
            </a:r>
            <a:r>
              <a:rPr sz="1600" b="0" i="0">
                <a:solidFill>
                  <a:srgbClr val="1B1A0E"/>
                </a:solidFill>
                <a:latin typeface="Calibri"/>
              </a:rPr>
              <a:t> (H5)</a:t>
            </a:r>
          </a:p>
          <a:p>
            <a:pPr>
              <a:spcBef>
                <a:spcPts val="400"/>
              </a:spcBef>
            </a:pPr>
            <a:r>
              <a:rPr sz="1500" b="1">
                <a:solidFill>
                  <a:srgbClr val="2C5018"/>
                </a:solidFill>
                <a:latin typeface="Courier New"/>
              </a:rPr>
              <a:t>7.  </a:t>
            </a:r>
            <a:r>
              <a:rPr sz="1600" b="1" i="0">
                <a:solidFill>
                  <a:srgbClr val="1B1A0E"/>
                </a:solidFill>
                <a:latin typeface="Calibri"/>
              </a:rPr>
              <a:t>i18n</a:t>
            </a:r>
            <a:r>
              <a:rPr sz="1600" b="0" i="0">
                <a:solidFill>
                  <a:srgbClr val="1B1A0E"/>
                </a:solidFill>
                <a:latin typeface="Calibri"/>
              </a:rPr>
              <a:t> EN/ES/CA · barcode scan · dark mode · PWA</a:t>
            </a:r>
          </a:p>
          <a:p>
            <a:pPr>
              <a:spcBef>
                <a:spcPts val="600"/>
              </a:spcBef>
            </a:pPr>
            <a:r>
              <a:rPr sz="1500" b="1" i="0">
                <a:solidFill>
                  <a:srgbClr val="1B1A0E"/>
                </a:solidFill>
                <a:latin typeface="Calibri"/>
              </a:rPr>
              <a:t>AI live, not mock-ups:</a:t>
            </a:r>
            <a:r>
              <a:rPr sz="1500" b="0" i="0">
                <a:solidFill>
                  <a:srgbClr val="1B1A0E"/>
                </a:solidFill>
                <a:latin typeface="Calibri"/>
              </a:rPr>
              <a:t> the SHAP explanation + scatter (step 3) and the KNN Alternative Engine (steps 5–6) run on the live scikit-learn + SHAP backend.</a:t>
            </a:r>
          </a:p>
          <a:p>
            <a:pPr>
              <a:spcBef>
                <a:spcPts val="600"/>
              </a:spcBef>
            </a:pPr>
            <a:r>
              <a:rPr sz="1500" b="1" i="0">
                <a:solidFill>
                  <a:srgbClr val="1B1A0E"/>
                </a:solidFill>
                <a:latin typeface="Calibri"/>
              </a:rPr>
              <a:t>Fallback:</a:t>
            </a:r>
            <a:r>
              <a:rPr sz="1500" b="0" i="0">
                <a:solidFill>
                  <a:srgbClr val="1B1A0E"/>
                </a:solidFill>
                <a:latin typeface="Calibri"/>
              </a:rPr>
              <a:t> if the live app fails, the next two slides are screenshot backups.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3EED8"/>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2C5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48640"/>
            <a:ext cx="10817352" cy="914400"/>
          </a:xfrm>
          <a:prstGeom prst="rect">
            <a:avLst/>
          </a:prstGeom>
          <a:noFill/>
        </p:spPr>
        <p:txBody>
          <a:bodyPr wrap="square">
            <a:spAutoFit/>
          </a:bodyPr>
          <a:lstStyle/>
          <a:p>
            <a:r>
              <a:rPr sz="3000" b="0" i="0">
                <a:solidFill>
                  <a:srgbClr val="1B1A0E"/>
                </a:solidFill>
                <a:latin typeface="Georgia"/>
              </a:rPr>
              <a:t>Demo backup A — dashboard &amp; dual-axis grid</a:t>
            </a:r>
          </a:p>
        </p:txBody>
      </p:sp>
      <p:pic>
        <p:nvPicPr>
          <p:cNvPr id="4" name="Picture 3" descr="dashboard_home.png"/>
          <p:cNvPicPr>
            <a:picLocks noChangeAspect="1"/>
          </p:cNvPicPr>
          <p:nvPr/>
        </p:nvPicPr>
        <p:blipFill>
          <a:blip r:embed="rId2"/>
          <a:stretch>
            <a:fillRect/>
          </a:stretch>
        </p:blipFill>
        <p:spPr>
          <a:xfrm>
            <a:off x="2200229" y="1554480"/>
            <a:ext cx="7788493" cy="5300502"/>
          </a:xfrm>
          <a:prstGeom prst="rect">
            <a:avLst/>
          </a:prstGeom>
        </p:spPr>
      </p:pic>
      <p:sp>
        <p:nvSpPr>
          <p:cNvPr id="5" name="TextBox 4"/>
          <p:cNvSpPr txBox="1"/>
          <p:nvPr/>
        </p:nvSpPr>
        <p:spPr>
          <a:xfrm>
            <a:off x="685800" y="6992142"/>
            <a:ext cx="10817352" cy="-682782"/>
          </a:xfrm>
          <a:prstGeom prst="rect">
            <a:avLst/>
          </a:prstGeom>
          <a:noFill/>
        </p:spPr>
        <p:txBody>
          <a:bodyPr wrap="square">
            <a:spAutoFit/>
          </a:bodyPr>
          <a:lstStyle/>
          <a:p>
            <a:pPr>
              <a:spcBef>
                <a:spcPts val="600"/>
              </a:spcBef>
            </a:pPr>
            <a:r>
              <a:rPr sz="1500" b="0" i="0">
                <a:solidFill>
                  <a:srgbClr val="1B1A0E"/>
                </a:solidFill>
                <a:latin typeface="Calibri"/>
              </a:rPr>
              <a:t>Results grid: every card shows both badges. Missing data renders as </a:t>
            </a:r>
            <a:r>
              <a:rPr sz="1500" b="1" i="0">
                <a:solidFill>
                  <a:srgbClr val="1B1A0E"/>
                </a:solidFill>
                <a:latin typeface="Calibri"/>
              </a:rPr>
              <a:t>?</a:t>
            </a:r>
            <a:r>
              <a:rPr sz="1500" b="0" i="0">
                <a:solidFill>
                  <a:srgbClr val="1B1A0E"/>
                </a:solidFill>
                <a:latin typeface="Calibri"/>
              </a:rPr>
              <a:t> or </a:t>
            </a:r>
            <a:r>
              <a:rPr sz="1500" b="1" i="0">
                <a:solidFill>
                  <a:srgbClr val="1B1A0E"/>
                </a:solidFill>
                <a:latin typeface="Calibri"/>
              </a:rPr>
              <a:t>—</a:t>
            </a:r>
            <a:r>
              <a:rPr sz="1500" b="0" i="0">
                <a:solidFill>
                  <a:srgbClr val="1B1A0E"/>
                </a:solidFill>
                <a:latin typeface="Calibri"/>
              </a:rPr>
              <a:t> with a caption — never suppressed (H1).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3EED8"/>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2C5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48640"/>
            <a:ext cx="10817352" cy="914400"/>
          </a:xfrm>
          <a:prstGeom prst="rect">
            <a:avLst/>
          </a:prstGeom>
          <a:noFill/>
        </p:spPr>
        <p:txBody>
          <a:bodyPr wrap="square">
            <a:spAutoFit/>
          </a:bodyPr>
          <a:lstStyle/>
          <a:p>
            <a:r>
              <a:rPr sz="3000" b="0" i="0">
                <a:solidFill>
                  <a:srgbClr val="1B1A0E"/>
                </a:solidFill>
                <a:latin typeface="Georgia"/>
              </a:rPr>
              <a:t>Demo backup B — comparison view</a:t>
            </a:r>
          </a:p>
        </p:txBody>
      </p:sp>
      <p:pic>
        <p:nvPicPr>
          <p:cNvPr id="4" name="Picture 3" descr="comparison_view.png"/>
          <p:cNvPicPr>
            <a:picLocks noChangeAspect="1"/>
          </p:cNvPicPr>
          <p:nvPr/>
        </p:nvPicPr>
        <p:blipFill>
          <a:blip r:embed="rId2"/>
          <a:stretch>
            <a:fillRect/>
          </a:stretch>
        </p:blipFill>
        <p:spPr>
          <a:xfrm>
            <a:off x="2308403" y="1554480"/>
            <a:ext cx="7572146" cy="7284596"/>
          </a:xfrm>
          <a:prstGeom prst="rect">
            <a:avLst/>
          </a:prstGeom>
        </p:spPr>
      </p:pic>
      <p:sp>
        <p:nvSpPr>
          <p:cNvPr id="5" name="TextBox 4"/>
          <p:cNvSpPr txBox="1"/>
          <p:nvPr/>
        </p:nvSpPr>
        <p:spPr>
          <a:xfrm>
            <a:off x="685800" y="8976236"/>
            <a:ext cx="10817352" cy="-2666876"/>
          </a:xfrm>
          <a:prstGeom prst="rect">
            <a:avLst/>
          </a:prstGeom>
          <a:noFill/>
        </p:spPr>
        <p:txBody>
          <a:bodyPr wrap="square">
            <a:spAutoFit/>
          </a:bodyPr>
          <a:lstStyle/>
          <a:p>
            <a:pPr>
              <a:spcBef>
                <a:spcPts val="600"/>
              </a:spcBef>
            </a:pPr>
            <a:r>
              <a:rPr sz="1500" b="0" i="0">
                <a:solidFill>
                  <a:srgbClr val="1B1A0E"/>
                </a:solidFill>
                <a:latin typeface="Calibri"/>
              </a:rPr>
              <a:t>Ranked summary + one-line contrastive justification per product + attribute table highlighting the winner per axis. Genuine </a:t>
            </a:r>
            <a:r>
              <a:rPr sz="1500" b="1" i="0">
                <a:solidFill>
                  <a:srgbClr val="1B1A0E"/>
                </a:solidFill>
                <a:latin typeface="Calibri"/>
              </a:rPr>
              <a:t>0 g</a:t>
            </a:r>
            <a:r>
              <a:rPr sz="1500" b="0" i="0">
                <a:solidFill>
                  <a:srgbClr val="1B1A0E"/>
                </a:solidFill>
                <a:latin typeface="Calibri"/>
              </a:rPr>
              <a:t> renders as "0", not "no data".</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2C5018"/>
        </a:solidFill>
        <a:effectLst/>
      </p:bgPr>
    </p:bg>
    <p:spTree>
      <p:nvGrpSpPr>
        <p:cNvPr id="1" name=""/>
        <p:cNvGrpSpPr/>
        <p:nvPr/>
      </p:nvGrpSpPr>
      <p:grpSpPr/>
      <p:sp>
        <p:nvSpPr>
          <p:cNvPr id="2" name="TextBox 1"/>
          <p:cNvSpPr txBox="1"/>
          <p:nvPr/>
        </p:nvSpPr>
        <p:spPr>
          <a:xfrm>
            <a:off x="8988552" y="3657600"/>
            <a:ext cx="2743200" cy="2743200"/>
          </a:xfrm>
          <a:prstGeom prst="rect">
            <a:avLst/>
          </a:prstGeom>
          <a:noFill/>
        </p:spPr>
        <p:txBody>
          <a:bodyPr wrap="square">
            <a:spAutoFit/>
          </a:bodyPr>
          <a:lstStyle/>
          <a:p>
            <a:pPr algn="r"/>
            <a:r>
              <a:rPr sz="18000" b="0" i="0">
                <a:solidFill>
                  <a:srgbClr val="4A7A2A"/>
                </a:solidFill>
                <a:latin typeface="Georgia"/>
              </a:rPr>
              <a:t>6</a:t>
            </a:r>
          </a:p>
        </p:txBody>
      </p:sp>
      <p:sp>
        <p:nvSpPr>
          <p:cNvPr id="3" name="TextBox 2"/>
          <p:cNvSpPr txBox="1"/>
          <p:nvPr/>
        </p:nvSpPr>
        <p:spPr>
          <a:xfrm>
            <a:off x="685800" y="822960"/>
            <a:ext cx="10817352" cy="365760"/>
          </a:xfrm>
          <a:prstGeom prst="rect">
            <a:avLst/>
          </a:prstGeom>
          <a:noFill/>
        </p:spPr>
        <p:txBody>
          <a:bodyPr wrap="square">
            <a:spAutoFit/>
          </a:bodyPr>
          <a:lstStyle/>
          <a:p>
            <a:pPr algn="l"/>
            <a:r>
              <a:rPr sz="1100" b="0" i="0">
                <a:solidFill>
                  <a:srgbClr val="AACC88"/>
                </a:solidFill>
                <a:latin typeface="Courier New"/>
              </a:rPr>
              <a:t>Section 6</a:t>
            </a:r>
          </a:p>
        </p:txBody>
      </p:sp>
      <p:sp>
        <p:nvSpPr>
          <p:cNvPr id="4" name="TextBox 3"/>
          <p:cNvSpPr txBox="1"/>
          <p:nvPr/>
        </p:nvSpPr>
        <p:spPr>
          <a:xfrm>
            <a:off x="685800" y="1371600"/>
            <a:ext cx="8229600" cy="2743200"/>
          </a:xfrm>
          <a:prstGeom prst="rect">
            <a:avLst/>
          </a:prstGeom>
          <a:noFill/>
        </p:spPr>
        <p:txBody>
          <a:bodyPr wrap="square">
            <a:spAutoFit/>
          </a:bodyPr>
          <a:lstStyle/>
          <a:p>
            <a:r>
              <a:rPr sz="4800" b="0">
                <a:solidFill>
                  <a:srgbClr val="FAF8F0"/>
                </a:solidFill>
                <a:latin typeface="Georgia"/>
              </a:rPr>
              <a:t>Lessons learned
</a:t>
            </a:r>
            <a:r>
              <a:rPr sz="4800" i="1">
                <a:solidFill>
                  <a:srgbClr val="CCEEAA"/>
                </a:solidFill>
                <a:latin typeface="Georgia"/>
              </a:rPr>
              <a:t>&amp; future improvements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3EED8"/>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2C5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48640"/>
            <a:ext cx="10817352" cy="914400"/>
          </a:xfrm>
          <a:prstGeom prst="rect">
            <a:avLst/>
          </a:prstGeom>
          <a:noFill/>
        </p:spPr>
        <p:txBody>
          <a:bodyPr wrap="square">
            <a:spAutoFit/>
          </a:bodyPr>
          <a:lstStyle/>
          <a:p>
            <a:r>
              <a:rPr sz="3000" b="0" i="0">
                <a:solidFill>
                  <a:srgbClr val="1B1A0E"/>
                </a:solidFill>
                <a:latin typeface="Georgia"/>
              </a:rPr>
              <a:t>Lessons learned</a:t>
            </a:r>
          </a:p>
        </p:txBody>
      </p:sp>
      <p:sp>
        <p:nvSpPr>
          <p:cNvPr id="4" name="TextBox 3"/>
          <p:cNvSpPr txBox="1"/>
          <p:nvPr/>
        </p:nvSpPr>
        <p:spPr>
          <a:xfrm>
            <a:off x="685800" y="1554480"/>
            <a:ext cx="10817352" cy="4754880"/>
          </a:xfrm>
          <a:prstGeom prst="rect">
            <a:avLst/>
          </a:prstGeom>
          <a:noFill/>
        </p:spPr>
        <p:txBody>
          <a:bodyPr wrap="square">
            <a:spAutoFit/>
          </a:bodyPr>
          <a:lstStyle/>
          <a:p>
            <a:pPr>
              <a:spcBef>
                <a:spcPts val="500"/>
              </a:spcBef>
            </a:pPr>
            <a:r>
              <a:rPr sz="1800" b="1">
                <a:solidFill>
                  <a:srgbClr val="2C5018"/>
                </a:solidFill>
                <a:latin typeface="Calibri"/>
              </a:rPr>
              <a:t>·  </a:t>
            </a:r>
            <a:r>
              <a:rPr sz="1600" b="1" i="0">
                <a:solidFill>
                  <a:srgbClr val="1B1A0E"/>
                </a:solidFill>
                <a:latin typeface="Calibri"/>
              </a:rPr>
              <a:t>Research pays for itself.</a:t>
            </a:r>
            <a:r>
              <a:rPr sz="1600" b="0" i="0">
                <a:solidFill>
                  <a:srgbClr val="1B1A0E"/>
                </a:solidFill>
                <a:latin typeface="Calibri"/>
              </a:rPr>
              <a:t> Five Key Insights gave us a non-negotiable spec — we never argued about features from taste.</a:t>
            </a:r>
          </a:p>
          <a:p>
            <a:pPr>
              <a:spcBef>
                <a:spcPts val="500"/>
              </a:spcBef>
            </a:pPr>
            <a:r>
              <a:rPr sz="1800" b="1">
                <a:solidFill>
                  <a:srgbClr val="2C5018"/>
                </a:solidFill>
                <a:latin typeface="Calibri"/>
              </a:rPr>
              <a:t>·  </a:t>
            </a:r>
            <a:r>
              <a:rPr sz="1600" b="1" i="0">
                <a:solidFill>
                  <a:srgbClr val="1B1A0E"/>
                </a:solidFill>
                <a:latin typeface="Calibri"/>
              </a:rPr>
              <a:t>Honesty is a feature.</a:t>
            </a:r>
            <a:r>
              <a:rPr sz="1600" b="0" i="0">
                <a:solidFill>
                  <a:srgbClr val="1B1A0E"/>
                </a:solidFill>
                <a:latin typeface="Calibri"/>
              </a:rPr>
              <a:t> Disclosing dead filters and pending data is more credible than a polished fiction. Missing is not zero is a discipline, not a detail.</a:t>
            </a:r>
          </a:p>
          <a:p>
            <a:pPr>
              <a:spcBef>
                <a:spcPts val="500"/>
              </a:spcBef>
            </a:pPr>
            <a:r>
              <a:rPr sz="1800" b="1">
                <a:solidFill>
                  <a:srgbClr val="2C5018"/>
                </a:solidFill>
                <a:latin typeface="Calibri"/>
              </a:rPr>
              <a:t>·  </a:t>
            </a:r>
            <a:r>
              <a:rPr sz="1600" b="1" i="0">
                <a:solidFill>
                  <a:srgbClr val="1B1A0E"/>
                </a:solidFill>
                <a:latin typeface="Calibri"/>
              </a:rPr>
              <a:t>Constraints enabled the work.</a:t>
            </a:r>
            <a:r>
              <a:rPr sz="1600" b="0" i="0">
                <a:solidFill>
                  <a:srgbClr val="1B1A0E"/>
                </a:solidFill>
                <a:latin typeface="Calibri"/>
              </a:rPr>
              <a:t> No build step, no framework — a vanilla app runs with a double-click, and graceful degradation kept it alive when the API didn't cooperate.</a:t>
            </a:r>
          </a:p>
          <a:p>
            <a:pPr>
              <a:spcBef>
                <a:spcPts val="500"/>
              </a:spcBef>
            </a:pPr>
            <a:r>
              <a:rPr sz="1800" b="1">
                <a:solidFill>
                  <a:srgbClr val="2C5018"/>
                </a:solidFill>
                <a:latin typeface="Calibri"/>
              </a:rPr>
              <a:t>·  </a:t>
            </a:r>
            <a:r>
              <a:rPr sz="1600" b="1" i="0">
                <a:solidFill>
                  <a:srgbClr val="1B1A0E"/>
                </a:solidFill>
                <a:latin typeface="Calibri"/>
              </a:rPr>
              <a:t>XAI is an interaction problem, not a model problem.</a:t>
            </a:r>
            <a:r>
              <a:rPr sz="1600" b="0" i="0">
                <a:solidFill>
                  <a:srgbClr val="1B1A0E"/>
                </a:solidFill>
                <a:latin typeface="Calibri"/>
              </a:rPr>
              <a:t> The hard part was compressing SHAP into one trustworthy sentence, not training the forest.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3EED8"/>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2C5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48640"/>
            <a:ext cx="10817352" cy="457200"/>
          </a:xfrm>
          <a:prstGeom prst="rect">
            <a:avLst/>
          </a:prstGeom>
          <a:noFill/>
        </p:spPr>
        <p:txBody>
          <a:bodyPr wrap="square">
            <a:spAutoFit/>
          </a:bodyPr>
          <a:lstStyle/>
          <a:p>
            <a:pPr algn="l"/>
            <a:r>
              <a:rPr sz="1100" b="0" i="0">
                <a:solidFill>
                  <a:srgbClr val="6B6550"/>
                </a:solidFill>
                <a:latin typeface="Courier New"/>
              </a:rPr>
              <a:t>Next Steps</a:t>
            </a:r>
          </a:p>
        </p:txBody>
      </p:sp>
      <p:sp>
        <p:nvSpPr>
          <p:cNvPr id="4" name="TextBox 3"/>
          <p:cNvSpPr txBox="1"/>
          <p:nvPr/>
        </p:nvSpPr>
        <p:spPr>
          <a:xfrm>
            <a:off x="685800" y="914400"/>
            <a:ext cx="7315200" cy="914400"/>
          </a:xfrm>
          <a:prstGeom prst="rect">
            <a:avLst/>
          </a:prstGeom>
          <a:noFill/>
        </p:spPr>
        <p:txBody>
          <a:bodyPr wrap="square">
            <a:spAutoFit/>
          </a:bodyPr>
          <a:lstStyle/>
          <a:p>
            <a:pPr algn="l"/>
            <a:r>
              <a:rPr sz="3000" b="0" i="0">
                <a:solidFill>
                  <a:srgbClr val="1B1A0E"/>
                </a:solidFill>
                <a:latin typeface="Georgia"/>
              </a:rPr>
              <a:t>Future work &amp; close</a:t>
            </a:r>
          </a:p>
        </p:txBody>
      </p:sp>
      <p:sp>
        <p:nvSpPr>
          <p:cNvPr id="5" name="TextBox 4"/>
          <p:cNvSpPr txBox="1"/>
          <p:nvPr/>
        </p:nvSpPr>
        <p:spPr>
          <a:xfrm>
            <a:off x="685800" y="1920240"/>
            <a:ext cx="10817352" cy="2286000"/>
          </a:xfrm>
          <a:prstGeom prst="rect">
            <a:avLst/>
          </a:prstGeom>
          <a:noFill/>
        </p:spPr>
        <p:txBody>
          <a:bodyPr wrap="square">
            <a:spAutoFit/>
          </a:bodyPr>
          <a:lstStyle/>
          <a:p>
            <a:pPr>
              <a:spcBef>
                <a:spcPts val="500"/>
              </a:spcBef>
            </a:pPr>
            <a:r>
              <a:rPr sz="1600" b="1">
                <a:solidFill>
                  <a:srgbClr val="2C5018"/>
                </a:solidFill>
                <a:latin typeface="Calibri"/>
              </a:rPr>
              <a:t>·  </a:t>
            </a:r>
            <a:r>
              <a:rPr sz="1500" b="1" i="0">
                <a:solidFill>
                  <a:srgbClr val="1B1A0E"/>
                </a:solidFill>
                <a:latin typeface="Calibri"/>
              </a:rPr>
              <a:t>Run the study</a:t>
            </a:r>
            <a:r>
              <a:rPr sz="1500" b="0" i="0">
                <a:solidFill>
                  <a:srgbClr val="1B1A0E"/>
                </a:solidFill>
                <a:latin typeface="Calibri"/>
              </a:rPr>
              <a:t> and populate the SUS / XEQ tables with real figures</a:t>
            </a:r>
          </a:p>
          <a:p>
            <a:pPr>
              <a:spcBef>
                <a:spcPts val="500"/>
              </a:spcBef>
            </a:pPr>
            <a:r>
              <a:rPr sz="1600" b="1">
                <a:solidFill>
                  <a:srgbClr val="2C5018"/>
                </a:solidFill>
                <a:latin typeface="Calibri"/>
              </a:rPr>
              <a:t>·  </a:t>
            </a:r>
            <a:r>
              <a:rPr sz="1500" b="1" i="0">
                <a:solidFill>
                  <a:srgbClr val="1B1A0E"/>
                </a:solidFill>
                <a:latin typeface="Calibri"/>
              </a:rPr>
              <a:t>SHAP over DuckDB</a:t>
            </a:r>
            <a:r>
              <a:rPr sz="1500" b="0" i="0">
                <a:solidFill>
                  <a:srgbClr val="1B1A0E"/>
                </a:solidFill>
                <a:latin typeface="Calibri"/>
              </a:rPr>
              <a:t> in the backend; scale the index from ~862 toward the full OFF catalogue</a:t>
            </a:r>
          </a:p>
          <a:p>
            <a:pPr>
              <a:spcBef>
                <a:spcPts val="500"/>
              </a:spcBef>
            </a:pPr>
            <a:r>
              <a:rPr sz="1600" b="1">
                <a:solidFill>
                  <a:srgbClr val="2C5018"/>
                </a:solidFill>
                <a:latin typeface="Calibri"/>
              </a:rPr>
              <a:t>·  </a:t>
            </a:r>
            <a:r>
              <a:rPr sz="1500" b="1" i="0">
                <a:solidFill>
                  <a:srgbClr val="1B1A0E"/>
                </a:solidFill>
                <a:latin typeface="Calibri"/>
              </a:rPr>
              <a:t>Price as a first-class axis</a:t>
            </a:r>
            <a:r>
              <a:rPr sz="1500" b="0" i="0">
                <a:solidFill>
                  <a:srgbClr val="1B1A0E"/>
                </a:solidFill>
                <a:latin typeface="Calibri"/>
              </a:rPr>
              <a:t> behind Advanced (H4) — for Aina</a:t>
            </a:r>
          </a:p>
          <a:p>
            <a:pPr>
              <a:spcBef>
                <a:spcPts val="500"/>
              </a:spcBef>
            </a:pPr>
            <a:r>
              <a:rPr sz="1600" b="1">
                <a:solidFill>
                  <a:srgbClr val="2C5018"/>
                </a:solidFill>
                <a:latin typeface="Calibri"/>
              </a:rPr>
              <a:t>·  </a:t>
            </a:r>
            <a:r>
              <a:rPr sz="1500" b="1" i="0">
                <a:solidFill>
                  <a:srgbClr val="1B1A0E"/>
                </a:solidFill>
                <a:latin typeface="Calibri"/>
              </a:rPr>
              <a:t>Playwright</a:t>
            </a:r>
            <a:r>
              <a:rPr sz="1500" b="0" i="0">
                <a:solidFill>
                  <a:srgbClr val="1B1A0E"/>
                </a:solidFill>
                <a:latin typeface="Calibri"/>
              </a:rPr>
              <a:t> regression suite; longitudinal in-the-wild study vs. a Yuka baseline</a:t>
            </a:r>
          </a:p>
        </p:txBody>
      </p:sp>
      <p:sp>
        <p:nvSpPr>
          <p:cNvPr id="6" name="Rectangle 5"/>
          <p:cNvSpPr/>
          <p:nvPr/>
        </p:nvSpPr>
        <p:spPr>
          <a:xfrm>
            <a:off x="685800" y="4663440"/>
            <a:ext cx="10817352" cy="18288"/>
          </a:xfrm>
          <a:prstGeom prst="rect">
            <a:avLst/>
          </a:prstGeom>
          <a:solidFill>
            <a:srgbClr val="C8C2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4754880"/>
            <a:ext cx="7315200" cy="822960"/>
          </a:xfrm>
          <a:prstGeom prst="rect">
            <a:avLst/>
          </a:prstGeom>
          <a:noFill/>
        </p:spPr>
        <p:txBody>
          <a:bodyPr wrap="none">
            <a:spAutoFit/>
          </a:bodyPr>
          <a:lstStyle/>
          <a:p>
            <a:r>
              <a:rPr sz="3600">
                <a:solidFill>
                  <a:srgbClr val="1B1A0E"/>
                </a:solidFill>
                <a:latin typeface="Georgia"/>
              </a:rPr>
              <a:t>Food</a:t>
            </a:r>
            <a:r>
              <a:rPr sz="3600" i="1">
                <a:solidFill>
                  <a:srgbClr val="2C5018"/>
                </a:solidFill>
                <a:latin typeface="Georgia"/>
              </a:rPr>
              <a:t>Lens</a:t>
            </a:r>
          </a:p>
        </p:txBody>
      </p:sp>
      <p:sp>
        <p:nvSpPr>
          <p:cNvPr id="8" name="TextBox 7"/>
          <p:cNvSpPr txBox="1"/>
          <p:nvPr/>
        </p:nvSpPr>
        <p:spPr>
          <a:xfrm>
            <a:off x="685800" y="5486400"/>
            <a:ext cx="6400800" cy="365760"/>
          </a:xfrm>
          <a:prstGeom prst="rect">
            <a:avLst/>
          </a:prstGeom>
          <a:noFill/>
        </p:spPr>
        <p:txBody>
          <a:bodyPr wrap="square">
            <a:spAutoFit/>
          </a:bodyPr>
          <a:lstStyle/>
          <a:p>
            <a:pPr algn="l"/>
            <a:r>
              <a:rPr sz="1000" b="0" i="0">
                <a:solidFill>
                  <a:srgbClr val="6B6550"/>
                </a:solidFill>
                <a:latin typeface="Courier New"/>
              </a:rPr>
              <a:t>Dual-axis · Contrastive · Honest   —   github.com/AlejandroB10/foodlens</a:t>
            </a:r>
          </a:p>
        </p:txBody>
      </p:sp>
      <p:sp>
        <p:nvSpPr>
          <p:cNvPr id="9" name="TextBox 8"/>
          <p:cNvSpPr txBox="1"/>
          <p:nvPr/>
        </p:nvSpPr>
        <p:spPr>
          <a:xfrm>
            <a:off x="685800" y="5806440"/>
            <a:ext cx="6400800" cy="457200"/>
          </a:xfrm>
          <a:prstGeom prst="rect">
            <a:avLst/>
          </a:prstGeom>
          <a:noFill/>
        </p:spPr>
        <p:txBody>
          <a:bodyPr wrap="square">
            <a:spAutoFit/>
          </a:bodyPr>
          <a:lstStyle/>
          <a:p>
            <a:pPr algn="l"/>
            <a:r>
              <a:rPr sz="2400" b="0" i="0">
                <a:solidFill>
                  <a:srgbClr val="1B1A0E"/>
                </a:solidFill>
                <a:latin typeface="Georgia"/>
              </a:rPr>
              <a:t>Thank you —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