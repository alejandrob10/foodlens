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88825"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lang="es-ES" sz="4400" b="0" u="none" strike="noStrike">
                <a:solidFill>
                  <a:srgbClr val="000000"/>
                </a:solidFill>
                <a:effectLst/>
                <a:uFillTx/>
                <a:latin typeface="Arial"/>
              </a:rPr>
              <a:t>Pulse para desplazar la diapositiva</a:t>
            </a:r>
            <a:endParaRPr lang="es-ES" sz="4400" b="0" u="none" strike="noStrike">
              <a:solidFill>
                <a:srgbClr val="000000"/>
              </a:solidFill>
              <a:effectLst/>
              <a:uFillTx/>
              <a:latin typeface="Arial"/>
            </a:endParaRPr>
          </a:p>
        </p:txBody>
      </p:sp>
      <p:sp>
        <p:nvSpPr>
          <p:cNvPr id="6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6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66"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67"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8"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CF762F14-5E25-4797-B5A6-A9E9A5825F31}"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1143000" y="685800"/>
            <a:ext cx="4571280" cy="3428280"/>
          </a:xfrm>
          <a:prstGeom prst="rect">
            <a:avLst/>
          </a:prstGeom>
          <a:ln w="0">
            <a:noFill/>
          </a:ln>
        </p:spPr>
      </p:sp>
      <p:sp>
        <p:nvSpPr>
          <p:cNvPr id="19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Good morning. We are team FoodLens, and this is the final deliverable for the HCI course. The one-line version: most food apps give you a single score and ask you to trust it. We give you two axes — how healthy a product is, and how heavy its environmental footprint is — we never hide the tension between them, and we explain every recommendation with a single sentence anchored on a real number from Open Food Facts. Over the next twenty-five minutes the four of us will walk you through how we got here, the AI behind it, our evaluation plan, the hard problems we hit, a live demo of the working platform, and what we learned. Let me start with the design process.</a:t>
            </a:r>
            <a:endParaRPr lang="es-ES" sz="2000" b="0" u="none" strike="noStrike">
              <a:solidFill>
                <a:srgbClr val="000000"/>
              </a:solidFill>
              <a:effectLst/>
              <a:uFillTx/>
              <a:latin typeface="Arial"/>
            </a:endParaRPr>
          </a:p>
        </p:txBody>
      </p:sp>
      <p:sp>
        <p:nvSpPr>
          <p:cNvPr id="195" name="PlaceHolder 3"/>
          <p:cNvSpPr>
            <a:spLocks noGrp="1"/>
          </p:cNvSpPr>
          <p:nvPr>
            <p:ph type="sldNum" idx="3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75785FE-0C62-44B0-844A-25A14FD8C31D}"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1143000" y="685800"/>
            <a:ext cx="4571280" cy="3428280"/>
          </a:xfrm>
          <a:prstGeom prst="rect">
            <a:avLst/>
          </a:prstGeom>
          <a:ln w="0">
            <a:noFill/>
          </a:ln>
        </p:spPr>
      </p:sp>
      <p:sp>
        <p:nvSpPr>
          <p:cNvPr id="19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Here is the map. Six points, all mandated by the rubric. I take the design process and, at the end, the lessons and future work. Sufi covers the explainable-AI methods and why we chose them. Alejandro Rodríguez presents our user-testing protocol and later drives the live demo. Pau covers the technical and design challenges. We deliberately put the live demonstration near the end, right before the conclusions, so by the time you see it working you already know what every part means. Let's begin with the design process.</a:t>
            </a:r>
            <a:endParaRPr lang="es-ES" sz="2000" b="0" u="none" strike="noStrike">
              <a:solidFill>
                <a:srgbClr val="000000"/>
              </a:solidFill>
              <a:effectLst/>
              <a:uFillTx/>
              <a:latin typeface="Arial"/>
            </a:endParaRPr>
          </a:p>
        </p:txBody>
      </p:sp>
      <p:sp>
        <p:nvSpPr>
          <p:cNvPr id="198" name="PlaceHolder 3"/>
          <p:cNvSpPr>
            <a:spLocks noGrp="1"/>
          </p:cNvSpPr>
          <p:nvPr>
            <p:ph type="sldNum" idx="3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C2A36F7-2675-41A1-97B4-7ED36FF77DC3}"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1143000" y="685800"/>
            <a:ext cx="4571280" cy="3428280"/>
          </a:xfrm>
          <a:prstGeom prst="rect">
            <a:avLst/>
          </a:prstGeom>
          <a:ln w="0">
            <a:noFill/>
          </a:ln>
        </p:spPr>
      </p:sp>
      <p:sp>
        <p:nvSpPr>
          <p:cNvPr id="20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We did not start by coding. We started by listening. Six semi-structured interviews with people who actually do the weekly shop, ranging from a twenty-year-old who barely cooks to a forty-one-year-old managing a near-vegetarian diet. We deliberately kept the contextual questions away from any AI talk so we would not lead them. Then we ran a thematic analysis — forty-seven initial codes collapsing into five Key Insights. The core problem we surfaced is an asymmetry: Nutri-Score is on the front of the pack, the Eco-Score basically never is, and nobody shows you when the two disagree. That asymmetry is the whole reason FoodLens exists.</a:t>
            </a:r>
            <a:endParaRPr lang="es-ES" sz="2000" b="0" u="none" strike="noStrike">
              <a:solidFill>
                <a:srgbClr val="000000"/>
              </a:solidFill>
              <a:effectLst/>
              <a:uFillTx/>
              <a:latin typeface="Arial"/>
            </a:endParaRPr>
          </a:p>
        </p:txBody>
      </p:sp>
      <p:sp>
        <p:nvSpPr>
          <p:cNvPr id="201" name="PlaceHolder 3"/>
          <p:cNvSpPr>
            <a:spLocks noGrp="1"/>
          </p:cNvSpPr>
          <p:nvPr>
            <p:ph type="sldNum" idx="3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FCAE72F-1C1D-4874-A09E-D222802312B1}"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1143000" y="685800"/>
            <a:ext cx="4571280" cy="3428280"/>
          </a:xfrm>
          <a:prstGeom prst="rect">
            <a:avLst/>
          </a:prstGeom>
          <a:ln w="0">
            <a:noFill/>
          </a:ln>
        </p:spPr>
      </p:sp>
      <p:sp>
        <p:nvSpPr>
          <p:cNvPr id="20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These five insights are our north star. KI-1: people don't reject algorithms on principle, they reject ones whose reasoning is hidden — so we must always show the why. KI-2: the gap between what people want and what they buy is situational, driven by time and budget, so we never lecture. KI-3: single labels create false confidence — participants gave us real examples, a soda beating juice on Nutri-Score, almonds looking healthy while being ecologically expensive. KI-4: people reached for contrastive language on their own — a delta is processed faster than an absolute grade. And KI-5: everyone wanted to tune health-versus-eco, but their appetite for setup ranged from one button to a full slider panel.</a:t>
            </a:r>
            <a:endParaRPr lang="es-ES" sz="2000" b="0" u="none" strike="noStrike">
              <a:solidFill>
                <a:srgbClr val="000000"/>
              </a:solidFill>
              <a:effectLst/>
              <a:uFillTx/>
              <a:latin typeface="Arial"/>
            </a:endParaRPr>
          </a:p>
        </p:txBody>
      </p:sp>
      <p:sp>
        <p:nvSpPr>
          <p:cNvPr id="204" name="PlaceHolder 3"/>
          <p:cNvSpPr>
            <a:spLocks noGrp="1"/>
          </p:cNvSpPr>
          <p:nvPr>
            <p:ph type="sldNum" idx="4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295744C-FC87-4C51-83C0-835BFADD8F33}"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1143000" y="685800"/>
            <a:ext cx="4571280" cy="3428280"/>
          </a:xfrm>
          <a:prstGeom prst="rect">
            <a:avLst/>
          </a:prstGeom>
          <a:ln w="0">
            <a:noFill/>
          </a:ln>
        </p:spPr>
      </p:sp>
      <p:sp>
        <p:nvSpPr>
          <p:cNvPr id="20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We translated those insights into seven concrete, testable Design Hooks — hard constraints on the interface. H1: both axes always visible, and even when Open Food Facts has no eco grade, the badge still renders with a "no data" caption instead of disappearing. H2: the explanation is not on a separate screen, it's open by default on the card. H3: one sentence, one number — charts are a drill-down, never the front door. H4: the slider is health-versus-eco, price hidden behind Advanced. H5: comparison takes N products in and returns a ranked list. H6: onboarding asks the minimum. H7: every card ends in an action. These hooks are what we test the build against.</a:t>
            </a:r>
            <a:endParaRPr lang="es-ES" sz="2000" b="0" u="none" strike="noStrike">
              <a:solidFill>
                <a:srgbClr val="000000"/>
              </a:solidFill>
              <a:effectLst/>
              <a:uFillTx/>
              <a:latin typeface="Arial"/>
            </a:endParaRPr>
          </a:p>
        </p:txBody>
      </p:sp>
      <p:sp>
        <p:nvSpPr>
          <p:cNvPr id="207" name="PlaceHolder 3"/>
          <p:cNvSpPr>
            <a:spLocks noGrp="1"/>
          </p:cNvSpPr>
          <p:nvPr>
            <p:ph type="sldNum" idx="4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606D971-66E3-4F93-8D11-86DED708CC99}"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1143000" y="685800"/>
            <a:ext cx="4571280" cy="3428280"/>
          </a:xfrm>
          <a:prstGeom prst="rect">
            <a:avLst/>
          </a:prstGeom>
          <a:ln w="0">
            <a:noFill/>
          </a:ln>
        </p:spPr>
      </p:sp>
      <p:sp>
        <p:nvSpPr>
          <p:cNvPr id="20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We synthesised the interviews into four personas, each carrying a constraint. Marc shops on autopilot — he proves the system has to work with zero configuration. Pau Estarellas distrusts any score he can't check — he's why the drill-down exists. Lluís despises greenwashing and moralising — he demands an opt-in, on-demand tool. And Aina is so time- and budget-pressed that any app lecturing her loses instantly — she's our hard boundary against judgmental copy. When two personas pull in opposite directions, we surface the trade-off rather than quietly picking a side. With that foundation set, I'll hand over to Sufi for the AI layer.</a:t>
            </a:r>
            <a:endParaRPr lang="es-ES" sz="2000" b="0" u="none" strike="noStrike">
              <a:solidFill>
                <a:srgbClr val="000000"/>
              </a:solidFill>
              <a:effectLst/>
              <a:uFillTx/>
              <a:latin typeface="Arial"/>
            </a:endParaRPr>
          </a:p>
        </p:txBody>
      </p:sp>
      <p:sp>
        <p:nvSpPr>
          <p:cNvPr id="210" name="PlaceHolder 3"/>
          <p:cNvSpPr>
            <a:spLocks noGrp="1"/>
          </p:cNvSpPr>
          <p:nvPr>
            <p:ph type="sldNum" idx="4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3801823B-6177-448A-9D29-ED46D54576FA}"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1143000" y="685800"/>
            <a:ext cx="4571280" cy="3428280"/>
          </a:xfrm>
          <a:prstGeom prst="rect">
            <a:avLst/>
          </a:prstGeom>
          <a:ln w="0">
            <a:noFill/>
          </a:ln>
        </p:spPr>
      </p:sp>
      <p:sp>
        <p:nvSpPr>
          <p:cNvPr id="21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**Soufyane Youbi:** Thanks Alejandro. Our XAI choices are not arbitrary — they come straight out of the social-science account of explanation. Tim Miller's key finding is that good explanations are contrastive, they're selective, and they're grounded in what the person already understands. A raw model score fails all three. So we mapped each of our techniques to one of those properties. Contrastive: we answer "why this product, not the one you usually buy". Selective: we surface one number, not the full feature vector — that's our H3 discipline. Grounded and auditable: we use an interpretable model and we give the sceptic a way to check the math. The literature handed us the rubric; we engineered the app to pass it.</a:t>
            </a:r>
            <a:endParaRPr lang="es-ES" sz="2000" b="0" u="none" strike="noStrike">
              <a:solidFill>
                <a:srgbClr val="000000"/>
              </a:solidFill>
              <a:effectLst/>
              <a:uFillTx/>
              <a:latin typeface="Arial"/>
            </a:endParaRPr>
          </a:p>
        </p:txBody>
      </p:sp>
      <p:sp>
        <p:nvSpPr>
          <p:cNvPr id="213" name="PlaceHolder 3"/>
          <p:cNvSpPr>
            <a:spLocks noGrp="1"/>
          </p:cNvSpPr>
          <p:nvPr>
            <p:ph type="sldNum" idx="4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90A4D74-6D54-49AC-9A0C-8341BFA6D180}"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1143000" y="685800"/>
            <a:ext cx="4571280" cy="3428280"/>
          </a:xfrm>
          <a:prstGeom prst="rect">
            <a:avLst/>
          </a:prstGeom>
          <a:ln w="0">
            <a:noFill/>
          </a:ln>
        </p:spPr>
      </p:sp>
      <p:sp>
        <p:nvSpPr>
          <p:cNvPr id="21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**Soufyane Youbi:** First, the model. We deliberately do not recompute the Nutri-Score ourselves — the official algorithm has category nuances and we read the certified `nutriscore_grade` straight from the API. But for the explanation pipeline we trained a Random Forest on a real Open Food Facts dump, reaching about eighty percent five-fold cross-validation accuracy. Why a forest and not a neural net? Because feature importances come for free and they're readable — each of the seven per-hundred-gram nutrients carries an interpretable weight. I want to be honest about scope: this is a pipeline-verification model. It proves the explanation path works end-to-end; it is not pretending to replace the official grade.</a:t>
            </a:r>
            <a:endParaRPr lang="es-ES" sz="2000" b="0" u="none" strike="noStrike">
              <a:solidFill>
                <a:srgbClr val="000000"/>
              </a:solidFill>
              <a:effectLst/>
              <a:uFillTx/>
              <a:latin typeface="Arial"/>
            </a:endParaRPr>
          </a:p>
        </p:txBody>
      </p:sp>
      <p:sp>
        <p:nvSpPr>
          <p:cNvPr id="216" name="PlaceHolder 3"/>
          <p:cNvSpPr>
            <a:spLocks noGrp="1"/>
          </p:cNvSpPr>
          <p:nvPr>
            <p:ph type="sldNum" idx="4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4873B9F-BDC8-4E08-A13B-C041592DCDFA}"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1143000" y="685800"/>
            <a:ext cx="4571280" cy="3428280"/>
          </a:xfrm>
          <a:prstGeom prst="rect">
            <a:avLst/>
          </a:prstGeom>
          <a:ln w="0">
            <a:noFill/>
          </a:ln>
        </p:spPr>
      </p:sp>
      <p:sp>
        <p:nvSpPr>
          <p:cNvPr id="21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**Soufyane Youbi:** This is where Miller meets the screen. SHAP gives us local feature attribution — for this specific product, how much did sugar push the grade down, how much did fibre push it up. That's a vector. But a vector violates the selective principle and overloads the shopper. So we collapse it into a single contrastive sentence with exactly one number — that's Design Hook H3 in action. The full SHAP breakdown isn't thrown away; it's parked behind an "Advanced explanation" toggle, which is the waterfall you see here. Selective by default for Marc, complete on demand for anyone who wants the detail.</a:t>
            </a:r>
            <a:endParaRPr lang="es-ES" sz="2000" b="0" u="none" strike="noStrike">
              <a:solidFill>
                <a:srgbClr val="000000"/>
              </a:solidFill>
              <a:effectLst/>
              <a:uFillTx/>
              <a:latin typeface="Arial"/>
            </a:endParaRPr>
          </a:p>
        </p:txBody>
      </p:sp>
      <p:sp>
        <p:nvSpPr>
          <p:cNvPr id="219" name="PlaceHolder 3"/>
          <p:cNvSpPr>
            <a:spLocks noGrp="1"/>
          </p:cNvSpPr>
          <p:nvPr>
            <p:ph type="sldNum" idx="4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8B741ED-31B1-46AD-82AB-15CF1A6CEC90}"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1143000" y="685800"/>
            <a:ext cx="4571280" cy="3428280"/>
          </a:xfrm>
          <a:prstGeom prst="rect">
            <a:avLst/>
          </a:prstGeom>
          <a:ln w="0">
            <a:noFill/>
          </a:ln>
        </p:spPr>
      </p:sp>
      <p:sp>
        <p:nvSpPr>
          <p:cNvPr id="22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**Soufyane Youbi:** One sentence is enough for the time-poor pragmatist. It is not enough for the sceptical analyst. Pau Estarellas told us in discovery that he won't trust a grade he can't check. So the drill-down is this scatter plot, served from our scatter endpoint, that places the product on the health-versus-eco plane against the rest of its category — he can see with his own eyes whether the recommendation is defensible. Crucially it's opt-in: it only appears when he asks, which also satisfies Lluís, who wanted graphs over guilt. Three layers, three personas: the sentence gives Marc instant trust, the advanced SHAP view gives traceability, and the scatter gives Pau independent verification. Before I hand over, one slide on all the AI we used.</a:t>
            </a:r>
            <a:endParaRPr lang="es-ES" sz="2000" b="0" u="none" strike="noStrike">
              <a:solidFill>
                <a:srgbClr val="000000"/>
              </a:solidFill>
              <a:effectLst/>
              <a:uFillTx/>
              <a:latin typeface="Arial"/>
            </a:endParaRPr>
          </a:p>
        </p:txBody>
      </p:sp>
      <p:sp>
        <p:nvSpPr>
          <p:cNvPr id="222" name="PlaceHolder 3"/>
          <p:cNvSpPr>
            <a:spLocks noGrp="1"/>
          </p:cNvSpPr>
          <p:nvPr>
            <p:ph type="sldNum" idx="4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75898055-A2C4-43AF-9297-B73488B5D762}"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1143000" y="685800"/>
            <a:ext cx="4571280" cy="3428280"/>
          </a:xfrm>
          <a:prstGeom prst="rect">
            <a:avLst/>
          </a:prstGeom>
          <a:ln w="0">
            <a:noFill/>
          </a:ln>
        </p:spPr>
      </p:sp>
      <p:sp>
        <p:nvSpPr>
          <p:cNvPr id="22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**Soufyane Youbi:** One honest slide before I hand over, because we think you should declare both kinds of AI. Inside the product: a scikit-learn Random Forest drives the Nutri-Score explanation pipeline, SHAP gives the local attribution we compress into one sentence, a weighted KNN powers the Alternative Engine, and DuckDB lets us query the full Open Food Facts dump at scale. And in development: we used LLM coding assistants to speed up boilerplate, tests, and documentation — but every change was human-reviewed, adversarially audited (that is literally how we caught the dead allergen filter), and gated by tests. We direct the AI; the design decisions and the verification are ours. With that declared, Alejandro will take you through how we evaluate all of this with users.</a:t>
            </a:r>
            <a:endParaRPr lang="es-ES" sz="2000" b="0" u="none" strike="noStrike">
              <a:solidFill>
                <a:srgbClr val="000000"/>
              </a:solidFill>
              <a:effectLst/>
              <a:uFillTx/>
              <a:latin typeface="Arial"/>
            </a:endParaRPr>
          </a:p>
        </p:txBody>
      </p:sp>
      <p:sp>
        <p:nvSpPr>
          <p:cNvPr id="225" name="PlaceHolder 3"/>
          <p:cNvSpPr>
            <a:spLocks noGrp="1"/>
          </p:cNvSpPr>
          <p:nvPr>
            <p:ph type="sldNum" idx="4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89CF9A4A-2F15-4533-ADCA-F4AF9D721D46}"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1143000" y="685800"/>
            <a:ext cx="4571280" cy="3428280"/>
          </a:xfrm>
          <a:prstGeom prst="rect">
            <a:avLst/>
          </a:prstGeom>
          <a:ln w="0">
            <a:noFill/>
          </a:ln>
        </p:spPr>
      </p:sp>
      <p:sp>
        <p:nvSpPr>
          <p:cNvPr id="22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Rodríguez:** Evaluation. We measure two different things and we keep them apart on purpose, so a friendly usability score can't mask a weak explanation layer. The first is the System Usability Scale — Brooke, 1996 — ten items, measuring whether the dashboard is navigable. The second is explanation satisfaction, anchored to the XEQ construct from Wijekoon and colleagues, 2024: clarity, consistency, on-demand detail, perceived reliability and fairness, and improved understanding. Both instruments are not a Google Form — they are feature F-46, built into the app, so a participant finishes the tasks and fills them in the same browser, same session, no context switch.</a:t>
            </a:r>
            <a:endParaRPr lang="es-ES" sz="2000" b="0" u="none" strike="noStrike">
              <a:solidFill>
                <a:srgbClr val="000000"/>
              </a:solidFill>
              <a:effectLst/>
              <a:uFillTx/>
              <a:latin typeface="Arial"/>
            </a:endParaRPr>
          </a:p>
        </p:txBody>
      </p:sp>
      <p:sp>
        <p:nvSpPr>
          <p:cNvPr id="228" name="PlaceHolder 3"/>
          <p:cNvSpPr>
            <a:spLocks noGrp="1"/>
          </p:cNvSpPr>
          <p:nvPr>
            <p:ph type="sldNum" idx="4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8FCB542-C3DF-4EC2-A6B4-884C65B6ABB2}"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1143000" y="685800"/>
            <a:ext cx="4571280" cy="3428280"/>
          </a:xfrm>
          <a:prstGeom prst="rect">
            <a:avLst/>
          </a:prstGeom>
          <a:ln w="0">
            <a:noFill/>
          </a:ln>
        </p:spPr>
      </p:sp>
      <p:sp>
        <p:nvSpPr>
          <p:cNvPr id="23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Rodríguez:** The procedure: six tasks that follow our documented user flows in order — onboarding and search first because it gates everything, then reading an explanation, finding an alternative, comparing a shelf, setting a usual product, and dragging the slider. After each task there's a Single Ease Question so we can localise friction to a specific flow; SUS is administered once at the very end. The cohort is the same six people we interviewed in WA3 — that's a Nielsen-style formative study at n equals six, not a powered experiment. Two of the six are team members; we declare that bias openly and weight their data as optimistic. And the scoring is pre-registered: the standard SUS formula, the benchmark of sixty-eight, and the Sauro-Lewis grade bands, all committed before any data exists.</a:t>
            </a:r>
            <a:endParaRPr lang="es-ES" sz="2000" b="0" u="none" strike="noStrike">
              <a:solidFill>
                <a:srgbClr val="000000"/>
              </a:solidFill>
              <a:effectLst/>
              <a:uFillTx/>
              <a:latin typeface="Arial"/>
            </a:endParaRPr>
          </a:p>
        </p:txBody>
      </p:sp>
      <p:sp>
        <p:nvSpPr>
          <p:cNvPr id="231" name="PlaceHolder 3"/>
          <p:cNvSpPr>
            <a:spLocks noGrp="1"/>
          </p:cNvSpPr>
          <p:nvPr>
            <p:ph type="sldNum" idx="4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5399AD3-0234-4778-A296-677DBED77880}"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1143000" y="685800"/>
            <a:ext cx="4571280" cy="3428280"/>
          </a:xfrm>
          <a:prstGeom prst="rect">
            <a:avLst/>
          </a:prstGeom>
          <a:ln w="0">
            <a:noFill/>
          </a:ln>
        </p:spPr>
      </p:sp>
      <p:sp>
        <p:nvSpPr>
          <p:cNvPr id="23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Rodríguez:** Now the honest part, and I want to be very clear about it. The instrument is built and wired, the tasks and cohort are defined — but we have not yet collected participant data. So we are not going to stand here and quote a usability score we never measured. Inventing numbers would be the worst thing an HCI team could do. What we have done instead is pre-register everything: the scoring rules, the thresholds, the grade bands, and three falsifiable hypotheses — that the contrastive drill-down lifts satisfaction for the sceptic, that the zero-config path scores high for the pragmatist, and that any moralising phrase costs us trust with the convenience seeker. Committing to all of that before the data arrives is good method, not a gap. Pau will now take the technical and design challenges.</a:t>
            </a:r>
            <a:endParaRPr lang="es-ES" sz="2000" b="0" u="none" strike="noStrike">
              <a:solidFill>
                <a:srgbClr val="000000"/>
              </a:solidFill>
              <a:effectLst/>
              <a:uFillTx/>
              <a:latin typeface="Arial"/>
            </a:endParaRPr>
          </a:p>
        </p:txBody>
      </p:sp>
      <p:sp>
        <p:nvSpPr>
          <p:cNvPr id="234" name="PlaceHolder 3"/>
          <p:cNvSpPr>
            <a:spLocks noGrp="1"/>
          </p:cNvSpPr>
          <p:nvPr>
            <p:ph type="sldNum" idx="5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05E9EB0-97EA-47EF-ACB8-EFE3F4ADC3D2}"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1143000" y="685800"/>
            <a:ext cx="4571280" cy="3428280"/>
          </a:xfrm>
          <a:prstGeom prst="rect">
            <a:avLst/>
          </a:prstGeom>
          <a:ln w="0">
            <a:noFill/>
          </a:ln>
        </p:spPr>
      </p:sp>
      <p:sp>
        <p:nvSpPr>
          <p:cNvPr id="23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**Pau Girón:** Thank you. The single biggest source of pain was the Open Food Facts API. It throws intermittent 503s on search, so we built a silent fallback to a ten-product local sample with a non-blocking banner — the UI never dies. It returns a 403 if you forget the User-Agent header, so that header is mandatory on every call. The eco field was renamed, so we read the new `environmental_score_grade` first and fall back to the legacy `ecoscore_grade`. Search is rate-limited to ten requests a minute, so the backend budgets calls through a Redis cache. And the optional backend degrades gracefully — it times out at fifteen hundred milliseconds for recommendations, two thousand for explanations, then quietly uses the in-browser path. On the design side, the discipline was holding the line: keeping the eco badge visible even when the grade is not-applicable, and refusing to let a rich SHAP vector break our one-sentence-one-number rule.</a:t>
            </a:r>
            <a:endParaRPr lang="es-ES" sz="2000" b="0" u="none" strike="noStrike">
              <a:solidFill>
                <a:srgbClr val="000000"/>
              </a:solidFill>
              <a:effectLst/>
              <a:uFillTx/>
              <a:latin typeface="Arial"/>
            </a:endParaRPr>
          </a:p>
        </p:txBody>
      </p:sp>
      <p:sp>
        <p:nvSpPr>
          <p:cNvPr id="237" name="PlaceHolder 3"/>
          <p:cNvSpPr>
            <a:spLocks noGrp="1"/>
          </p:cNvSpPr>
          <p:nvPr>
            <p:ph type="sldNum" idx="5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95B6D04-EB45-4ADC-B660-2940F054EF09}"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1143000" y="685800"/>
            <a:ext cx="4571280" cy="3428280"/>
          </a:xfrm>
          <a:prstGeom prst="rect">
            <a:avLst/>
          </a:prstGeom>
          <a:ln w="0">
            <a:noFill/>
          </a:ln>
        </p:spPr>
      </p:sp>
      <p:sp>
        <p:nvSpPr>
          <p:cNvPr id="23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**Pau Girón:** And here's the part we're actually proud of, even though it's about bugs. An adversarial review followed by an engineering pass found three real defects before release — and none of them is something a usability test would have caught. First, and most serious: the allergen filters were completely dead. `api.js` wasn't even requesting the allergens field, so the product objects had nothing to filter on — that's a safety issue, not a cosmetic one. We fixed it by requesting the field, normalising it to tokens, and matching exactly. Second, the category browser's search was commented out — genuinely dead code — so we wired the dropdown filters back to live rendering. Third, a falsy-zero bug: a real zero grams of sugar was showing as "no data" because of a truthiness check. We added explicit type and null guards. We're disclosing all three openly. In our field, finding and fixing your own defects honestly is worth more than a clean-looking slide. With everything now explained, Alejandro Rodríguez will show it all working live.</a:t>
            </a:r>
            <a:endParaRPr lang="es-ES" sz="2000" b="0" u="none" strike="noStrike">
              <a:solidFill>
                <a:srgbClr val="000000"/>
              </a:solidFill>
              <a:effectLst/>
              <a:uFillTx/>
              <a:latin typeface="Arial"/>
            </a:endParaRPr>
          </a:p>
        </p:txBody>
      </p:sp>
      <p:sp>
        <p:nvSpPr>
          <p:cNvPr id="240" name="PlaceHolder 3"/>
          <p:cNvSpPr>
            <a:spLocks noGrp="1"/>
          </p:cNvSpPr>
          <p:nvPr>
            <p:ph type="sldNum" idx="5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83772CB-1089-4B80-9614-AA277C224B30}"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1143000" y="685800"/>
            <a:ext cx="4571280" cy="3428280"/>
          </a:xfrm>
          <a:prstGeom prst="rect">
            <a:avLst/>
          </a:prstGeom>
          <a:ln w="0">
            <a:noFill/>
          </a:ln>
        </p:spPr>
      </p:sp>
      <p:sp>
        <p:nvSpPr>
          <p:cNvPr id="24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Rodríguez:** Now you have the full picture, so let me show it live. I start with onboarding — notice it asks only goals, age, and gender, nothing about income or family, that's Hook H6. Then a search returns the dual-axis cards: both badges, equal weight, the contrastive sentence already open. I'll expand the advanced explanation to show the SHAP breakdown and pop the scatter drill-down — exactly the pieces Sufi described. Then I drag the priority slider and you'll watch the ranking genuinely re-order — a sceptic should be able to confirm the slider does something. Then filters, including allergen and eco, the category browser, and finally compare-this-shelf: several products in, a ranked list out with a winner-highlight table, and a CSV export. If anything breaks, I have screenshot backups on the next two slides. Let me switch to the app.</a:t>
            </a:r>
            <a:endParaRPr lang="es-ES" sz="2000" b="0" u="none" strike="noStrike">
              <a:solidFill>
                <a:srgbClr val="000000"/>
              </a:solidFill>
              <a:effectLst/>
              <a:uFillTx/>
              <a:latin typeface="Arial"/>
            </a:endParaRPr>
          </a:p>
        </p:txBody>
      </p:sp>
      <p:sp>
        <p:nvSpPr>
          <p:cNvPr id="243" name="PlaceHolder 3"/>
          <p:cNvSpPr>
            <a:spLocks noGrp="1"/>
          </p:cNvSpPr>
          <p:nvPr>
            <p:ph type="sldNum" idx="5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57D8D77-37D2-43DE-A8ED-688E659B9E57}"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1143000" y="685800"/>
            <a:ext cx="4571280" cy="3428280"/>
          </a:xfrm>
          <a:prstGeom prst="rect">
            <a:avLst/>
          </a:prstGeom>
          <a:ln w="0">
            <a:noFill/>
          </a:ln>
        </p:spPr>
      </p:sp>
      <p:sp>
        <p:nvSpPr>
          <p:cNvPr id="24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Rodríguez:** This is the fallback in case the live app misbehaves. The dashboard: a focused product with its dual-axis badges and contrastive sentence, alongside the full results grid. Look at the cards where data is missing — the eco badge still renders, with a question mark or a dash and a caption, instead of vanishing. That's Hook H1 enforced in real markup: missing is shown, never hidden. Every card also exposes a per-card toggle to add the product to a comparison.</a:t>
            </a:r>
            <a:endParaRPr lang="es-ES" sz="2000" b="0" u="none" strike="noStrike">
              <a:solidFill>
                <a:srgbClr val="000000"/>
              </a:solidFill>
              <a:effectLst/>
              <a:uFillTx/>
              <a:latin typeface="Arial"/>
            </a:endParaRPr>
          </a:p>
        </p:txBody>
      </p:sp>
      <p:sp>
        <p:nvSpPr>
          <p:cNvPr id="246" name="PlaceHolder 3"/>
          <p:cNvSpPr>
            <a:spLocks noGrp="1"/>
          </p:cNvSpPr>
          <p:nvPr>
            <p:ph type="sldNum" idx="5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AE90E40-0F60-483F-B88A-9E1EFA010C6B}"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1143000" y="685800"/>
            <a:ext cx="4571280" cy="3428280"/>
          </a:xfrm>
          <a:prstGeom prst="rect">
            <a:avLst/>
          </a:prstGeom>
          <a:ln w="0">
            <a:noFill/>
          </a:ln>
        </p:spPr>
      </p:sp>
      <p:sp>
        <p:nvSpPr>
          <p:cNvPr id="24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Rodríguez:** And the second backup: the comparison view. N products go in; out comes a ranked summary with a one-line contrastive justification for each, sitting above an attribute table that highlights the leading product on each axis — Nutri-Score, Eco-Score, energy, sugars, fat. Notice one detail that cost us a real bug fix: a genuine zero grams of sugar shows as "0", not "no data". Missing is not the same as zero, and the table now respects that. That's the platform. To close, Alejandro will pull together what we learned and where this goes next.</a:t>
            </a:r>
            <a:endParaRPr lang="es-ES" sz="2000" b="0" u="none" strike="noStrike">
              <a:solidFill>
                <a:srgbClr val="000000"/>
              </a:solidFill>
              <a:effectLst/>
              <a:uFillTx/>
              <a:latin typeface="Arial"/>
            </a:endParaRPr>
          </a:p>
        </p:txBody>
      </p:sp>
      <p:sp>
        <p:nvSpPr>
          <p:cNvPr id="249" name="PlaceHolder 3"/>
          <p:cNvSpPr>
            <a:spLocks noGrp="1"/>
          </p:cNvSpPr>
          <p:nvPr>
            <p:ph type="sldNum" idx="5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F7434F9-5819-4C44-A37F-B71D853F12B3}"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1143000" y="685800"/>
            <a:ext cx="4571280" cy="3428280"/>
          </a:xfrm>
          <a:prstGeom prst="rect">
            <a:avLst/>
          </a:prstGeom>
          <a:ln w="0">
            <a:noFill/>
          </a:ln>
        </p:spPr>
      </p:sp>
      <p:sp>
        <p:nvSpPr>
          <p:cNvPr id="25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Lessons. First, the upfront research paid for itself many times over — those five Key Insights became a spec we could point at, so we never argued about features from personal taste. Second, honesty turned out to be a feature: openly disclosing the dead filters and the fact that our data collection is still pending is far more credible than a polished fiction, and "missing is not zero" became a genuine engineering discipline. Third, our constraints helped us — no build step, no framework, the app opens with a double-click, and the graceful degradation we were forced to build kept it alive every time the API misbehaved. And fourth, the deepest lesson: explainable AI is an interaction problem before it's a modelling problem. Training the forest was the easy part; compressing SHAP into one sentence a sceptic would trust was the real work.</a:t>
            </a:r>
            <a:endParaRPr lang="es-ES" sz="2000" b="0" u="none" strike="noStrike">
              <a:solidFill>
                <a:srgbClr val="000000"/>
              </a:solidFill>
              <a:effectLst/>
              <a:uFillTx/>
              <a:latin typeface="Arial"/>
            </a:endParaRPr>
          </a:p>
        </p:txBody>
      </p:sp>
      <p:sp>
        <p:nvSpPr>
          <p:cNvPr id="252" name="PlaceHolder 3"/>
          <p:cNvSpPr>
            <a:spLocks noGrp="1"/>
          </p:cNvSpPr>
          <p:nvPr>
            <p:ph type="sldNum" idx="5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7BF6529B-081D-4CEF-BD28-5A3DCF3334F0}"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1143000" y="685800"/>
            <a:ext cx="4571280" cy="3428280"/>
          </a:xfrm>
          <a:prstGeom prst="rect">
            <a:avLst/>
          </a:prstGeom>
          <a:ln w="0">
            <a:noFill/>
          </a:ln>
        </p:spPr>
      </p:sp>
      <p:sp>
        <p:nvSpPr>
          <p:cNvPr id="25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es-ES" sz="2000" b="0" u="none" strike="noStrike">
                <a:solidFill>
                  <a:srgbClr val="000000"/>
                </a:solidFill>
                <a:effectLst/>
                <a:uFillTx/>
                <a:latin typeface="Arial"/>
              </a:rPr>
              <a:t>**Alejandro Bordón:** Finally, where this goes next. The immediate priority is running the study and filling those placeholder tables with real SUS and explanation-satisfaction numbers. On the engineering side: moving SHAP onto a DuckDB backend and scaling the recommendation index from roughly five hundred products toward the full Open Food Facts catalogue; completing the price axis behind the Advanced toggle, which is what Aina needs; adding a Playwright regression suite; and eventually a longitudinal, in-the-wild study against a Yuka baseline to see if dual-axis contrastive design changes real purchasing behaviour. That's FoodLens — dual-axis, contrastive, and honest about what it does and doesn't yet prove. The repo is on the slide. Thank you — we'd be glad to take your questions.</a:t>
            </a:r>
            <a:endParaRPr lang="es-ES" sz="2000" b="0" u="none" strike="noStrike">
              <a:solidFill>
                <a:srgbClr val="000000"/>
              </a:solidFill>
              <a:effectLst/>
              <a:uFillTx/>
              <a:latin typeface="Arial"/>
            </a:endParaRPr>
          </a:p>
        </p:txBody>
      </p:sp>
      <p:sp>
        <p:nvSpPr>
          <p:cNvPr id="255" name="PlaceHolder 3"/>
          <p:cNvSpPr>
            <a:spLocks noGrp="1"/>
          </p:cNvSpPr>
          <p:nvPr>
            <p:ph type="sldNum" idx="5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3625AD9D-82B8-4982-9403-A88B5833341F}" type="slidenum">
              <a:rPr lang="en-US" sz="1200" b="0" u="none" strike="noStrike">
                <a:solidFill>
                  <a:srgbClr val="000000"/>
                </a:solidFill>
                <a:effectLst/>
                <a:uFillTx/>
                <a:latin typeface="Times New Roman"/>
              </a:rPr>
              <a:t>&lt;número&gt;</a:t>
            </a:fld>
            <a:endParaRPr lang="es-E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980D5FDA-E482-4B1B-9255-03E5E86258C0}"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8400" y="273240"/>
            <a:ext cx="10969200" cy="11444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Calibri"/>
              </a:rPr>
              <a:t>Pulse para editar el formato del texto de título</a:t>
            </a:r>
            <a:endParaRPr lang="es-ES" sz="1800" b="0" u="none" strike="noStrike">
              <a:solidFill>
                <a:srgbClr val="000000"/>
              </a:solidFill>
              <a:effectLst/>
              <a:uFillTx/>
              <a:latin typeface="Arial"/>
            </a:endParaRPr>
          </a:p>
        </p:txBody>
      </p:sp>
      <p:sp>
        <p:nvSpPr>
          <p:cNvPr id="6" name="PlaceHolder 5"/>
          <p:cNvSpPr>
            <a:spLocks noGrp="1"/>
          </p:cNvSpPr>
          <p:nvPr>
            <p:ph type="body"/>
          </p:nvPr>
        </p:nvSpPr>
        <p:spPr>
          <a:xfrm>
            <a:off x="608400" y="1604160"/>
            <a:ext cx="1096920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Segundo nivel del esquema</a:t>
            </a:r>
            <a:endParaRPr lang="es-E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Tercer nivel del esquema</a:t>
            </a:r>
            <a:endParaRPr lang="es-E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Séptimo nivel del esquema</a:t>
            </a:r>
            <a:endParaRPr lang="es-E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6840" y="272520"/>
            <a:ext cx="3007080" cy="116136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2000" b="1" u="none" strike="noStrike">
                <a:solidFill>
                  <a:schemeClr val="dk1"/>
                </a:solidFill>
                <a:effectLst/>
                <a:uFillTx/>
                <a:latin typeface="Calibri"/>
              </a:rPr>
              <a:t>Click to edit Master title style</a:t>
            </a:r>
            <a:endParaRPr lang="es-ES" sz="2000" b="0" u="none" strike="noStrike">
              <a:solidFill>
                <a:srgbClr val="000000"/>
              </a:solidFill>
              <a:effectLst/>
              <a:uFillTx/>
              <a:latin typeface="Arial"/>
            </a:endParaRPr>
          </a:p>
        </p:txBody>
      </p:sp>
      <p:sp>
        <p:nvSpPr>
          <p:cNvPr id="8" name="PlaceHolder 2"/>
          <p:cNvSpPr>
            <a:spLocks noGrp="1"/>
          </p:cNvSpPr>
          <p:nvPr>
            <p:ph type="body"/>
          </p:nvPr>
        </p:nvSpPr>
        <p:spPr>
          <a:xfrm>
            <a:off x="3574440" y="272520"/>
            <a:ext cx="5110920" cy="585252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s-E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s-E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s-E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s-ES" sz="2000" b="0" u="none" strike="noStrike">
              <a:solidFill>
                <a:srgbClr val="000000"/>
              </a:solidFill>
              <a:effectLst/>
              <a:uFillTx/>
              <a:latin typeface="Arial"/>
            </a:endParaRPr>
          </a:p>
        </p:txBody>
      </p:sp>
      <p:sp>
        <p:nvSpPr>
          <p:cNvPr id="9" name="PlaceHolder 3"/>
          <p:cNvSpPr>
            <a:spLocks noGrp="1"/>
          </p:cNvSpPr>
          <p:nvPr>
            <p:ph type="body"/>
          </p:nvPr>
        </p:nvSpPr>
        <p:spPr>
          <a:xfrm>
            <a:off x="456840" y="1434600"/>
            <a:ext cx="3007080" cy="469044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s-ES" sz="1400" b="0" u="none" strike="noStrike">
              <a:solidFill>
                <a:srgbClr val="000000"/>
              </a:solidFill>
              <a:effectLst/>
              <a:uFillTx/>
              <a:latin typeface="Arial"/>
            </a:endParaRPr>
          </a:p>
        </p:txBody>
      </p:sp>
      <p:sp>
        <p:nvSpPr>
          <p:cNvPr id="10" name="PlaceHolder 4"/>
          <p:cNvSpPr>
            <a:spLocks noGrp="1"/>
          </p:cNvSpPr>
          <p:nvPr>
            <p:ph type="dt" idx="4"/>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A343A686-6B13-4E62-8017-298C7DB68480}"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080" y="4800240"/>
            <a:ext cx="5486040" cy="56592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2000" b="1" u="none" strike="noStrike">
                <a:solidFill>
                  <a:schemeClr val="dk1"/>
                </a:solidFill>
                <a:effectLst/>
                <a:uFillTx/>
                <a:latin typeface="Calibri"/>
              </a:rPr>
              <a:t>Click to edit Master title style</a:t>
            </a:r>
            <a:endParaRPr lang="es-ES" sz="2000" b="0" u="none" strike="noStrike">
              <a:solidFill>
                <a:srgbClr val="000000"/>
              </a:solidFill>
              <a:effectLst/>
              <a:uFillTx/>
              <a:latin typeface="Arial"/>
            </a:endParaRPr>
          </a:p>
        </p:txBody>
      </p:sp>
      <p:sp>
        <p:nvSpPr>
          <p:cNvPr id="14" name="PlaceHolder 2"/>
          <p:cNvSpPr>
            <a:spLocks noGrp="1"/>
          </p:cNvSpPr>
          <p:nvPr>
            <p:ph type="body"/>
          </p:nvPr>
        </p:nvSpPr>
        <p:spPr>
          <a:xfrm>
            <a:off x="1792080" y="612360"/>
            <a:ext cx="5486040" cy="411408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Segundo nivel del esquema</a:t>
            </a:r>
            <a:endParaRPr lang="es-ES" sz="3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Tercer nivel del esquema</a:t>
            </a:r>
            <a:endParaRPr lang="es-ES" sz="3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Cuarto nivel del esquema</a:t>
            </a:r>
            <a:endParaRPr lang="es-ES" sz="3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Quinto nivel del esquema</a:t>
            </a:r>
            <a:endParaRPr lang="es-ES" sz="3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Sexto nivel del esquema</a:t>
            </a:r>
            <a:endParaRPr lang="es-ES" sz="3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Séptimo nivel del esquema</a:t>
            </a:r>
            <a:endParaRPr lang="es-ES" sz="3200" b="0" u="none" strike="noStrike">
              <a:solidFill>
                <a:srgbClr val="000000"/>
              </a:solidFill>
              <a:effectLst/>
              <a:uFillTx/>
              <a:latin typeface="Arial"/>
            </a:endParaRPr>
          </a:p>
        </p:txBody>
      </p:sp>
      <p:sp>
        <p:nvSpPr>
          <p:cNvPr id="15" name="PlaceHolder 3"/>
          <p:cNvSpPr>
            <a:spLocks noGrp="1"/>
          </p:cNvSpPr>
          <p:nvPr>
            <p:ph type="body"/>
          </p:nvPr>
        </p:nvSpPr>
        <p:spPr>
          <a:xfrm>
            <a:off x="1792080" y="5366880"/>
            <a:ext cx="5486040" cy="80424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s-ES" sz="1400" b="0" u="none" strike="noStrike">
              <a:solidFill>
                <a:srgbClr val="000000"/>
              </a:solidFill>
              <a:effectLst/>
              <a:uFillTx/>
              <a:latin typeface="Arial"/>
            </a:endParaRPr>
          </a:p>
        </p:txBody>
      </p:sp>
      <p:sp>
        <p:nvSpPr>
          <p:cNvPr id="16" name="PlaceHolder 4"/>
          <p:cNvSpPr>
            <a:spLocks noGrp="1"/>
          </p:cNvSpPr>
          <p:nvPr>
            <p:ph type="dt" idx="7"/>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AF578756-8679-4CD7-9F71-F46FAE5E692B}"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080" y="2130120"/>
            <a:ext cx="7771320" cy="14691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s-ES" sz="4400" b="0" u="none" strike="noStrike">
              <a:solidFill>
                <a:srgbClr val="000000"/>
              </a:solidFill>
              <a:effectLst/>
              <a:uFillTx/>
              <a:latin typeface="Arial"/>
            </a:endParaRPr>
          </a:p>
        </p:txBody>
      </p:sp>
      <p:sp>
        <p:nvSpPr>
          <p:cNvPr id="20" name="PlaceHolder 2"/>
          <p:cNvSpPr>
            <a:spLocks noGrp="1"/>
          </p:cNvSpPr>
          <p:nvPr>
            <p:ph type="dt" idx="10"/>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294E7074-96F1-4061-8ACE-8837D4237240}"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3" name="PlaceHolder 5"/>
          <p:cNvSpPr>
            <a:spLocks noGrp="1"/>
          </p:cNvSpPr>
          <p:nvPr>
            <p:ph type="body"/>
          </p:nvPr>
        </p:nvSpPr>
        <p:spPr>
          <a:xfrm>
            <a:off x="609120" y="1604520"/>
            <a:ext cx="10969200" cy="3977280"/>
          </a:xfrm>
          <a:prstGeom prst="rect">
            <a:avLst/>
          </a:prstGeom>
          <a:noFill/>
          <a:ln w="0">
            <a:noFill/>
          </a:ln>
        </p:spPr>
        <p:txBody>
          <a:bodyPr lIns="0" rIns="0" tIns="0" bIns="0" anchor="t">
            <a:normAutofit/>
          </a:bodyPr>
          <a:p>
            <a:pPr marL="432000" indent="-324000">
              <a:spcBef>
                <a:spcPts val="79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635"/>
              </a:spcBef>
              <a:buClr>
                <a:srgbClr val="000000"/>
              </a:buClr>
              <a:buSzPct val="75000"/>
              <a:buFont typeface="Symbol" charset="2"/>
              <a:buChar char=""/>
            </a:pPr>
            <a:r>
              <a:rPr lang="es-ES" sz="1570" b="0" u="none" strike="noStrike">
                <a:solidFill>
                  <a:srgbClr val="000000"/>
                </a:solidFill>
                <a:effectLst/>
                <a:uFillTx/>
                <a:latin typeface="Arial"/>
              </a:rPr>
              <a:t>Segundo nivel del esquema</a:t>
            </a:r>
            <a:endParaRPr lang="es-ES" sz="1570" b="0" u="none" strike="noStrike">
              <a:solidFill>
                <a:srgbClr val="000000"/>
              </a:solidFill>
              <a:effectLst/>
              <a:uFillTx/>
              <a:latin typeface="Arial"/>
            </a:endParaRPr>
          </a:p>
          <a:p>
            <a:pPr marL="1296000" lvl="2" indent="-288000">
              <a:spcBef>
                <a:spcPts val="476"/>
              </a:spcBef>
              <a:buClr>
                <a:srgbClr val="000000"/>
              </a:buClr>
              <a:buSzPct val="45000"/>
              <a:buFont typeface="Wingdings" charset="2"/>
              <a:buChar char=""/>
            </a:pPr>
            <a:r>
              <a:rPr lang="es-ES" sz="1350" b="0" u="none" strike="noStrike">
                <a:solidFill>
                  <a:srgbClr val="000000"/>
                </a:solidFill>
                <a:effectLst/>
                <a:uFillTx/>
                <a:latin typeface="Arial"/>
              </a:rPr>
              <a:t>Tercer nivel del esquema</a:t>
            </a:r>
            <a:endParaRPr lang="es-ES" sz="1350" b="0" u="none" strike="noStrike">
              <a:solidFill>
                <a:srgbClr val="000000"/>
              </a:solidFill>
              <a:effectLst/>
              <a:uFillTx/>
              <a:latin typeface="Arial"/>
            </a:endParaRPr>
          </a:p>
          <a:p>
            <a:pPr marL="1728000" lvl="3" indent="-216000">
              <a:spcBef>
                <a:spcPts val="317"/>
              </a:spcBef>
              <a:buClr>
                <a:srgbClr val="000000"/>
              </a:buClr>
              <a:buSzPct val="75000"/>
              <a:buFont typeface="Symbol" charset="2"/>
              <a:buChar char=""/>
            </a:pPr>
            <a:r>
              <a:rPr lang="es-ES" sz="1130" b="0" u="none" strike="noStrike">
                <a:solidFill>
                  <a:srgbClr val="000000"/>
                </a:solidFill>
                <a:effectLst/>
                <a:uFillTx/>
                <a:latin typeface="Arial"/>
              </a:rPr>
              <a:t>Cuarto nivel del esquema</a:t>
            </a:r>
            <a:endParaRPr lang="es-ES" sz="1130" b="0" u="none" strike="noStrike">
              <a:solidFill>
                <a:srgbClr val="000000"/>
              </a:solidFill>
              <a:effectLst/>
              <a:uFillTx/>
              <a:latin typeface="Arial"/>
            </a:endParaRPr>
          </a:p>
          <a:p>
            <a:pPr marL="2160000" lvl="4" indent="-216000">
              <a:spcBef>
                <a:spcPts val="159"/>
              </a:spcBef>
              <a:buClr>
                <a:srgbClr val="000000"/>
              </a:buClr>
              <a:buSzPct val="45000"/>
              <a:buFont typeface="Wingdings" charset="2"/>
              <a:buChar char=""/>
            </a:pPr>
            <a:r>
              <a:rPr lang="es-ES" sz="1130" b="0" u="none" strike="noStrike">
                <a:solidFill>
                  <a:srgbClr val="000000"/>
                </a:solidFill>
                <a:effectLst/>
                <a:uFillTx/>
                <a:latin typeface="Arial"/>
              </a:rPr>
              <a:t>Quinto nivel del esquema</a:t>
            </a:r>
            <a:endParaRPr lang="es-ES" sz="1130" b="0" u="none" strike="noStrike">
              <a:solidFill>
                <a:srgbClr val="000000"/>
              </a:solidFill>
              <a:effectLst/>
              <a:uFillTx/>
              <a:latin typeface="Arial"/>
            </a:endParaRPr>
          </a:p>
          <a:p>
            <a:pPr marL="2592000" lvl="5" indent="-216000">
              <a:spcBef>
                <a:spcPts val="159"/>
              </a:spcBef>
              <a:buClr>
                <a:srgbClr val="000000"/>
              </a:buClr>
              <a:buSzPct val="45000"/>
              <a:buFont typeface="Wingdings" charset="2"/>
              <a:buChar char=""/>
            </a:pPr>
            <a:r>
              <a:rPr lang="es-ES" sz="1130" b="0" u="none" strike="noStrike">
                <a:solidFill>
                  <a:srgbClr val="000000"/>
                </a:solidFill>
                <a:effectLst/>
                <a:uFillTx/>
                <a:latin typeface="Arial"/>
              </a:rPr>
              <a:t>Sexto nivel del esquema</a:t>
            </a:r>
            <a:endParaRPr lang="es-ES" sz="1130" b="0" u="none" strike="noStrike">
              <a:solidFill>
                <a:srgbClr val="000000"/>
              </a:solidFill>
              <a:effectLst/>
              <a:uFillTx/>
              <a:latin typeface="Arial"/>
            </a:endParaRPr>
          </a:p>
          <a:p>
            <a:pPr marL="3024000" lvl="6" indent="-216000">
              <a:spcBef>
                <a:spcPts val="159"/>
              </a:spcBef>
              <a:buClr>
                <a:srgbClr val="000000"/>
              </a:buClr>
              <a:buSzPct val="45000"/>
              <a:buFont typeface="Wingdings" charset="2"/>
              <a:buChar char=""/>
            </a:pPr>
            <a:r>
              <a:rPr lang="es-ES" sz="1130" b="0" u="none" strike="noStrike">
                <a:solidFill>
                  <a:srgbClr val="000000"/>
                </a:solidFill>
                <a:effectLst/>
                <a:uFillTx/>
                <a:latin typeface="Arial"/>
              </a:rPr>
              <a:t>Séptimo nivel del esquema</a:t>
            </a:r>
            <a:endParaRPr lang="es-ES" sz="113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6840" y="27432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s-ES" sz="4400" b="0" u="none" strike="noStrike">
              <a:solidFill>
                <a:srgbClr val="000000"/>
              </a:solidFill>
              <a:effectLst/>
              <a:uFillTx/>
              <a:latin typeface="Arial"/>
            </a:endParaRPr>
          </a:p>
        </p:txBody>
      </p:sp>
      <p:sp>
        <p:nvSpPr>
          <p:cNvPr id="25" name="PlaceHolder 2"/>
          <p:cNvSpPr>
            <a:spLocks noGrp="1"/>
          </p:cNvSpPr>
          <p:nvPr>
            <p:ph type="body"/>
          </p:nvPr>
        </p:nvSpPr>
        <p:spPr>
          <a:xfrm>
            <a:off x="456840" y="1599840"/>
            <a:ext cx="822888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s-E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s-E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s-E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s-ES" sz="2000" b="0" u="none" strike="noStrike">
              <a:solidFill>
                <a:srgbClr val="000000"/>
              </a:solidFill>
              <a:effectLst/>
              <a:uFillTx/>
              <a:latin typeface="Arial"/>
            </a:endParaRPr>
          </a:p>
        </p:txBody>
      </p:sp>
      <p:sp>
        <p:nvSpPr>
          <p:cNvPr id="26" name="PlaceHolder 3"/>
          <p:cNvSpPr>
            <a:spLocks noGrp="1"/>
          </p:cNvSpPr>
          <p:nvPr>
            <p:ph type="dt" idx="13"/>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7" name="PlaceHolder 4"/>
          <p:cNvSpPr>
            <a:spLocks noGrp="1"/>
          </p:cNvSpPr>
          <p:nvPr>
            <p:ph type="ftr" idx="14"/>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8" name="PlaceHolder 5"/>
          <p:cNvSpPr>
            <a:spLocks noGrp="1"/>
          </p:cNvSpPr>
          <p:nvPr>
            <p:ph type="sldNum" idx="15"/>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EF218573-6D0A-4E67-A98F-ADCE5F94E6ED}"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6629040" y="274320"/>
            <a:ext cx="2056320" cy="5850720"/>
          </a:xfrm>
          <a:prstGeom prst="rect">
            <a:avLst/>
          </a:prstGeom>
          <a:noFill/>
          <a:ln w="0">
            <a:noFill/>
          </a:ln>
        </p:spPr>
        <p:txBody>
          <a:bodyPr lIns="91440" rIns="91440" tIns="45720" bIns="45720" anchor="ctr" vert="eaVert">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s-ES" sz="4400" b="0" u="none" strike="noStrike">
              <a:solidFill>
                <a:srgbClr val="000000"/>
              </a:solidFill>
              <a:effectLst/>
              <a:uFillTx/>
              <a:latin typeface="Arial"/>
            </a:endParaRPr>
          </a:p>
        </p:txBody>
      </p:sp>
      <p:sp>
        <p:nvSpPr>
          <p:cNvPr id="30" name="PlaceHolder 2"/>
          <p:cNvSpPr>
            <a:spLocks noGrp="1"/>
          </p:cNvSpPr>
          <p:nvPr>
            <p:ph type="body"/>
          </p:nvPr>
        </p:nvSpPr>
        <p:spPr>
          <a:xfrm>
            <a:off x="456840" y="273960"/>
            <a:ext cx="6018840" cy="585072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s-E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s-E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s-E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s-ES" sz="2000" b="0" u="none" strike="noStrike">
              <a:solidFill>
                <a:srgbClr val="000000"/>
              </a:solidFill>
              <a:effectLst/>
              <a:uFillTx/>
              <a:latin typeface="Arial"/>
            </a:endParaRPr>
          </a:p>
        </p:txBody>
      </p:sp>
      <p:sp>
        <p:nvSpPr>
          <p:cNvPr id="31" name="PlaceHolder 3"/>
          <p:cNvSpPr>
            <a:spLocks noGrp="1"/>
          </p:cNvSpPr>
          <p:nvPr>
            <p:ph type="dt" idx="16"/>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2" name="PlaceHolder 4"/>
          <p:cNvSpPr>
            <a:spLocks noGrp="1"/>
          </p:cNvSpPr>
          <p:nvPr>
            <p:ph type="ftr" idx="17"/>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3" name="PlaceHolder 5"/>
          <p:cNvSpPr>
            <a:spLocks noGrp="1"/>
          </p:cNvSpPr>
          <p:nvPr>
            <p:ph type="sldNum" idx="18"/>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42F65798-4600-4D4F-AE82-7BB4217C3AEB}"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6840" y="27432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s-ES" sz="4400" b="0" u="none" strike="noStrike">
              <a:solidFill>
                <a:srgbClr val="000000"/>
              </a:solidFill>
              <a:effectLst/>
              <a:uFillTx/>
              <a:latin typeface="Arial"/>
            </a:endParaRPr>
          </a:p>
        </p:txBody>
      </p:sp>
      <p:sp>
        <p:nvSpPr>
          <p:cNvPr id="35" name="PlaceHolder 2"/>
          <p:cNvSpPr>
            <a:spLocks noGrp="1"/>
          </p:cNvSpPr>
          <p:nvPr>
            <p:ph type="body"/>
          </p:nvPr>
        </p:nvSpPr>
        <p:spPr>
          <a:xfrm>
            <a:off x="456840" y="1599840"/>
            <a:ext cx="8228880" cy="45252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s-ES" sz="3200" b="0" u="none" strike="noStrike">
              <a:solidFill>
                <a:srgbClr val="000000"/>
              </a:solidFill>
              <a:effectLst/>
              <a:uFillTx/>
              <a:latin typeface="Arial"/>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s-ES" sz="2800" b="0" u="none" strike="noStrike">
              <a:solidFill>
                <a:srgbClr val="000000"/>
              </a:solidFill>
              <a:effectLst/>
              <a:uFillTx/>
              <a:latin typeface="Arial"/>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s-ES" sz="2400" b="0" u="none" strike="noStrike">
              <a:solidFill>
                <a:srgbClr val="000000"/>
              </a:solidFill>
              <a:effectLst/>
              <a:uFillTx/>
              <a:latin typeface="Arial"/>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s-ES" sz="2000" b="0" u="none" strike="noStrike">
              <a:solidFill>
                <a:srgbClr val="000000"/>
              </a:solidFill>
              <a:effectLst/>
              <a:uFillTx/>
              <a:latin typeface="Arial"/>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s-ES" sz="2000" b="0" u="none" strike="noStrike">
              <a:solidFill>
                <a:srgbClr val="000000"/>
              </a:solidFill>
              <a:effectLst/>
              <a:uFillTx/>
              <a:latin typeface="Arial"/>
            </a:endParaRPr>
          </a:p>
        </p:txBody>
      </p:sp>
      <p:sp>
        <p:nvSpPr>
          <p:cNvPr id="36" name="PlaceHolder 3"/>
          <p:cNvSpPr>
            <a:spLocks noGrp="1"/>
          </p:cNvSpPr>
          <p:nvPr>
            <p:ph type="dt" idx="19"/>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8" name="PlaceHolder 5"/>
          <p:cNvSpPr>
            <a:spLocks noGrp="1"/>
          </p:cNvSpPr>
          <p:nvPr>
            <p:ph type="sldNum" idx="21"/>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92D5D1C1-096F-4A0F-8355-4C0280BFB444}"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721440" y="4406400"/>
            <a:ext cx="7771320" cy="13615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4000" b="1" u="none" strike="noStrike" cap="all">
                <a:solidFill>
                  <a:schemeClr val="dk1"/>
                </a:solidFill>
                <a:effectLst/>
                <a:uFillTx/>
                <a:latin typeface="Calibri"/>
              </a:rPr>
              <a:t>Click to edit Master title style</a:t>
            </a:r>
            <a:endParaRPr lang="es-ES" sz="4000" b="0" u="none" strike="noStrike">
              <a:solidFill>
                <a:srgbClr val="000000"/>
              </a:solidFill>
              <a:effectLst/>
              <a:uFillTx/>
              <a:latin typeface="Arial"/>
            </a:endParaRPr>
          </a:p>
        </p:txBody>
      </p:sp>
      <p:sp>
        <p:nvSpPr>
          <p:cNvPr id="40" name="PlaceHolder 2"/>
          <p:cNvSpPr>
            <a:spLocks noGrp="1"/>
          </p:cNvSpPr>
          <p:nvPr>
            <p:ph type="body"/>
          </p:nvPr>
        </p:nvSpPr>
        <p:spPr>
          <a:xfrm>
            <a:off x="721440" y="2906280"/>
            <a:ext cx="7771320" cy="149940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s-ES" sz="2000" b="0" u="none" strike="noStrike">
              <a:solidFill>
                <a:srgbClr val="000000"/>
              </a:solidFill>
              <a:effectLst/>
              <a:uFillTx/>
              <a:latin typeface="Arial"/>
            </a:endParaRPr>
          </a:p>
        </p:txBody>
      </p:sp>
      <p:sp>
        <p:nvSpPr>
          <p:cNvPr id="41" name="PlaceHolder 3"/>
          <p:cNvSpPr>
            <a:spLocks noGrp="1"/>
          </p:cNvSpPr>
          <p:nvPr>
            <p:ph type="dt" idx="22"/>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2" name="PlaceHolder 4"/>
          <p:cNvSpPr>
            <a:spLocks noGrp="1"/>
          </p:cNvSpPr>
          <p:nvPr>
            <p:ph type="ftr" idx="23"/>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3" name="PlaceHolder 5"/>
          <p:cNvSpPr>
            <a:spLocks noGrp="1"/>
          </p:cNvSpPr>
          <p:nvPr>
            <p:ph type="sldNum" idx="24"/>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1B706C34-767A-405E-B84E-B6681373399A}"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456840" y="27432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s-ES" sz="4400" b="0" u="none" strike="noStrike">
              <a:solidFill>
                <a:srgbClr val="000000"/>
              </a:solidFill>
              <a:effectLst/>
              <a:uFillTx/>
              <a:latin typeface="Arial"/>
            </a:endParaRPr>
          </a:p>
        </p:txBody>
      </p:sp>
      <p:sp>
        <p:nvSpPr>
          <p:cNvPr id="45" name="PlaceHolder 2"/>
          <p:cNvSpPr>
            <a:spLocks noGrp="1"/>
          </p:cNvSpPr>
          <p:nvPr>
            <p:ph type="body"/>
          </p:nvPr>
        </p:nvSpPr>
        <p:spPr>
          <a:xfrm>
            <a:off x="456840" y="1599840"/>
            <a:ext cx="4038120" cy="452520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s-ES" sz="2800" b="0" u="none" strike="noStrike">
              <a:solidFill>
                <a:srgbClr val="000000"/>
              </a:solidFill>
              <a:effectLst/>
              <a:uFillTx/>
              <a:latin typeface="Arial"/>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s-ES" sz="2400" b="0" u="none" strike="noStrike">
              <a:solidFill>
                <a:srgbClr val="000000"/>
              </a:solidFill>
              <a:effectLst/>
              <a:uFillTx/>
              <a:latin typeface="Arial"/>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s-ES" sz="2000" b="0" u="none" strike="noStrike">
              <a:solidFill>
                <a:srgbClr val="000000"/>
              </a:solidFill>
              <a:effectLst/>
              <a:uFillTx/>
              <a:latin typeface="Arial"/>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s-ES" sz="1800" b="0" u="none" strike="noStrike">
              <a:solidFill>
                <a:srgbClr val="000000"/>
              </a:solidFill>
              <a:effectLst/>
              <a:uFillTx/>
              <a:latin typeface="Arial"/>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s-ES" sz="1800" b="0" u="none" strike="noStrike">
              <a:solidFill>
                <a:srgbClr val="000000"/>
              </a:solidFill>
              <a:effectLst/>
              <a:uFillTx/>
              <a:latin typeface="Arial"/>
            </a:endParaRPr>
          </a:p>
        </p:txBody>
      </p:sp>
      <p:sp>
        <p:nvSpPr>
          <p:cNvPr id="46" name="PlaceHolder 3"/>
          <p:cNvSpPr>
            <a:spLocks noGrp="1"/>
          </p:cNvSpPr>
          <p:nvPr>
            <p:ph type="body"/>
          </p:nvPr>
        </p:nvSpPr>
        <p:spPr>
          <a:xfrm>
            <a:off x="4647600" y="1599840"/>
            <a:ext cx="4038120" cy="452520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s-ES" sz="2800" b="0" u="none" strike="noStrike">
              <a:solidFill>
                <a:srgbClr val="000000"/>
              </a:solidFill>
              <a:effectLst/>
              <a:uFillTx/>
              <a:latin typeface="Arial"/>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s-ES" sz="2400" b="0" u="none" strike="noStrike">
              <a:solidFill>
                <a:srgbClr val="000000"/>
              </a:solidFill>
              <a:effectLst/>
              <a:uFillTx/>
              <a:latin typeface="Arial"/>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s-ES" sz="2000" b="0" u="none" strike="noStrike">
              <a:solidFill>
                <a:srgbClr val="000000"/>
              </a:solidFill>
              <a:effectLst/>
              <a:uFillTx/>
              <a:latin typeface="Arial"/>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s-ES" sz="1800" b="0" u="none" strike="noStrike">
              <a:solidFill>
                <a:srgbClr val="000000"/>
              </a:solidFill>
              <a:effectLst/>
              <a:uFillTx/>
              <a:latin typeface="Arial"/>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s-ES" sz="1800" b="0" u="none" strike="noStrike">
              <a:solidFill>
                <a:srgbClr val="000000"/>
              </a:solidFill>
              <a:effectLst/>
              <a:uFillTx/>
              <a:latin typeface="Arial"/>
            </a:endParaRPr>
          </a:p>
        </p:txBody>
      </p:sp>
      <p:sp>
        <p:nvSpPr>
          <p:cNvPr id="47" name="PlaceHolder 4"/>
          <p:cNvSpPr>
            <a:spLocks noGrp="1"/>
          </p:cNvSpPr>
          <p:nvPr>
            <p:ph type="dt" idx="25"/>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8" name="PlaceHolder 5"/>
          <p:cNvSpPr>
            <a:spLocks noGrp="1"/>
          </p:cNvSpPr>
          <p:nvPr>
            <p:ph type="ftr" idx="26"/>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4F7E65B7-5B26-49E7-B8A9-6519551CF161}"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6840" y="27432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s-ES" sz="4400" b="0" u="none" strike="noStrike">
              <a:solidFill>
                <a:srgbClr val="000000"/>
              </a:solidFill>
              <a:effectLst/>
              <a:uFillTx/>
              <a:latin typeface="Arial"/>
            </a:endParaRPr>
          </a:p>
        </p:txBody>
      </p:sp>
      <p:sp>
        <p:nvSpPr>
          <p:cNvPr id="51" name="PlaceHolder 2"/>
          <p:cNvSpPr>
            <a:spLocks noGrp="1"/>
          </p:cNvSpPr>
          <p:nvPr>
            <p:ph type="body"/>
          </p:nvPr>
        </p:nvSpPr>
        <p:spPr>
          <a:xfrm>
            <a:off x="456840" y="1534680"/>
            <a:ext cx="4039200" cy="63900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s-ES" sz="2400" b="0" u="none" strike="noStrike">
              <a:solidFill>
                <a:srgbClr val="000000"/>
              </a:solidFill>
              <a:effectLst/>
              <a:uFillTx/>
              <a:latin typeface="Arial"/>
            </a:endParaRPr>
          </a:p>
        </p:txBody>
      </p:sp>
      <p:sp>
        <p:nvSpPr>
          <p:cNvPr id="52" name="PlaceHolder 3"/>
          <p:cNvSpPr>
            <a:spLocks noGrp="1"/>
          </p:cNvSpPr>
          <p:nvPr>
            <p:ph type="body"/>
          </p:nvPr>
        </p:nvSpPr>
        <p:spPr>
          <a:xfrm>
            <a:off x="456840" y="2174400"/>
            <a:ext cx="4039200" cy="395064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s-ES" sz="2400" b="0" u="none" strike="noStrike">
              <a:solidFill>
                <a:srgbClr val="000000"/>
              </a:solidFill>
              <a:effectLst/>
              <a:uFillTx/>
              <a:latin typeface="Arial"/>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s-ES" sz="2000" b="0" u="none" strike="noStrike">
              <a:solidFill>
                <a:srgbClr val="000000"/>
              </a:solidFill>
              <a:effectLst/>
              <a:uFillTx/>
              <a:latin typeface="Arial"/>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s-ES" sz="1800" b="0" u="none" strike="noStrike">
              <a:solidFill>
                <a:srgbClr val="000000"/>
              </a:solidFill>
              <a:effectLst/>
              <a:uFillTx/>
              <a:latin typeface="Arial"/>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s-ES" sz="1600" b="0" u="none" strike="noStrike">
              <a:solidFill>
                <a:srgbClr val="000000"/>
              </a:solidFill>
              <a:effectLst/>
              <a:uFillTx/>
              <a:latin typeface="Arial"/>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s-ES" sz="1600" b="0" u="none" strike="noStrike">
              <a:solidFill>
                <a:srgbClr val="000000"/>
              </a:solidFill>
              <a:effectLst/>
              <a:uFillTx/>
              <a:latin typeface="Arial"/>
            </a:endParaRPr>
          </a:p>
        </p:txBody>
      </p:sp>
      <p:sp>
        <p:nvSpPr>
          <p:cNvPr id="53" name="PlaceHolder 4"/>
          <p:cNvSpPr>
            <a:spLocks noGrp="1"/>
          </p:cNvSpPr>
          <p:nvPr>
            <p:ph type="body"/>
          </p:nvPr>
        </p:nvSpPr>
        <p:spPr>
          <a:xfrm>
            <a:off x="4644360" y="1534680"/>
            <a:ext cx="4041360" cy="63900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s-ES" sz="2400" b="0" u="none" strike="noStrike">
              <a:solidFill>
                <a:srgbClr val="000000"/>
              </a:solidFill>
              <a:effectLst/>
              <a:uFillTx/>
              <a:latin typeface="Arial"/>
            </a:endParaRPr>
          </a:p>
        </p:txBody>
      </p:sp>
      <p:sp>
        <p:nvSpPr>
          <p:cNvPr id="54" name="PlaceHolder 5"/>
          <p:cNvSpPr>
            <a:spLocks noGrp="1"/>
          </p:cNvSpPr>
          <p:nvPr>
            <p:ph type="body"/>
          </p:nvPr>
        </p:nvSpPr>
        <p:spPr>
          <a:xfrm>
            <a:off x="4644360" y="2174400"/>
            <a:ext cx="4041360" cy="395064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s-ES" sz="2400" b="0" u="none" strike="noStrike">
              <a:solidFill>
                <a:srgbClr val="000000"/>
              </a:solidFill>
              <a:effectLst/>
              <a:uFillTx/>
              <a:latin typeface="Arial"/>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s-ES" sz="2000" b="0" u="none" strike="noStrike">
              <a:solidFill>
                <a:srgbClr val="000000"/>
              </a:solidFill>
              <a:effectLst/>
              <a:uFillTx/>
              <a:latin typeface="Arial"/>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s-ES" sz="1800" b="0" u="none" strike="noStrike">
              <a:solidFill>
                <a:srgbClr val="000000"/>
              </a:solidFill>
              <a:effectLst/>
              <a:uFillTx/>
              <a:latin typeface="Arial"/>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s-ES" sz="1600" b="0" u="none" strike="noStrike">
              <a:solidFill>
                <a:srgbClr val="000000"/>
              </a:solidFill>
              <a:effectLst/>
              <a:uFillTx/>
              <a:latin typeface="Arial"/>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s-ES" sz="1600" b="0" u="none" strike="noStrike">
              <a:solidFill>
                <a:srgbClr val="000000"/>
              </a:solidFill>
              <a:effectLst/>
              <a:uFillTx/>
              <a:latin typeface="Arial"/>
            </a:endParaRPr>
          </a:p>
        </p:txBody>
      </p:sp>
      <p:sp>
        <p:nvSpPr>
          <p:cNvPr id="55" name="PlaceHolder 6"/>
          <p:cNvSpPr>
            <a:spLocks noGrp="1"/>
          </p:cNvSpPr>
          <p:nvPr>
            <p:ph type="dt" idx="28"/>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6" name="PlaceHolder 7"/>
          <p:cNvSpPr>
            <a:spLocks noGrp="1"/>
          </p:cNvSpPr>
          <p:nvPr>
            <p:ph type="ftr" idx="29"/>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7" name="PlaceHolder 8"/>
          <p:cNvSpPr>
            <a:spLocks noGrp="1"/>
          </p:cNvSpPr>
          <p:nvPr>
            <p:ph type="sldNum" idx="30"/>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30C7D3EB-A911-40FB-9AD8-6E126697EC14}"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456840" y="27432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lang="en-US" sz="4400" b="0" u="none" strike="noStrike">
                <a:solidFill>
                  <a:schemeClr val="dk1"/>
                </a:solidFill>
                <a:effectLst/>
                <a:uFillTx/>
                <a:latin typeface="Calibri"/>
              </a:rPr>
              <a:t>Click to edit Master title style</a:t>
            </a:r>
            <a:endParaRPr lang="es-ES" sz="4400" b="0" u="none" strike="noStrike">
              <a:solidFill>
                <a:srgbClr val="000000"/>
              </a:solidFill>
              <a:effectLst/>
              <a:uFillTx/>
              <a:latin typeface="Arial"/>
            </a:endParaRPr>
          </a:p>
        </p:txBody>
      </p:sp>
      <p:sp>
        <p:nvSpPr>
          <p:cNvPr id="59" name="PlaceHolder 2"/>
          <p:cNvSpPr>
            <a:spLocks noGrp="1"/>
          </p:cNvSpPr>
          <p:nvPr>
            <p:ph type="dt" idx="31"/>
          </p:nvPr>
        </p:nvSpPr>
        <p:spPr>
          <a:xfrm>
            <a:off x="456840" y="6356160"/>
            <a:ext cx="213336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60" name="PlaceHolder 3"/>
          <p:cNvSpPr>
            <a:spLocks noGrp="1"/>
          </p:cNvSpPr>
          <p:nvPr>
            <p:ph type="ftr" idx="32"/>
          </p:nvPr>
        </p:nvSpPr>
        <p:spPr>
          <a:xfrm>
            <a:off x="3123360" y="635616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1" name="PlaceHolder 4"/>
          <p:cNvSpPr>
            <a:spLocks noGrp="1"/>
          </p:cNvSpPr>
          <p:nvPr>
            <p:ph type="sldNum" idx="33"/>
          </p:nvPr>
        </p:nvSpPr>
        <p:spPr>
          <a:xfrm>
            <a:off x="6552360" y="6356160"/>
            <a:ext cx="2133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861F6688-DDDD-4686-AC79-7510B821D923}" type="slidenum">
              <a:rPr lang="en-US"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62" name="PlaceHolder 5"/>
          <p:cNvSpPr>
            <a:spLocks noGrp="1"/>
          </p:cNvSpPr>
          <p:nvPr>
            <p:ph type="body"/>
          </p:nvPr>
        </p:nvSpPr>
        <p:spPr>
          <a:xfrm>
            <a:off x="609120" y="1604520"/>
            <a:ext cx="10969200" cy="3977280"/>
          </a:xfrm>
          <a:prstGeom prst="rect">
            <a:avLst/>
          </a:prstGeom>
          <a:noFill/>
          <a:ln w="0">
            <a:noFill/>
          </a:ln>
        </p:spPr>
        <p:txBody>
          <a:bodyPr lIns="0" rIns="0" tIns="0" bIns="0" anchor="t">
            <a:normAutofit/>
          </a:bodyPr>
          <a:p>
            <a:pPr marL="432000" indent="-324000">
              <a:spcBef>
                <a:spcPts val="79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635"/>
              </a:spcBef>
              <a:buClr>
                <a:srgbClr val="000000"/>
              </a:buClr>
              <a:buSzPct val="75000"/>
              <a:buFont typeface="Symbol" charset="2"/>
              <a:buChar char=""/>
            </a:pPr>
            <a:r>
              <a:rPr lang="es-ES" sz="1570" b="0" u="none" strike="noStrike">
                <a:solidFill>
                  <a:srgbClr val="000000"/>
                </a:solidFill>
                <a:effectLst/>
                <a:uFillTx/>
                <a:latin typeface="Arial"/>
              </a:rPr>
              <a:t>Segundo nivel del esquema</a:t>
            </a:r>
            <a:endParaRPr lang="es-ES" sz="1570" b="0" u="none" strike="noStrike">
              <a:solidFill>
                <a:srgbClr val="000000"/>
              </a:solidFill>
              <a:effectLst/>
              <a:uFillTx/>
              <a:latin typeface="Arial"/>
            </a:endParaRPr>
          </a:p>
          <a:p>
            <a:pPr marL="1296000" lvl="2" indent="-288000">
              <a:spcBef>
                <a:spcPts val="476"/>
              </a:spcBef>
              <a:buClr>
                <a:srgbClr val="000000"/>
              </a:buClr>
              <a:buSzPct val="45000"/>
              <a:buFont typeface="Wingdings" charset="2"/>
              <a:buChar char=""/>
            </a:pPr>
            <a:r>
              <a:rPr lang="es-ES" sz="1350" b="0" u="none" strike="noStrike">
                <a:solidFill>
                  <a:srgbClr val="000000"/>
                </a:solidFill>
                <a:effectLst/>
                <a:uFillTx/>
                <a:latin typeface="Arial"/>
              </a:rPr>
              <a:t>Tercer nivel del esquema</a:t>
            </a:r>
            <a:endParaRPr lang="es-ES" sz="1350" b="0" u="none" strike="noStrike">
              <a:solidFill>
                <a:srgbClr val="000000"/>
              </a:solidFill>
              <a:effectLst/>
              <a:uFillTx/>
              <a:latin typeface="Arial"/>
            </a:endParaRPr>
          </a:p>
          <a:p>
            <a:pPr marL="1728000" lvl="3" indent="-216000">
              <a:spcBef>
                <a:spcPts val="317"/>
              </a:spcBef>
              <a:buClr>
                <a:srgbClr val="000000"/>
              </a:buClr>
              <a:buSzPct val="75000"/>
              <a:buFont typeface="Symbol" charset="2"/>
              <a:buChar char=""/>
            </a:pPr>
            <a:r>
              <a:rPr lang="es-ES" sz="1130" b="0" u="none" strike="noStrike">
                <a:solidFill>
                  <a:srgbClr val="000000"/>
                </a:solidFill>
                <a:effectLst/>
                <a:uFillTx/>
                <a:latin typeface="Arial"/>
              </a:rPr>
              <a:t>Cuarto nivel del esquema</a:t>
            </a:r>
            <a:endParaRPr lang="es-ES" sz="1130" b="0" u="none" strike="noStrike">
              <a:solidFill>
                <a:srgbClr val="000000"/>
              </a:solidFill>
              <a:effectLst/>
              <a:uFillTx/>
              <a:latin typeface="Arial"/>
            </a:endParaRPr>
          </a:p>
          <a:p>
            <a:pPr marL="2160000" lvl="4" indent="-216000">
              <a:spcBef>
                <a:spcPts val="159"/>
              </a:spcBef>
              <a:buClr>
                <a:srgbClr val="000000"/>
              </a:buClr>
              <a:buSzPct val="45000"/>
              <a:buFont typeface="Wingdings" charset="2"/>
              <a:buChar char=""/>
            </a:pPr>
            <a:r>
              <a:rPr lang="es-ES" sz="1130" b="0" u="none" strike="noStrike">
                <a:solidFill>
                  <a:srgbClr val="000000"/>
                </a:solidFill>
                <a:effectLst/>
                <a:uFillTx/>
                <a:latin typeface="Arial"/>
              </a:rPr>
              <a:t>Quinto nivel del esquema</a:t>
            </a:r>
            <a:endParaRPr lang="es-ES" sz="1130" b="0" u="none" strike="noStrike">
              <a:solidFill>
                <a:srgbClr val="000000"/>
              </a:solidFill>
              <a:effectLst/>
              <a:uFillTx/>
              <a:latin typeface="Arial"/>
            </a:endParaRPr>
          </a:p>
          <a:p>
            <a:pPr marL="2592000" lvl="5" indent="-216000">
              <a:spcBef>
                <a:spcPts val="159"/>
              </a:spcBef>
              <a:buClr>
                <a:srgbClr val="000000"/>
              </a:buClr>
              <a:buSzPct val="45000"/>
              <a:buFont typeface="Wingdings" charset="2"/>
              <a:buChar char=""/>
            </a:pPr>
            <a:r>
              <a:rPr lang="es-ES" sz="1130" b="0" u="none" strike="noStrike">
                <a:solidFill>
                  <a:srgbClr val="000000"/>
                </a:solidFill>
                <a:effectLst/>
                <a:uFillTx/>
                <a:latin typeface="Arial"/>
              </a:rPr>
              <a:t>Sexto nivel del esquema</a:t>
            </a:r>
            <a:endParaRPr lang="es-ES" sz="1130" b="0" u="none" strike="noStrike">
              <a:solidFill>
                <a:srgbClr val="000000"/>
              </a:solidFill>
              <a:effectLst/>
              <a:uFillTx/>
              <a:latin typeface="Arial"/>
            </a:endParaRPr>
          </a:p>
          <a:p>
            <a:pPr marL="3024000" lvl="6" indent="-216000">
              <a:spcBef>
                <a:spcPts val="159"/>
              </a:spcBef>
              <a:buClr>
                <a:srgbClr val="000000"/>
              </a:buClr>
              <a:buSzPct val="45000"/>
              <a:buFont typeface="Wingdings" charset="2"/>
              <a:buChar char=""/>
            </a:pPr>
            <a:r>
              <a:rPr lang="es-ES" sz="1130" b="0" u="none" strike="noStrike">
                <a:solidFill>
                  <a:srgbClr val="000000"/>
                </a:solidFill>
                <a:effectLst/>
                <a:uFillTx/>
                <a:latin typeface="Arial"/>
              </a:rPr>
              <a:t>Séptimo nivel del esquema</a:t>
            </a:r>
            <a:endParaRPr lang="es-ES" sz="113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69" name="Rectangle 1"/>
          <p:cNvSpPr/>
          <p:nvPr/>
        </p:nvSpPr>
        <p:spPr>
          <a:xfrm>
            <a:off x="0" y="360"/>
            <a:ext cx="163800" cy="685728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0" name="TextBox 2"/>
          <p:cNvSpPr/>
          <p:nvPr/>
        </p:nvSpPr>
        <p:spPr>
          <a:xfrm>
            <a:off x="776520" y="548640"/>
            <a:ext cx="1081620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000" b="0" u="none" strike="noStrike">
                <a:solidFill>
                  <a:srgbClr val="6b6550"/>
                </a:solidFill>
                <a:effectLst/>
                <a:uFillTx/>
                <a:latin typeface="Courier New"/>
              </a:rPr>
              <a:t>UIB · HCI 11755 · Final Project · June 2026</a:t>
            </a:r>
            <a:endParaRPr lang="es-ES" sz="1000" b="0" u="none" strike="noStrike">
              <a:solidFill>
                <a:srgbClr val="000000"/>
              </a:solidFill>
              <a:effectLst/>
              <a:uFillTx/>
              <a:latin typeface="Arial"/>
            </a:endParaRPr>
          </a:p>
        </p:txBody>
      </p:sp>
      <p:sp>
        <p:nvSpPr>
          <p:cNvPr id="71" name="TextBox 3"/>
          <p:cNvSpPr/>
          <p:nvPr/>
        </p:nvSpPr>
        <p:spPr>
          <a:xfrm>
            <a:off x="776520" y="1005840"/>
            <a:ext cx="3788280" cy="11869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lang="en-US" sz="7200" b="0" u="none" strike="noStrike">
                <a:solidFill>
                  <a:srgbClr val="1b1a0e"/>
                </a:solidFill>
                <a:effectLst/>
                <a:uFillTx/>
                <a:latin typeface="Georgia"/>
              </a:rPr>
              <a:t>Food</a:t>
            </a:r>
            <a:r>
              <a:rPr lang="en-US" sz="7200" b="0" i="1" u="none" strike="noStrike">
                <a:solidFill>
                  <a:srgbClr val="2c5018"/>
                </a:solidFill>
                <a:effectLst/>
                <a:uFillTx/>
                <a:latin typeface="Georgia"/>
              </a:rPr>
              <a:t>Lens</a:t>
            </a:r>
            <a:endParaRPr lang="es-ES" sz="7200" b="0" u="none" strike="noStrike">
              <a:solidFill>
                <a:srgbClr val="000000"/>
              </a:solidFill>
              <a:effectLst/>
              <a:uFillTx/>
              <a:latin typeface="Arial"/>
            </a:endParaRPr>
          </a:p>
        </p:txBody>
      </p:sp>
      <p:sp>
        <p:nvSpPr>
          <p:cNvPr id="72" name="TextBox 4"/>
          <p:cNvSpPr/>
          <p:nvPr/>
        </p:nvSpPr>
        <p:spPr>
          <a:xfrm>
            <a:off x="776520" y="2834280"/>
            <a:ext cx="731448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800" b="0" u="none" strike="noStrike">
                <a:solidFill>
                  <a:srgbClr val="6b6550"/>
                </a:solidFill>
                <a:effectLst/>
                <a:uFillTx/>
                <a:latin typeface="Calibri"/>
              </a:rPr>
              <a:t>Transparent multi-objective food recommendations via contrastive XAI</a:t>
            </a:r>
            <a:endParaRPr lang="es-ES" sz="1800" b="0" u="none" strike="noStrike">
              <a:solidFill>
                <a:srgbClr val="000000"/>
              </a:solidFill>
              <a:effectLst/>
              <a:uFillTx/>
              <a:latin typeface="Arial"/>
            </a:endParaRPr>
          </a:p>
        </p:txBody>
      </p:sp>
      <p:sp>
        <p:nvSpPr>
          <p:cNvPr id="73" name="TextBox 5"/>
          <p:cNvSpPr/>
          <p:nvPr/>
        </p:nvSpPr>
        <p:spPr>
          <a:xfrm>
            <a:off x="776520" y="3429000"/>
            <a:ext cx="7314480" cy="318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500" b="0" i="1" u="none" strike="noStrike">
                <a:solidFill>
                  <a:srgbClr val="6b6550"/>
                </a:solidFill>
                <a:effectLst/>
                <a:uFillTx/>
                <a:latin typeface="Calibri"/>
              </a:rPr>
              <a:t>Health + Eco — shown together, never averaged, always explained.</a:t>
            </a:r>
            <a:endParaRPr lang="es-ES" sz="1500" b="0" u="none" strike="noStrike">
              <a:solidFill>
                <a:srgbClr val="000000"/>
              </a:solidFill>
              <a:effectLst/>
              <a:uFillTx/>
              <a:latin typeface="Arial"/>
            </a:endParaRPr>
          </a:p>
        </p:txBody>
      </p:sp>
      <p:sp>
        <p:nvSpPr>
          <p:cNvPr id="74" name="Rectangle 6"/>
          <p:cNvSpPr/>
          <p:nvPr/>
        </p:nvSpPr>
        <p:spPr>
          <a:xfrm>
            <a:off x="776520" y="4023000"/>
            <a:ext cx="6400440" cy="1764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5" name="TextBox 7"/>
          <p:cNvSpPr/>
          <p:nvPr/>
        </p:nvSpPr>
        <p:spPr>
          <a:xfrm>
            <a:off x="776520" y="4205880"/>
            <a:ext cx="8228880" cy="1080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201"/>
              </a:spcAft>
            </a:pPr>
            <a:r>
              <a:rPr lang="en-US" sz="1500" b="0" u="none" strike="noStrike">
                <a:solidFill>
                  <a:srgbClr val="1b1a0e"/>
                </a:solidFill>
                <a:effectLst/>
                <a:uFillTx/>
                <a:latin typeface="Calibri"/>
              </a:rPr>
              <a:t>· Alejandro Bordón</a:t>
            </a:r>
            <a:endParaRPr lang="es-ES" sz="1500" b="0" u="none" strike="noStrike">
              <a:solidFill>
                <a:srgbClr val="000000"/>
              </a:solidFill>
              <a:effectLst/>
              <a:uFillTx/>
              <a:latin typeface="Arial"/>
            </a:endParaRPr>
          </a:p>
          <a:p>
            <a:pPr defTabSz="457200">
              <a:lnSpc>
                <a:spcPct val="100000"/>
              </a:lnSpc>
              <a:spcAft>
                <a:spcPts val="201"/>
              </a:spcAft>
            </a:pPr>
            <a:r>
              <a:rPr lang="en-US" sz="1500" b="0" u="none" strike="noStrike">
                <a:solidFill>
                  <a:srgbClr val="1b1a0e"/>
                </a:solidFill>
                <a:effectLst/>
                <a:uFillTx/>
                <a:latin typeface="Calibri"/>
              </a:rPr>
              <a:t>· Soufyane Youbi</a:t>
            </a:r>
            <a:endParaRPr lang="es-ES" sz="1500" b="0" u="none" strike="noStrike">
              <a:solidFill>
                <a:srgbClr val="000000"/>
              </a:solidFill>
              <a:effectLst/>
              <a:uFillTx/>
              <a:latin typeface="Arial"/>
            </a:endParaRPr>
          </a:p>
          <a:p>
            <a:pPr defTabSz="457200">
              <a:lnSpc>
                <a:spcPct val="100000"/>
              </a:lnSpc>
              <a:spcAft>
                <a:spcPts val="201"/>
              </a:spcAft>
            </a:pPr>
            <a:r>
              <a:rPr lang="en-US" sz="1500" b="0" u="none" strike="noStrike">
                <a:solidFill>
                  <a:srgbClr val="1b1a0e"/>
                </a:solidFill>
                <a:effectLst/>
                <a:uFillTx/>
                <a:latin typeface="Calibri"/>
              </a:rPr>
              <a:t>· Alejandro Rodríguez</a:t>
            </a:r>
            <a:endParaRPr lang="es-ES" sz="1500" b="0" u="none" strike="noStrike">
              <a:solidFill>
                <a:srgbClr val="000000"/>
              </a:solidFill>
              <a:effectLst/>
              <a:uFillTx/>
              <a:latin typeface="Arial"/>
            </a:endParaRPr>
          </a:p>
          <a:p>
            <a:pPr defTabSz="457200">
              <a:lnSpc>
                <a:spcPct val="100000"/>
              </a:lnSpc>
              <a:spcAft>
                <a:spcPts val="201"/>
              </a:spcAft>
            </a:pPr>
            <a:r>
              <a:rPr lang="en-US" sz="1500" b="0" u="none" strike="noStrike">
                <a:solidFill>
                  <a:srgbClr val="1b1a0e"/>
                </a:solidFill>
                <a:effectLst/>
                <a:uFillTx/>
                <a:latin typeface="Calibri"/>
              </a:rPr>
              <a:t>· Pau Girón</a:t>
            </a:r>
            <a:endParaRPr lang="es-ES" sz="1500" b="0" u="none" strike="noStrike">
              <a:solidFill>
                <a:srgbClr val="000000"/>
              </a:solidFill>
              <a:effectLst/>
              <a:uFillTx/>
              <a:latin typeface="Arial"/>
            </a:endParaRPr>
          </a:p>
        </p:txBody>
      </p:sp>
      <p:sp>
        <p:nvSpPr>
          <p:cNvPr id="76" name="TextBox 8"/>
          <p:cNvSpPr/>
          <p:nvPr/>
        </p:nvSpPr>
        <p:spPr>
          <a:xfrm>
            <a:off x="8530920" y="5851800"/>
            <a:ext cx="2925360" cy="502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900" b="0" u="none" strike="noStrike">
                <a:solidFill>
                  <a:srgbClr val="6b6550"/>
                </a:solidFill>
                <a:effectLst/>
                <a:uFillTx/>
                <a:latin typeface="Courier New"/>
              </a:rPr>
              <a:t>Course 11755 — Human-Computer Interaction</a:t>
            </a:r>
            <a:endParaRPr lang="es-ES" sz="900" b="0" u="none" strike="noStrike">
              <a:solidFill>
                <a:srgbClr val="000000"/>
              </a:solidFill>
              <a:effectLst/>
              <a:uFillTx/>
              <a:latin typeface="Arial"/>
            </a:endParaRPr>
          </a:p>
          <a:p>
            <a:pPr algn="r" defTabSz="457200">
              <a:lnSpc>
                <a:spcPct val="100000"/>
              </a:lnSpc>
            </a:pPr>
            <a:r>
              <a:rPr lang="en-US" sz="900" b="0" u="none" strike="noStrike">
                <a:solidFill>
                  <a:srgbClr val="6b6550"/>
                </a:solidFill>
                <a:effectLst/>
                <a:uFillTx/>
                <a:latin typeface="Courier New"/>
              </a:rPr>
              <a:t>MUSI-IA, UIB · June 2026</a:t>
            </a:r>
            <a:endParaRPr lang="es-E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77"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8" name="TextBox 2"/>
          <p:cNvSpPr/>
          <p:nvPr/>
        </p:nvSpPr>
        <p:spPr>
          <a:xfrm>
            <a:off x="685080" y="54864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6b6550"/>
                </a:solidFill>
                <a:effectLst/>
                <a:uFillTx/>
                <a:latin typeface="Courier New"/>
              </a:rPr>
              <a:t>Overview</a:t>
            </a:r>
            <a:endParaRPr lang="es-ES" sz="1100" b="0" u="none" strike="noStrike">
              <a:solidFill>
                <a:srgbClr val="000000"/>
              </a:solidFill>
              <a:effectLst/>
              <a:uFillTx/>
              <a:latin typeface="Arial"/>
            </a:endParaRPr>
          </a:p>
        </p:txBody>
      </p:sp>
      <p:sp>
        <p:nvSpPr>
          <p:cNvPr id="79" name="TextBox 3"/>
          <p:cNvSpPr/>
          <p:nvPr/>
        </p:nvSpPr>
        <p:spPr>
          <a:xfrm>
            <a:off x="685080" y="914400"/>
            <a:ext cx="54860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0" u="none" strike="noStrike">
                <a:solidFill>
                  <a:srgbClr val="1b1a0e"/>
                </a:solidFill>
                <a:effectLst/>
                <a:uFillTx/>
                <a:latin typeface="Georgia"/>
              </a:rPr>
              <a:t>Outline</a:t>
            </a:r>
            <a:endParaRPr lang="es-ES" sz="3600" b="0" u="none" strike="noStrike">
              <a:solidFill>
                <a:srgbClr val="000000"/>
              </a:solidFill>
              <a:effectLst/>
              <a:uFillTx/>
              <a:latin typeface="Arial"/>
            </a:endParaRPr>
          </a:p>
        </p:txBody>
      </p:sp>
      <p:sp>
        <p:nvSpPr>
          <p:cNvPr id="80" name="Rectangle 4"/>
          <p:cNvSpPr/>
          <p:nvPr/>
        </p:nvSpPr>
        <p:spPr>
          <a:xfrm>
            <a:off x="685080" y="1919880"/>
            <a:ext cx="456840" cy="676080"/>
          </a:xfrm>
          <a:prstGeom prst="rect">
            <a:avLst/>
          </a:prstGeom>
          <a:solidFill>
            <a:srgbClr val="ece7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1" name="TextBox 5"/>
          <p:cNvSpPr/>
          <p:nvPr/>
        </p:nvSpPr>
        <p:spPr>
          <a:xfrm>
            <a:off x="731160" y="1956600"/>
            <a:ext cx="36540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100" b="0" u="none" strike="noStrike">
                <a:solidFill>
                  <a:srgbClr val="2c5018"/>
                </a:solidFill>
                <a:effectLst/>
                <a:uFillTx/>
                <a:latin typeface="Courier New"/>
              </a:rPr>
              <a:t>1</a:t>
            </a:r>
            <a:endParaRPr lang="es-ES" sz="1100" b="0" u="none" strike="noStrike">
              <a:solidFill>
                <a:srgbClr val="000000"/>
              </a:solidFill>
              <a:effectLst/>
              <a:uFillTx/>
              <a:latin typeface="Arial"/>
            </a:endParaRPr>
          </a:p>
        </p:txBody>
      </p:sp>
      <p:sp>
        <p:nvSpPr>
          <p:cNvPr id="82" name="Rectangle 6"/>
          <p:cNvSpPr/>
          <p:nvPr/>
        </p:nvSpPr>
        <p:spPr>
          <a:xfrm>
            <a:off x="1161000" y="2285640"/>
            <a:ext cx="10341000" cy="828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6000" bIns="-36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3" name="TextBox 7"/>
          <p:cNvSpPr/>
          <p:nvPr/>
        </p:nvSpPr>
        <p:spPr>
          <a:xfrm>
            <a:off x="1280160" y="1956600"/>
            <a:ext cx="1022220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1b1a0e"/>
                </a:solidFill>
                <a:effectLst/>
                <a:uFillTx/>
                <a:latin typeface="Calibri"/>
              </a:rPr>
              <a:t>**Design process &amp; rationale**</a:t>
            </a:r>
            <a:endParaRPr lang="es-ES" sz="1700" b="0" u="none" strike="noStrike">
              <a:solidFill>
                <a:srgbClr val="000000"/>
              </a:solidFill>
              <a:effectLst/>
              <a:uFillTx/>
              <a:latin typeface="Arial"/>
            </a:endParaRPr>
          </a:p>
        </p:txBody>
      </p:sp>
      <p:sp>
        <p:nvSpPr>
          <p:cNvPr id="84" name="Rectangle 8"/>
          <p:cNvSpPr/>
          <p:nvPr/>
        </p:nvSpPr>
        <p:spPr>
          <a:xfrm>
            <a:off x="685080" y="2651400"/>
            <a:ext cx="456840" cy="676080"/>
          </a:xfrm>
          <a:prstGeom prst="rect">
            <a:avLst/>
          </a:prstGeom>
          <a:solidFill>
            <a:srgbClr val="ece7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5" name="TextBox 9"/>
          <p:cNvSpPr/>
          <p:nvPr/>
        </p:nvSpPr>
        <p:spPr>
          <a:xfrm>
            <a:off x="731160" y="2688480"/>
            <a:ext cx="36540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100" b="0" u="none" strike="noStrike">
                <a:solidFill>
                  <a:srgbClr val="2c5018"/>
                </a:solidFill>
                <a:effectLst/>
                <a:uFillTx/>
                <a:latin typeface="Courier New"/>
              </a:rPr>
              <a:t>2</a:t>
            </a:r>
            <a:endParaRPr lang="es-ES" sz="1100" b="0" u="none" strike="noStrike">
              <a:solidFill>
                <a:srgbClr val="000000"/>
              </a:solidFill>
              <a:effectLst/>
              <a:uFillTx/>
              <a:latin typeface="Arial"/>
            </a:endParaRPr>
          </a:p>
        </p:txBody>
      </p:sp>
      <p:sp>
        <p:nvSpPr>
          <p:cNvPr id="86" name="Rectangle 10"/>
          <p:cNvSpPr/>
          <p:nvPr/>
        </p:nvSpPr>
        <p:spPr>
          <a:xfrm>
            <a:off x="1161000" y="3017160"/>
            <a:ext cx="10341000" cy="828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6000" bIns="-36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7" name="TextBox 11"/>
          <p:cNvSpPr/>
          <p:nvPr/>
        </p:nvSpPr>
        <p:spPr>
          <a:xfrm>
            <a:off x="1280160" y="2688480"/>
            <a:ext cx="1022220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1b1a0e"/>
                </a:solidFill>
                <a:effectLst/>
                <a:uFillTx/>
                <a:latin typeface="Calibri"/>
              </a:rPr>
              <a:t>**XAI methods selection**</a:t>
            </a:r>
            <a:endParaRPr lang="es-ES" sz="1700" b="0" u="none" strike="noStrike">
              <a:solidFill>
                <a:srgbClr val="000000"/>
              </a:solidFill>
              <a:effectLst/>
              <a:uFillTx/>
              <a:latin typeface="Arial"/>
            </a:endParaRPr>
          </a:p>
        </p:txBody>
      </p:sp>
      <p:sp>
        <p:nvSpPr>
          <p:cNvPr id="88" name="Rectangle 12"/>
          <p:cNvSpPr/>
          <p:nvPr/>
        </p:nvSpPr>
        <p:spPr>
          <a:xfrm>
            <a:off x="685080" y="3382920"/>
            <a:ext cx="456840" cy="676080"/>
          </a:xfrm>
          <a:prstGeom prst="rect">
            <a:avLst/>
          </a:prstGeom>
          <a:solidFill>
            <a:srgbClr val="ece7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9" name="TextBox 13"/>
          <p:cNvSpPr/>
          <p:nvPr/>
        </p:nvSpPr>
        <p:spPr>
          <a:xfrm>
            <a:off x="731160" y="3420000"/>
            <a:ext cx="36540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100" b="0" u="none" strike="noStrike">
                <a:solidFill>
                  <a:srgbClr val="2c5018"/>
                </a:solidFill>
                <a:effectLst/>
                <a:uFillTx/>
                <a:latin typeface="Courier New"/>
              </a:rPr>
              <a:t>3</a:t>
            </a:r>
            <a:endParaRPr lang="es-ES" sz="1100" b="0" u="none" strike="noStrike">
              <a:solidFill>
                <a:srgbClr val="000000"/>
              </a:solidFill>
              <a:effectLst/>
              <a:uFillTx/>
              <a:latin typeface="Arial"/>
            </a:endParaRPr>
          </a:p>
        </p:txBody>
      </p:sp>
      <p:sp>
        <p:nvSpPr>
          <p:cNvPr id="90" name="Rectangle 14"/>
          <p:cNvSpPr/>
          <p:nvPr/>
        </p:nvSpPr>
        <p:spPr>
          <a:xfrm>
            <a:off x="1161000" y="3748680"/>
            <a:ext cx="10341000" cy="828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6000" bIns="-36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1" name="TextBox 15"/>
          <p:cNvSpPr/>
          <p:nvPr/>
        </p:nvSpPr>
        <p:spPr>
          <a:xfrm>
            <a:off x="1280160" y="3420000"/>
            <a:ext cx="1022220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1b1a0e"/>
                </a:solidFill>
                <a:effectLst/>
                <a:uFillTx/>
                <a:latin typeface="Calibri"/>
              </a:rPr>
              <a:t>**Key insights from user testing**</a:t>
            </a:r>
            <a:endParaRPr lang="es-ES" sz="1700" b="0" u="none" strike="noStrike">
              <a:solidFill>
                <a:srgbClr val="000000"/>
              </a:solidFill>
              <a:effectLst/>
              <a:uFillTx/>
              <a:latin typeface="Arial"/>
            </a:endParaRPr>
          </a:p>
        </p:txBody>
      </p:sp>
      <p:sp>
        <p:nvSpPr>
          <p:cNvPr id="92" name="Rectangle 16"/>
          <p:cNvSpPr/>
          <p:nvPr/>
        </p:nvSpPr>
        <p:spPr>
          <a:xfrm>
            <a:off x="685080" y="4114440"/>
            <a:ext cx="456840" cy="676080"/>
          </a:xfrm>
          <a:prstGeom prst="rect">
            <a:avLst/>
          </a:prstGeom>
          <a:solidFill>
            <a:srgbClr val="ece7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3" name="TextBox 17"/>
          <p:cNvSpPr/>
          <p:nvPr/>
        </p:nvSpPr>
        <p:spPr>
          <a:xfrm>
            <a:off x="731160" y="4151160"/>
            <a:ext cx="36540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100" b="0" u="none" strike="noStrike">
                <a:solidFill>
                  <a:srgbClr val="2c5018"/>
                </a:solidFill>
                <a:effectLst/>
                <a:uFillTx/>
                <a:latin typeface="Courier New"/>
              </a:rPr>
              <a:t>4</a:t>
            </a:r>
            <a:endParaRPr lang="es-ES" sz="1100" b="0" u="none" strike="noStrike">
              <a:solidFill>
                <a:srgbClr val="000000"/>
              </a:solidFill>
              <a:effectLst/>
              <a:uFillTx/>
              <a:latin typeface="Arial"/>
            </a:endParaRPr>
          </a:p>
        </p:txBody>
      </p:sp>
      <p:sp>
        <p:nvSpPr>
          <p:cNvPr id="94" name="Rectangle 18"/>
          <p:cNvSpPr/>
          <p:nvPr/>
        </p:nvSpPr>
        <p:spPr>
          <a:xfrm>
            <a:off x="1161000" y="4480200"/>
            <a:ext cx="10341000" cy="828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6000" bIns="-36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5" name="TextBox 19"/>
          <p:cNvSpPr/>
          <p:nvPr/>
        </p:nvSpPr>
        <p:spPr>
          <a:xfrm>
            <a:off x="1280160" y="4151160"/>
            <a:ext cx="1022220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1b1a0e"/>
                </a:solidFill>
                <a:effectLst/>
                <a:uFillTx/>
                <a:latin typeface="Calibri"/>
              </a:rPr>
              <a:t>**Technical &amp; design challenges**</a:t>
            </a:r>
            <a:endParaRPr lang="es-ES" sz="1700" b="0" u="none" strike="noStrike">
              <a:solidFill>
                <a:srgbClr val="000000"/>
              </a:solidFill>
              <a:effectLst/>
              <a:uFillTx/>
              <a:latin typeface="Arial"/>
            </a:endParaRPr>
          </a:p>
        </p:txBody>
      </p:sp>
      <p:sp>
        <p:nvSpPr>
          <p:cNvPr id="96" name="Rectangle 20"/>
          <p:cNvSpPr/>
          <p:nvPr/>
        </p:nvSpPr>
        <p:spPr>
          <a:xfrm>
            <a:off x="685080" y="4845960"/>
            <a:ext cx="456840" cy="676080"/>
          </a:xfrm>
          <a:prstGeom prst="rect">
            <a:avLst/>
          </a:prstGeom>
          <a:solidFill>
            <a:srgbClr val="ece7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7" name="TextBox 21"/>
          <p:cNvSpPr/>
          <p:nvPr/>
        </p:nvSpPr>
        <p:spPr>
          <a:xfrm>
            <a:off x="731160" y="4883040"/>
            <a:ext cx="36540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100" b="0" u="none" strike="noStrike">
                <a:solidFill>
                  <a:srgbClr val="2c5018"/>
                </a:solidFill>
                <a:effectLst/>
                <a:uFillTx/>
                <a:latin typeface="Courier New"/>
              </a:rPr>
              <a:t>5</a:t>
            </a:r>
            <a:endParaRPr lang="es-ES" sz="1100" b="0" u="none" strike="noStrike">
              <a:solidFill>
                <a:srgbClr val="000000"/>
              </a:solidFill>
              <a:effectLst/>
              <a:uFillTx/>
              <a:latin typeface="Arial"/>
            </a:endParaRPr>
          </a:p>
        </p:txBody>
      </p:sp>
      <p:sp>
        <p:nvSpPr>
          <p:cNvPr id="98" name="Rectangle 22"/>
          <p:cNvSpPr/>
          <p:nvPr/>
        </p:nvSpPr>
        <p:spPr>
          <a:xfrm>
            <a:off x="1161000" y="5211720"/>
            <a:ext cx="10341000" cy="828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6000" bIns="-36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9" name="TextBox 23"/>
          <p:cNvSpPr/>
          <p:nvPr/>
        </p:nvSpPr>
        <p:spPr>
          <a:xfrm>
            <a:off x="1280160" y="4883040"/>
            <a:ext cx="1022220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1b1a0e"/>
                </a:solidFill>
                <a:effectLst/>
                <a:uFillTx/>
                <a:latin typeface="Calibri"/>
              </a:rPr>
              <a:t>**Live demonstration of the dashboard**</a:t>
            </a:r>
            <a:endParaRPr lang="es-ES" sz="1700" b="0" u="none" strike="noStrike">
              <a:solidFill>
                <a:srgbClr val="000000"/>
              </a:solidFill>
              <a:effectLst/>
              <a:uFillTx/>
              <a:latin typeface="Arial"/>
            </a:endParaRPr>
          </a:p>
        </p:txBody>
      </p:sp>
      <p:sp>
        <p:nvSpPr>
          <p:cNvPr id="100" name="Rectangle 24"/>
          <p:cNvSpPr/>
          <p:nvPr/>
        </p:nvSpPr>
        <p:spPr>
          <a:xfrm>
            <a:off x="685080" y="5577480"/>
            <a:ext cx="456840" cy="676080"/>
          </a:xfrm>
          <a:prstGeom prst="rect">
            <a:avLst/>
          </a:prstGeom>
          <a:solidFill>
            <a:srgbClr val="ece7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1" name="TextBox 25"/>
          <p:cNvSpPr/>
          <p:nvPr/>
        </p:nvSpPr>
        <p:spPr>
          <a:xfrm>
            <a:off x="731160" y="5614560"/>
            <a:ext cx="365400" cy="257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n-US" sz="1100" b="0" u="none" strike="noStrike">
                <a:solidFill>
                  <a:srgbClr val="2c5018"/>
                </a:solidFill>
                <a:effectLst/>
                <a:uFillTx/>
                <a:latin typeface="Courier New"/>
              </a:rPr>
              <a:t>6</a:t>
            </a:r>
            <a:endParaRPr lang="es-ES" sz="1100" b="0" u="none" strike="noStrike">
              <a:solidFill>
                <a:srgbClr val="000000"/>
              </a:solidFill>
              <a:effectLst/>
              <a:uFillTx/>
              <a:latin typeface="Arial"/>
            </a:endParaRPr>
          </a:p>
        </p:txBody>
      </p:sp>
      <p:sp>
        <p:nvSpPr>
          <p:cNvPr id="102" name="Rectangle 26"/>
          <p:cNvSpPr/>
          <p:nvPr/>
        </p:nvSpPr>
        <p:spPr>
          <a:xfrm>
            <a:off x="1161000" y="5943240"/>
            <a:ext cx="10341000" cy="828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6000" bIns="-36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3" name="TextBox 27"/>
          <p:cNvSpPr/>
          <p:nvPr/>
        </p:nvSpPr>
        <p:spPr>
          <a:xfrm>
            <a:off x="1280160" y="5614560"/>
            <a:ext cx="1022220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700" b="0" u="none" strike="noStrike">
                <a:solidFill>
                  <a:srgbClr val="1b1a0e"/>
                </a:solidFill>
                <a:effectLst/>
                <a:uFillTx/>
                <a:latin typeface="Calibri"/>
              </a:rPr>
              <a:t>**Lessons learned &amp; future improvements**</a:t>
            </a:r>
            <a:endParaRPr lang="es-E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5018"/>
        </a:solidFill>
      </p:bgPr>
    </p:bg>
    <p:spTree>
      <p:nvGrpSpPr>
        <p:cNvPr id="1" name=""/>
        <p:cNvGrpSpPr/>
        <p:nvPr/>
      </p:nvGrpSpPr>
      <p:grpSpPr>
        <a:xfrm>
          <a:off x="0" y="0"/>
          <a:ext cx="0" cy="0"/>
          <a:chOff x="0" y="0"/>
          <a:chExt cx="0" cy="0"/>
        </a:xfrm>
      </p:grpSpPr>
      <p:sp>
        <p:nvSpPr>
          <p:cNvPr id="104" name="TextBox 1"/>
          <p:cNvSpPr/>
          <p:nvPr/>
        </p:nvSpPr>
        <p:spPr>
          <a:xfrm>
            <a:off x="8988120" y="3657240"/>
            <a:ext cx="2742480" cy="2832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lang="en-US" sz="18000" b="0" u="none" strike="noStrike">
                <a:solidFill>
                  <a:srgbClr val="4a7a2a"/>
                </a:solidFill>
                <a:effectLst/>
                <a:uFillTx/>
                <a:latin typeface="Georgia"/>
              </a:rPr>
              <a:t>1</a:t>
            </a:r>
            <a:endParaRPr lang="es-ES" sz="18000" b="0" u="none" strike="noStrike">
              <a:solidFill>
                <a:srgbClr val="ffffff"/>
              </a:solidFill>
              <a:effectLst/>
              <a:uFillTx/>
              <a:latin typeface="Arial"/>
            </a:endParaRPr>
          </a:p>
        </p:txBody>
      </p:sp>
      <p:sp>
        <p:nvSpPr>
          <p:cNvPr id="105" name="TextBox 2"/>
          <p:cNvSpPr/>
          <p:nvPr/>
        </p:nvSpPr>
        <p:spPr>
          <a:xfrm>
            <a:off x="685080" y="82260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aacc88"/>
                </a:solidFill>
                <a:effectLst/>
                <a:uFillTx/>
                <a:latin typeface="Courier New"/>
              </a:rPr>
              <a:t>Section 1</a:t>
            </a:r>
            <a:endParaRPr lang="es-ES" sz="1100" b="0" u="none" strike="noStrike">
              <a:solidFill>
                <a:srgbClr val="ffffff"/>
              </a:solidFill>
              <a:effectLst/>
              <a:uFillTx/>
              <a:latin typeface="Arial"/>
            </a:endParaRPr>
          </a:p>
        </p:txBody>
      </p:sp>
      <p:sp>
        <p:nvSpPr>
          <p:cNvPr id="106" name="TextBox 3"/>
          <p:cNvSpPr/>
          <p:nvPr/>
        </p:nvSpPr>
        <p:spPr>
          <a:xfrm>
            <a:off x="685080" y="1371600"/>
            <a:ext cx="822888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4800" b="0" u="none" strike="noStrike">
                <a:solidFill>
                  <a:srgbClr val="faf8f0"/>
                </a:solidFill>
                <a:effectLst/>
                <a:uFillTx/>
                <a:latin typeface="Georgia"/>
              </a:rPr>
              <a:t>Design process</a:t>
            </a:r>
            <a:endParaRPr lang="es-ES" sz="4800" b="0" u="none" strike="noStrike">
              <a:solidFill>
                <a:srgbClr val="ffffff"/>
              </a:solidFill>
              <a:effectLst/>
              <a:uFillTx/>
              <a:latin typeface="Arial"/>
            </a:endParaRPr>
          </a:p>
          <a:p>
            <a:pPr defTabSz="457200">
              <a:lnSpc>
                <a:spcPct val="100000"/>
              </a:lnSpc>
            </a:pPr>
            <a:r>
              <a:rPr lang="en-US" sz="4800" b="0" i="1" u="none" strike="noStrike">
                <a:solidFill>
                  <a:srgbClr val="cceeaa"/>
                </a:solidFill>
                <a:effectLst/>
                <a:uFillTx/>
                <a:latin typeface="Georgia"/>
              </a:rPr>
              <a:t>&amp; rationale</a:t>
            </a:r>
            <a:endParaRPr lang="es-E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07"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8"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WA3 discovery: research before code</a:t>
            </a:r>
            <a:endParaRPr lang="es-ES" sz="3000" b="0" u="none" strike="noStrike">
              <a:solidFill>
                <a:srgbClr val="000000"/>
              </a:solidFill>
              <a:effectLst/>
              <a:uFillTx/>
              <a:latin typeface="Arial"/>
            </a:endParaRPr>
          </a:p>
        </p:txBody>
      </p:sp>
      <p:sp>
        <p:nvSpPr>
          <p:cNvPr id="109" name="TextBox 3"/>
          <p:cNvSpPr/>
          <p:nvPr/>
        </p:nvSpPr>
        <p:spPr>
          <a:xfrm>
            <a:off x="685080" y="1554480"/>
            <a:ext cx="10816200" cy="2108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601"/>
              </a:spcBef>
            </a:pPr>
            <a:r>
              <a:rPr lang="en-US" sz="1500" b="0" u="none" strike="noStrike">
                <a:solidFill>
                  <a:srgbClr val="1b1a0e"/>
                </a:solidFill>
                <a:effectLst/>
                <a:uFillTx/>
                <a:latin typeface="Calibri"/>
              </a:rPr>
              <a:t>We ran </a:t>
            </a:r>
            <a:r>
              <a:rPr lang="en-US" sz="1500" b="1" u="none" strike="noStrike">
                <a:solidFill>
                  <a:srgbClr val="1b1a0e"/>
                </a:solidFill>
                <a:effectLst/>
                <a:uFillTx/>
                <a:latin typeface="Calibri"/>
              </a:rPr>
              <a:t>six semi-structured interviews</a:t>
            </a:r>
            <a:r>
              <a:rPr lang="en-US" sz="1500" b="0" u="none" strike="noStrike">
                <a:solidFill>
                  <a:srgbClr val="1b1a0e"/>
                </a:solidFill>
                <a:effectLst/>
                <a:uFillTx/>
                <a:latin typeface="Calibri"/>
              </a:rPr>
              <a:t> with people who make real grocery decisions — from a 20-year-old student to a 41-year-old designer on a quasi-vegetarian diet.</a:t>
            </a:r>
            <a:endParaRPr lang="es-ES" sz="15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Protocol kept </a:t>
            </a:r>
            <a:r>
              <a:rPr lang="en-US" sz="1600" b="1" u="none" strike="noStrike">
                <a:solidFill>
                  <a:srgbClr val="1b1a0e"/>
                </a:solidFill>
                <a:effectLst/>
                <a:uFillTx/>
                <a:latin typeface="Calibri"/>
              </a:rPr>
              <a:t>context exploration separate from XAI concepts</a:t>
            </a:r>
            <a:r>
              <a:rPr lang="en-US" sz="1600" b="0" u="none" strike="noStrike">
                <a:solidFill>
                  <a:srgbClr val="1b1a0e"/>
                </a:solidFill>
                <a:effectLst/>
                <a:uFillTx/>
                <a:latin typeface="Calibri"/>
              </a:rPr>
              <a:t> to avoid leading questions</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Thematic analysis (Braun &amp; Clarke): </a:t>
            </a:r>
            <a:r>
              <a:rPr lang="en-US" sz="1600" b="1" u="none" strike="noStrike">
                <a:solidFill>
                  <a:srgbClr val="1b1a0e"/>
                </a:solidFill>
                <a:effectLst/>
                <a:uFillTx/>
                <a:latin typeface="Calibri"/>
              </a:rPr>
              <a:t>47 codes -&gt; 5 Key Insights</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The asymmetry we found: </a:t>
            </a:r>
            <a:r>
              <a:rPr lang="en-US" sz="1600" b="1" u="none" strike="noStrike">
                <a:solidFill>
                  <a:srgbClr val="1b1a0e"/>
                </a:solidFill>
                <a:effectLst/>
                <a:uFillTx/>
                <a:latin typeface="Calibri"/>
              </a:rPr>
              <a:t>health is a label you read in passing; ecology is buried in a database</a:t>
            </a:r>
            <a:r>
              <a:rPr lang="en-US" sz="1600" b="0" u="none" strike="noStrike">
                <a:solidFill>
                  <a:srgbClr val="1b1a0e"/>
                </a:solidFill>
                <a:effectLst/>
                <a:uFillTx/>
                <a:latin typeface="Calibri"/>
              </a:rPr>
              <a:t> — and the conflicts between them are surfaced nowhere</a:t>
            </a:r>
            <a:endParaRPr lang="es-ES" sz="1600" b="0" u="none" strike="noStrike">
              <a:solidFill>
                <a:srgbClr val="000000"/>
              </a:solidFill>
              <a:effectLst/>
              <a:uFillTx/>
              <a:latin typeface="Arial"/>
            </a:endParaRPr>
          </a:p>
          <a:p>
            <a:pPr defTabSz="457200">
              <a:lnSpc>
                <a:spcPct val="100000"/>
              </a:lnSpc>
              <a:spcBef>
                <a:spcPts val="601"/>
              </a:spcBef>
            </a:pPr>
            <a:r>
              <a:rPr lang="en-US" sz="1500" b="0" u="none" strike="noStrike">
                <a:solidFill>
                  <a:srgbClr val="1b1a0e"/>
                </a:solidFill>
                <a:effectLst/>
                <a:uFillTx/>
                <a:latin typeface="Calibri"/>
              </a:rPr>
              <a:t>Every feature we shipped traces back to one of those insights. Nothing was designed by intuition alone.</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10"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1"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The five Key Insights</a:t>
            </a:r>
            <a:endParaRPr lang="es-ES" sz="3000" b="0" u="none" strike="noStrike">
              <a:solidFill>
                <a:srgbClr val="000000"/>
              </a:solidFill>
              <a:effectLst/>
              <a:uFillTx/>
              <a:latin typeface="Arial"/>
            </a:endParaRPr>
          </a:p>
        </p:txBody>
      </p:sp>
      <p:sp>
        <p:nvSpPr>
          <p:cNvPr id="112" name="TextBox 3"/>
          <p:cNvSpPr/>
          <p:nvPr/>
        </p:nvSpPr>
        <p:spPr>
          <a:xfrm>
            <a:off x="685080" y="1554120"/>
            <a:ext cx="10816200" cy="171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KI-1 — Visible reasoning is a prerequisite for trust.</a:t>
            </a:r>
            <a:r>
              <a:rPr lang="en-US" sz="1600" b="0" u="none" strike="noStrike">
                <a:solidFill>
                  <a:srgbClr val="1b1a0e"/>
                </a:solidFill>
                <a:effectLst/>
                <a:uFillTx/>
                <a:latin typeface="Calibri"/>
              </a:rPr>
              <a:t> An opaque score reads as marketing. Never hide the "why".</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KI-2 — The value-action gap is contextual.</a:t>
            </a:r>
            <a:r>
              <a:rPr lang="en-US" sz="1600" b="0" u="none" strike="noStrike">
                <a:solidFill>
                  <a:srgbClr val="1b1a0e"/>
                </a:solidFill>
                <a:effectLst/>
                <a:uFillTx/>
                <a:latin typeface="Calibri"/>
              </a:rPr>
              <a:t> Time, budget, fatigue override good intentions. Never moralise.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KI-3 — Single-axis labels create axis blindness.</a:t>
            </a:r>
            <a:r>
              <a:rPr lang="en-US" sz="1600" b="0" u="none" strike="noStrike">
                <a:solidFill>
                  <a:srgbClr val="1b1a0e"/>
                </a:solidFill>
                <a:effectLst/>
                <a:uFillTx/>
                <a:latin typeface="Calibri"/>
              </a:rPr>
              <a:t> A soda outscoring juice; water-hungry almonds looking "healthy".</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KI-4 — Contrastive framing turns explanations into decisions.</a:t>
            </a:r>
            <a:r>
              <a:rPr lang="en-US" sz="1600" b="0" u="none" strike="noStrike">
                <a:solidFill>
                  <a:srgbClr val="1b1a0e"/>
                </a:solidFill>
                <a:effectLst/>
                <a:uFillTx/>
                <a:latin typeface="Calibri"/>
              </a:rPr>
              <a:t> "30% less sugar than yours" beats "70/100".</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KI-5 — Tolerance for configuration varies widely.</a:t>
            </a:r>
            <a:r>
              <a:rPr lang="en-US" sz="1600" b="0" u="none" strike="noStrike">
                <a:solidFill>
                  <a:srgbClr val="1b1a0e"/>
                </a:solidFill>
                <a:effectLst/>
                <a:uFillTx/>
                <a:latin typeface="Calibri"/>
              </a:rPr>
              <a:t> Sensible default, presets, advanced slider behind progressive disclosure.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13"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4"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From insights to seven Design Hooks</a:t>
            </a:r>
            <a:endParaRPr lang="es-ES" sz="3000" b="0" u="none" strike="noStrike">
              <a:solidFill>
                <a:srgbClr val="000000"/>
              </a:solidFill>
              <a:effectLst/>
              <a:uFillTx/>
              <a:latin typeface="Arial"/>
            </a:endParaRPr>
          </a:p>
        </p:txBody>
      </p:sp>
      <p:graphicFrame>
        <p:nvGraphicFramePr>
          <p:cNvPr id="115" name="Table 3"/>
          <p:cNvGraphicFramePr/>
          <p:nvPr/>
        </p:nvGraphicFramePr>
        <p:xfrm>
          <a:off x="685080" y="1554120"/>
          <a:ext cx="10817280" cy="3070080"/>
        </p:xfrm>
        <a:graphic>
          <a:graphicData uri="http://schemas.openxmlformats.org/drawingml/2006/table">
            <a:tbl>
              <a:tblPr/>
              <a:tblGrid>
                <a:gridCol w="1280160"/>
                <a:gridCol w="9537120"/>
              </a:tblGrid>
              <a:tr h="383760">
                <a:tc>
                  <a:txBody>
                    <a:bodyPr anchor="t">
                      <a:noAutofit/>
                    </a:bodyPr>
                    <a:p>
                      <a:pPr defTabSz="457200">
                        <a:lnSpc>
                          <a:spcPct val="100000"/>
                        </a:lnSpc>
                      </a:pPr>
                      <a:r>
                        <a:rPr lang="en-US" sz="1200" b="1" u="none" strike="noStrike">
                          <a:solidFill>
                            <a:srgbClr val="faf8f0"/>
                          </a:solidFill>
                          <a:effectLst/>
                          <a:uFillTx/>
                          <a:latin typeface="Calibri"/>
                        </a:rPr>
                        <a:t>Hook</a:t>
                      </a:r>
                      <a:endParaRPr lang="es-ES"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c5018"/>
                    </a:solidFill>
                  </a:tcPr>
                </a:tc>
                <a:tc>
                  <a:txBody>
                    <a:bodyPr anchor="t">
                      <a:noAutofit/>
                    </a:bodyPr>
                    <a:p>
                      <a:pPr defTabSz="457200">
                        <a:lnSpc>
                          <a:spcPct val="100000"/>
                        </a:lnSpc>
                      </a:pPr>
                      <a:r>
                        <a:rPr lang="en-US" sz="1200" b="1" u="none" strike="noStrike">
                          <a:solidFill>
                            <a:srgbClr val="faf8f0"/>
                          </a:solidFill>
                          <a:effectLst/>
                          <a:uFillTx/>
                          <a:latin typeface="Calibri"/>
                        </a:rPr>
                        <a:t>Rule it enforces</a:t>
                      </a:r>
                      <a:endParaRPr lang="es-ES"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c5018"/>
                    </a:solidFill>
                  </a:tcPr>
                </a:tc>
              </a:tr>
              <a:tr h="383760">
                <a:tc>
                  <a:txBody>
                    <a:bodyPr anchor="t">
                      <a:noAutofit/>
                    </a:bodyPr>
                    <a:p>
                      <a:pPr defTabSz="457200">
                        <a:lnSpc>
                          <a:spcPct val="100000"/>
                        </a:lnSpc>
                      </a:pPr>
                      <a:r>
                        <a:rPr lang="en-US" sz="1200" b="1" u="none" strike="noStrike">
                          <a:solidFill>
                            <a:srgbClr val="2c5018"/>
                          </a:solidFill>
                          <a:effectLst/>
                          <a:uFillTx/>
                          <a:latin typeface="Calibri"/>
                        </a:rPr>
                        <a:t>H1</a:t>
                      </a:r>
                      <a:endParaRPr lang="es-E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c>
                  <a:txBody>
                    <a:bodyPr anchor="t">
                      <a:noAutofit/>
                    </a:bodyPr>
                    <a:p>
                      <a:pPr defTabSz="457200">
                        <a:lnSpc>
                          <a:spcPct val="100000"/>
                        </a:lnSpc>
                      </a:pPr>
                      <a:r>
                        <a:rPr lang="en-US" sz="1100" b="0" u="none" strike="noStrike">
                          <a:solidFill>
                            <a:srgbClr val="1b1a0e"/>
                          </a:solidFill>
                          <a:effectLst/>
                          <a:uFillTx/>
                          <a:latin typeface="Calibri"/>
                        </a:rPr>
                        <a:t>Dual-axis default — eco badge never hidden, even "no data" renders with a caption</a:t>
                      </a:r>
                      <a:endParaRPr lang="es-E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r>
              <a:tr h="383760">
                <a:tc>
                  <a:txBody>
                    <a:bodyPr anchor="t">
                      <a:noAutofit/>
                    </a:bodyPr>
                    <a:p>
                      <a:pPr defTabSz="457200">
                        <a:lnSpc>
                          <a:spcPct val="100000"/>
                        </a:lnSpc>
                      </a:pPr>
                      <a:r>
                        <a:rPr lang="en-US" sz="1200" b="1" u="none" strike="noStrike">
                          <a:solidFill>
                            <a:srgbClr val="2c5018"/>
                          </a:solidFill>
                          <a:effectLst/>
                          <a:uFillTx/>
                          <a:latin typeface="Calibri"/>
                        </a:rPr>
                        <a:t>H2</a:t>
                      </a:r>
                      <a:endParaRPr lang="es-E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ed8"/>
                    </a:solidFill>
                  </a:tcPr>
                </a:tc>
                <a:tc>
                  <a:txBody>
                    <a:bodyPr anchor="t">
                      <a:noAutofit/>
                    </a:bodyPr>
                    <a:p>
                      <a:pPr defTabSz="457200">
                        <a:lnSpc>
                          <a:spcPct val="100000"/>
                        </a:lnSpc>
                      </a:pPr>
                      <a:r>
                        <a:rPr lang="en-US" sz="1100" b="0" u="none" strike="noStrike">
                          <a:solidFill>
                            <a:srgbClr val="1b1a0e"/>
                          </a:solidFill>
                          <a:effectLst/>
                          <a:uFillTx/>
                          <a:latin typeface="Calibri"/>
                        </a:rPr>
                        <a:t>Reasoning IS the recommendation — contrastive sentence open by default</a:t>
                      </a:r>
                      <a:endParaRPr lang="es-E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ed8"/>
                    </a:solidFill>
                  </a:tcPr>
                </a:tc>
              </a:tr>
              <a:tr h="383760">
                <a:tc>
                  <a:txBody>
                    <a:bodyPr anchor="t">
                      <a:noAutofit/>
                    </a:bodyPr>
                    <a:p>
                      <a:pPr defTabSz="457200">
                        <a:lnSpc>
                          <a:spcPct val="100000"/>
                        </a:lnSpc>
                      </a:pPr>
                      <a:r>
                        <a:rPr lang="en-US" sz="1200" b="1" u="none" strike="noStrike">
                          <a:solidFill>
                            <a:srgbClr val="2c5018"/>
                          </a:solidFill>
                          <a:effectLst/>
                          <a:uFillTx/>
                          <a:latin typeface="Calibri"/>
                        </a:rPr>
                        <a:t>H3</a:t>
                      </a:r>
                      <a:endParaRPr lang="es-E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c>
                  <a:txBody>
                    <a:bodyPr anchor="t">
                      <a:noAutofit/>
                    </a:bodyPr>
                    <a:p>
                      <a:pPr defTabSz="457200">
                        <a:lnSpc>
                          <a:spcPct val="100000"/>
                        </a:lnSpc>
                      </a:pPr>
                      <a:r>
                        <a:rPr lang="en-US" sz="1100" b="0" u="none" strike="noStrike">
                          <a:solidFill>
                            <a:srgbClr val="1b1a0e"/>
                          </a:solidFill>
                          <a:effectLst/>
                          <a:uFillTx/>
                          <a:latin typeface="Calibri"/>
                        </a:rPr>
                        <a:t>One sentence, one number — charts are drill-downs, not the entry point</a:t>
                      </a:r>
                      <a:endParaRPr lang="es-E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r>
              <a:tr h="383760">
                <a:tc>
                  <a:txBody>
                    <a:bodyPr anchor="t">
                      <a:noAutofit/>
                    </a:bodyPr>
                    <a:p>
                      <a:pPr defTabSz="457200">
                        <a:lnSpc>
                          <a:spcPct val="100000"/>
                        </a:lnSpc>
                      </a:pPr>
                      <a:r>
                        <a:rPr lang="en-US" sz="1200" b="1" u="none" strike="noStrike">
                          <a:solidFill>
                            <a:srgbClr val="2c5018"/>
                          </a:solidFill>
                          <a:effectLst/>
                          <a:uFillTx/>
                          <a:latin typeface="Calibri"/>
                        </a:rPr>
                        <a:t>H4</a:t>
                      </a:r>
                      <a:endParaRPr lang="es-E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ed8"/>
                    </a:solidFill>
                  </a:tcPr>
                </a:tc>
                <a:tc>
                  <a:txBody>
                    <a:bodyPr anchor="t">
                      <a:noAutofit/>
                    </a:bodyPr>
                    <a:p>
                      <a:pPr defTabSz="457200">
                        <a:lnSpc>
                          <a:spcPct val="100000"/>
                        </a:lnSpc>
                      </a:pPr>
                      <a:r>
                        <a:rPr lang="en-US" sz="1100" b="0" u="none" strike="noStrike">
                          <a:solidFill>
                            <a:srgbClr val="1b1a0e"/>
                          </a:solidFill>
                          <a:effectLst/>
                          <a:uFillTx/>
                          <a:latin typeface="Calibri"/>
                        </a:rPr>
                        <a:t>Configurable first axis — health/eco slider; price behind "Advanced"</a:t>
                      </a:r>
                      <a:endParaRPr lang="es-E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ed8"/>
                    </a:solidFill>
                  </a:tcPr>
                </a:tc>
              </a:tr>
              <a:tr h="383760">
                <a:tc>
                  <a:txBody>
                    <a:bodyPr anchor="t">
                      <a:noAutofit/>
                    </a:bodyPr>
                    <a:p>
                      <a:pPr defTabSz="457200">
                        <a:lnSpc>
                          <a:spcPct val="100000"/>
                        </a:lnSpc>
                      </a:pPr>
                      <a:r>
                        <a:rPr lang="en-US" sz="1200" b="1" u="none" strike="noStrike">
                          <a:solidFill>
                            <a:srgbClr val="2c5018"/>
                          </a:solidFill>
                          <a:effectLst/>
                          <a:uFillTx/>
                          <a:latin typeface="Calibri"/>
                        </a:rPr>
                        <a:t>H5</a:t>
                      </a:r>
                      <a:endParaRPr lang="es-E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c>
                  <a:txBody>
                    <a:bodyPr anchor="t">
                      <a:noAutofit/>
                    </a:bodyPr>
                    <a:p>
                      <a:pPr defTabSz="457200">
                        <a:lnSpc>
                          <a:spcPct val="100000"/>
                        </a:lnSpc>
                      </a:pPr>
                      <a:r>
                        <a:rPr lang="en-US" sz="1100" b="0" u="none" strike="noStrike">
                          <a:solidFill>
                            <a:srgbClr val="1b1a0e"/>
                          </a:solidFill>
                          <a:effectLst/>
                          <a:uFillTx/>
                          <a:latin typeface="Calibri"/>
                        </a:rPr>
                        <a:t>Compare-this-shelf — N products in, ranked list out, one-line justification each</a:t>
                      </a:r>
                      <a:endParaRPr lang="es-E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r>
              <a:tr h="383760">
                <a:tc>
                  <a:txBody>
                    <a:bodyPr anchor="t">
                      <a:noAutofit/>
                    </a:bodyPr>
                    <a:p>
                      <a:pPr defTabSz="457200">
                        <a:lnSpc>
                          <a:spcPct val="100000"/>
                        </a:lnSpc>
                      </a:pPr>
                      <a:r>
                        <a:rPr lang="en-US" sz="1200" b="1" u="none" strike="noStrike">
                          <a:solidFill>
                            <a:srgbClr val="2c5018"/>
                          </a:solidFill>
                          <a:effectLst/>
                          <a:uFillTx/>
                          <a:latin typeface="Calibri"/>
                        </a:rPr>
                        <a:t>H6</a:t>
                      </a:r>
                      <a:endParaRPr lang="es-E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ed8"/>
                    </a:solidFill>
                  </a:tcPr>
                </a:tc>
                <a:tc>
                  <a:txBody>
                    <a:bodyPr anchor="t">
                      <a:noAutofit/>
                    </a:bodyPr>
                    <a:p>
                      <a:pPr defTabSz="457200">
                        <a:lnSpc>
                          <a:spcPct val="100000"/>
                        </a:lnSpc>
                      </a:pPr>
                      <a:r>
                        <a:rPr lang="en-US" sz="1100" b="0" u="none" strike="noStrike">
                          <a:solidFill>
                            <a:srgbClr val="1b1a0e"/>
                          </a:solidFill>
                          <a:effectLst/>
                          <a:uFillTx/>
                          <a:latin typeface="Calibri"/>
                        </a:rPr>
                        <a:t>Minimal onboarding — goals + age + gender only</a:t>
                      </a:r>
                      <a:endParaRPr lang="es-E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ed8"/>
                    </a:solidFill>
                  </a:tcPr>
                </a:tc>
              </a:tr>
              <a:tr h="383760">
                <a:tc>
                  <a:txBody>
                    <a:bodyPr anchor="t">
                      <a:noAutofit/>
                    </a:bodyPr>
                    <a:p>
                      <a:pPr defTabSz="457200">
                        <a:lnSpc>
                          <a:spcPct val="100000"/>
                        </a:lnSpc>
                      </a:pPr>
                      <a:r>
                        <a:rPr lang="en-US" sz="1200" b="1" u="none" strike="noStrike">
                          <a:solidFill>
                            <a:srgbClr val="2c5018"/>
                          </a:solidFill>
                          <a:effectLst/>
                          <a:uFillTx/>
                          <a:latin typeface="Calibri"/>
                        </a:rPr>
                        <a:t>H7</a:t>
                      </a:r>
                      <a:endParaRPr lang="es-E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c>
                  <a:txBody>
                    <a:bodyPr anchor="t">
                      <a:noAutofit/>
                    </a:bodyPr>
                    <a:p>
                      <a:pPr defTabSz="457200">
                        <a:lnSpc>
                          <a:spcPct val="100000"/>
                        </a:lnSpc>
                      </a:pPr>
                      <a:r>
                        <a:rPr lang="en-US" sz="1100" b="0" u="none" strike="noStrike">
                          <a:solidFill>
                            <a:srgbClr val="1b1a0e"/>
                          </a:solidFill>
                          <a:effectLst/>
                          <a:uFillTx/>
                          <a:latin typeface="Calibri"/>
                        </a:rPr>
                        <a:t>Close into action — every card ends in a real next step</a:t>
                      </a:r>
                      <a:endParaRPr lang="es-E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7d4"/>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16"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7" name="TextBox 2"/>
          <p:cNvSpPr/>
          <p:nvPr/>
        </p:nvSpPr>
        <p:spPr>
          <a:xfrm>
            <a:off x="685080" y="548640"/>
            <a:ext cx="5239440" cy="5166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lang="en-US" sz="2800" b="0" u="none" strike="noStrike">
                <a:solidFill>
                  <a:srgbClr val="1b1a0e"/>
                </a:solidFill>
                <a:effectLst/>
                <a:uFillTx/>
                <a:latin typeface="Georgia"/>
              </a:rPr>
              <a:t>Personas: who we are designing for</a:t>
            </a:r>
            <a:endParaRPr lang="es-ES" sz="2800" b="0" u="none" strike="noStrike">
              <a:solidFill>
                <a:srgbClr val="000000"/>
              </a:solidFill>
              <a:effectLst/>
              <a:uFillTx/>
              <a:latin typeface="Arial"/>
            </a:endParaRPr>
          </a:p>
        </p:txBody>
      </p:sp>
      <p:sp>
        <p:nvSpPr>
          <p:cNvPr id="118" name="Rectangle 3"/>
          <p:cNvSpPr/>
          <p:nvPr/>
        </p:nvSpPr>
        <p:spPr>
          <a:xfrm>
            <a:off x="6093360" y="1554120"/>
            <a:ext cx="18000" cy="511992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9" name="TextBox 4"/>
          <p:cNvSpPr/>
          <p:nvPr/>
        </p:nvSpPr>
        <p:spPr>
          <a:xfrm>
            <a:off x="685800" y="1599840"/>
            <a:ext cx="5270400" cy="1085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Marc Vidal</a:t>
            </a:r>
            <a:r>
              <a:rPr lang="en-US" sz="1500" b="0" u="none" strike="noStrike">
                <a:solidFill>
                  <a:srgbClr val="1b1a0e"/>
                </a:solidFill>
                <a:effectLst/>
                <a:uFillTx/>
                <a:latin typeface="Calibri"/>
              </a:rPr>
              <a:t> — time-strapped pragmatist. Shops on autopilot, will not configure. Wants instantly visible reasoning.</a:t>
            </a:r>
            <a:endParaRPr lang="es-ES" sz="15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Pau Estarellas</a:t>
            </a:r>
            <a:r>
              <a:rPr lang="en-US" sz="1500" b="0" u="none" strike="noStrike">
                <a:solidFill>
                  <a:srgbClr val="1b1a0e"/>
                </a:solidFill>
                <a:effectLst/>
                <a:uFillTx/>
                <a:latin typeface="Calibri"/>
              </a:rPr>
              <a:t> — sceptical analyst. Distrusts opaque scores. Needs verifiable numbers and the drill-down.</a:t>
            </a:r>
            <a:endParaRPr lang="es-ES" sz="1500" b="0" u="none" strike="noStrike">
              <a:solidFill>
                <a:srgbClr val="000000"/>
              </a:solidFill>
              <a:effectLst/>
              <a:uFillTx/>
              <a:latin typeface="Arial"/>
            </a:endParaRPr>
          </a:p>
        </p:txBody>
      </p:sp>
      <p:sp>
        <p:nvSpPr>
          <p:cNvPr id="120" name="TextBox 5"/>
          <p:cNvSpPr/>
          <p:nvPr/>
        </p:nvSpPr>
        <p:spPr>
          <a:xfrm>
            <a:off x="6231240" y="1599840"/>
            <a:ext cx="5270400" cy="1085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Lluís Tomàs</a:t>
            </a:r>
            <a:r>
              <a:rPr lang="en-US" sz="1500" b="0" u="none" strike="noStrike">
                <a:solidFill>
                  <a:srgbClr val="1b1a0e"/>
                </a:solidFill>
                <a:effectLst/>
                <a:uFillTx/>
                <a:latin typeface="Calibri"/>
              </a:rPr>
              <a:t> — autonomous planner. Hates greenwashing and moralising. Wants quick visual graphs, opt-in only.</a:t>
            </a:r>
            <a:endParaRPr lang="es-ES" sz="15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Aina Servera</a:t>
            </a:r>
            <a:r>
              <a:rPr lang="en-US" sz="1500" b="0" u="none" strike="noStrike">
                <a:solidFill>
                  <a:srgbClr val="1b1a0e"/>
                </a:solidFill>
                <a:effectLst/>
                <a:uFillTx/>
                <a:latin typeface="Calibri"/>
              </a:rPr>
              <a:t> — convenience seeker. Time- and budget-bound. Hard boundary against guilt-inducing UX.</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5018"/>
        </a:solidFill>
      </p:bgPr>
    </p:bg>
    <p:spTree>
      <p:nvGrpSpPr>
        <p:cNvPr id="1" name=""/>
        <p:cNvGrpSpPr/>
        <p:nvPr/>
      </p:nvGrpSpPr>
      <p:grpSpPr>
        <a:xfrm>
          <a:off x="0" y="0"/>
          <a:ext cx="0" cy="0"/>
          <a:chOff x="0" y="0"/>
          <a:chExt cx="0" cy="0"/>
        </a:xfrm>
      </p:grpSpPr>
      <p:sp>
        <p:nvSpPr>
          <p:cNvPr id="121" name="TextBox 1"/>
          <p:cNvSpPr/>
          <p:nvPr/>
        </p:nvSpPr>
        <p:spPr>
          <a:xfrm>
            <a:off x="8988120" y="3657240"/>
            <a:ext cx="2742480" cy="2832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lang="en-US" sz="18000" b="0" u="none" strike="noStrike">
                <a:solidFill>
                  <a:srgbClr val="4a7a2a"/>
                </a:solidFill>
                <a:effectLst/>
                <a:uFillTx/>
                <a:latin typeface="Georgia"/>
              </a:rPr>
              <a:t>2</a:t>
            </a:r>
            <a:endParaRPr lang="es-ES" sz="18000" b="0" u="none" strike="noStrike">
              <a:solidFill>
                <a:srgbClr val="ffffff"/>
              </a:solidFill>
              <a:effectLst/>
              <a:uFillTx/>
              <a:latin typeface="Arial"/>
            </a:endParaRPr>
          </a:p>
        </p:txBody>
      </p:sp>
      <p:sp>
        <p:nvSpPr>
          <p:cNvPr id="122" name="TextBox 2"/>
          <p:cNvSpPr/>
          <p:nvPr/>
        </p:nvSpPr>
        <p:spPr>
          <a:xfrm>
            <a:off x="685080" y="82260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aacc88"/>
                </a:solidFill>
                <a:effectLst/>
                <a:uFillTx/>
                <a:latin typeface="Courier New"/>
              </a:rPr>
              <a:t>Section 2</a:t>
            </a:r>
            <a:endParaRPr lang="es-ES" sz="1100" b="0" u="none" strike="noStrike">
              <a:solidFill>
                <a:srgbClr val="ffffff"/>
              </a:solidFill>
              <a:effectLst/>
              <a:uFillTx/>
              <a:latin typeface="Arial"/>
            </a:endParaRPr>
          </a:p>
        </p:txBody>
      </p:sp>
      <p:sp>
        <p:nvSpPr>
          <p:cNvPr id="123" name="TextBox 3"/>
          <p:cNvSpPr/>
          <p:nvPr/>
        </p:nvSpPr>
        <p:spPr>
          <a:xfrm>
            <a:off x="685080" y="1371600"/>
            <a:ext cx="8228880" cy="821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0" u="none" strike="noStrike">
                <a:solidFill>
                  <a:srgbClr val="faf8f0"/>
                </a:solidFill>
                <a:effectLst/>
                <a:uFillTx/>
                <a:latin typeface="Georgia"/>
              </a:rPr>
              <a:t>XAI methods selection</a:t>
            </a:r>
            <a:endParaRPr lang="es-E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24"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5"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Why these methods: Miller's criteria</a:t>
            </a:r>
            <a:endParaRPr lang="es-ES" sz="3000" b="0" u="none" strike="noStrike">
              <a:solidFill>
                <a:srgbClr val="000000"/>
              </a:solidFill>
              <a:effectLst/>
              <a:uFillTx/>
              <a:latin typeface="Arial"/>
            </a:endParaRPr>
          </a:p>
        </p:txBody>
      </p:sp>
      <p:sp>
        <p:nvSpPr>
          <p:cNvPr id="126" name="TextBox 3"/>
          <p:cNvSpPr/>
          <p:nvPr/>
        </p:nvSpPr>
        <p:spPr>
          <a:xfrm>
            <a:off x="685080" y="1554120"/>
            <a:ext cx="10816200" cy="1941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601"/>
              </a:spcBef>
            </a:pPr>
            <a:r>
              <a:rPr lang="en-US" sz="1500" b="0" u="none" strike="noStrike">
                <a:solidFill>
                  <a:srgbClr val="1b1a0e"/>
                </a:solidFill>
                <a:effectLst/>
                <a:uFillTx/>
                <a:latin typeface="Calibri"/>
              </a:rPr>
              <a:t>Tim Miller (2019): good explanations are </a:t>
            </a:r>
            <a:r>
              <a:rPr lang="en-US" sz="1500" b="1" u="none" strike="noStrike">
                <a:solidFill>
                  <a:srgbClr val="1b1a0e"/>
                </a:solidFill>
                <a:effectLst/>
                <a:uFillTx/>
                <a:latin typeface="Calibri"/>
              </a:rPr>
              <a:t>contrastive, selective, and grounded in the user's mental model</a:t>
            </a:r>
            <a:r>
              <a:rPr lang="en-US" sz="1500" b="0" u="none" strike="noStrike">
                <a:solidFill>
                  <a:srgbClr val="1b1a0e"/>
                </a:solidFill>
                <a:effectLst/>
                <a:uFillTx/>
                <a:latin typeface="Calibri"/>
              </a:rPr>
              <a:t> — not raw scores.</a:t>
            </a:r>
            <a:endParaRPr lang="es-ES" sz="1500" b="0" u="none" strike="noStrike">
              <a:solidFill>
                <a:srgbClr val="000000"/>
              </a:solidFill>
              <a:effectLst/>
              <a:uFillTx/>
              <a:latin typeface="Arial"/>
            </a:endParaRPr>
          </a:p>
          <a:p>
            <a:pPr defTabSz="457200">
              <a:lnSpc>
                <a:spcPct val="100000"/>
              </a:lnSpc>
              <a:spcBef>
                <a:spcPts val="601"/>
              </a:spcBef>
            </a:pPr>
            <a:r>
              <a:rPr lang="en-US" sz="1500" b="0" u="none" strike="noStrike">
                <a:solidFill>
                  <a:srgbClr val="1b1a0e"/>
                </a:solidFill>
                <a:effectLst/>
                <a:uFillTx/>
                <a:latin typeface="Calibri"/>
              </a:rPr>
              <a:t>We chose each XAI component to satisfy a specific criterion:</a:t>
            </a:r>
            <a:endParaRPr lang="es-ES" sz="15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Contrastive</a:t>
            </a:r>
            <a:r>
              <a:rPr lang="en-US" sz="1600" b="0" u="none" strike="noStrike">
                <a:solidFill>
                  <a:srgbClr val="1b1a0e"/>
                </a:solidFill>
                <a:effectLst/>
                <a:uFillTx/>
                <a:latin typeface="Calibri"/>
              </a:rPr>
              <a:t> -&gt; "why this and not your usual?" — the contrastive sentence generator</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Selective</a:t>
            </a:r>
            <a:r>
              <a:rPr lang="en-US" sz="1600" b="0" u="none" strike="noStrike">
                <a:solidFill>
                  <a:srgbClr val="1b1a0e"/>
                </a:solidFill>
                <a:effectLst/>
                <a:uFillTx/>
                <a:latin typeface="Calibri"/>
              </a:rPr>
              <a:t> -&gt; one number, not twenty — H3 discipline over rich model output</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Grounded / auditable</a:t>
            </a:r>
            <a:r>
              <a:rPr lang="en-US" sz="1600" b="0" u="none" strike="noStrike">
                <a:solidFill>
                  <a:srgbClr val="1b1a0e"/>
                </a:solidFill>
                <a:effectLst/>
                <a:uFillTx/>
                <a:latin typeface="Calibri"/>
              </a:rPr>
              <a:t> -&gt; an interpretable model plus a verifiable drill-down for the sceptic</a:t>
            </a:r>
            <a:endParaRPr lang="es-ES" sz="1600" b="0" u="none" strike="noStrike">
              <a:solidFill>
                <a:srgbClr val="000000"/>
              </a:solidFill>
              <a:effectLst/>
              <a:uFillTx/>
              <a:latin typeface="Arial"/>
            </a:endParaRPr>
          </a:p>
          <a:p>
            <a:pPr defTabSz="457200">
              <a:lnSpc>
                <a:spcPct val="100000"/>
              </a:lnSpc>
              <a:spcBef>
                <a:spcPts val="601"/>
              </a:spcBef>
            </a:pPr>
            <a:r>
              <a:rPr lang="en-US" sz="1500" b="0" u="none" strike="noStrike">
                <a:solidFill>
                  <a:srgbClr val="1b1a0e"/>
                </a:solidFill>
                <a:effectLst/>
                <a:uFillTx/>
                <a:latin typeface="Calibri"/>
              </a:rPr>
              <a:t>The literature gave us the test; our job was to make a vanilla-JS app pass it.</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27"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8" name="TextBox 2"/>
          <p:cNvSpPr/>
          <p:nvPr/>
        </p:nvSpPr>
        <p:spPr>
          <a:xfrm>
            <a:off x="685080" y="548640"/>
            <a:ext cx="108162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An interpretable model: Random Forest for Nutri-Score</a:t>
            </a:r>
            <a:endParaRPr lang="es-ES" sz="3000" b="0" u="none" strike="noStrike">
              <a:solidFill>
                <a:srgbClr val="000000"/>
              </a:solidFill>
              <a:effectLst/>
              <a:uFillTx/>
              <a:latin typeface="Arial"/>
            </a:endParaRPr>
          </a:p>
        </p:txBody>
      </p:sp>
      <p:sp>
        <p:nvSpPr>
          <p:cNvPr id="129" name="TextBox 3"/>
          <p:cNvSpPr/>
          <p:nvPr/>
        </p:nvSpPr>
        <p:spPr>
          <a:xfrm>
            <a:off x="685080" y="1554120"/>
            <a:ext cx="10816200" cy="1620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The system reads the </a:t>
            </a:r>
            <a:r>
              <a:rPr lang="en-US" sz="1600" b="1" u="none" strike="noStrike">
                <a:solidFill>
                  <a:srgbClr val="1b1a0e"/>
                </a:solidFill>
                <a:effectLst/>
                <a:uFillTx/>
                <a:latin typeface="Calibri"/>
              </a:rPr>
              <a:t>official `nutriscore_grade`</a:t>
            </a:r>
            <a:r>
              <a:rPr lang="en-US" sz="1600" b="0" u="none" strike="noStrike">
                <a:solidFill>
                  <a:srgbClr val="1b1a0e"/>
                </a:solidFill>
                <a:effectLst/>
                <a:uFillTx/>
                <a:latin typeface="Calibri"/>
              </a:rPr>
              <a:t> — we never recompute the certified label locally.</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For the XAI pipeline we trained a </a:t>
            </a:r>
            <a:r>
              <a:rPr lang="en-US" sz="1600" b="1" u="none" strike="noStrike">
                <a:solidFill>
                  <a:srgbClr val="1b1a0e"/>
                </a:solidFill>
                <a:effectLst/>
                <a:uFillTx/>
                <a:latin typeface="Calibri"/>
              </a:rPr>
              <a:t>Random Forest</a:t>
            </a:r>
            <a:r>
              <a:rPr lang="en-US" sz="1600" b="0" u="none" strike="noStrike">
                <a:solidFill>
                  <a:srgbClr val="1b1a0e"/>
                </a:solidFill>
                <a:effectLst/>
                <a:uFillTx/>
                <a:latin typeface="Calibri"/>
              </a:rPr>
              <a:t> on a real OFF dump (~80% five-fold CV accuracy).</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Why a forest, not a deep net: </a:t>
            </a:r>
            <a:r>
              <a:rPr lang="en-US" sz="1600" b="1" u="none" strike="noStrike">
                <a:solidFill>
                  <a:srgbClr val="1b1a0e"/>
                </a:solidFill>
                <a:effectLst/>
                <a:uFillTx/>
                <a:latin typeface="Calibri"/>
              </a:rPr>
              <a:t>feature importances are first-class</a:t>
            </a:r>
            <a:r>
              <a:rPr lang="en-US" sz="1600" b="0" u="none" strike="noStrike">
                <a:solidFill>
                  <a:srgbClr val="1b1a0e"/>
                </a:solidFill>
                <a:effectLst/>
                <a:uFillTx/>
                <a:latin typeface="Calibri"/>
              </a:rPr>
              <a:t> — fat, sugars, saturated fat, salt, protein, fibre, energy each carry a readable weight.</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This is a </a:t>
            </a:r>
            <a:r>
              <a:rPr lang="en-US" sz="1600" b="1" u="none" strike="noStrike">
                <a:solidFill>
                  <a:srgbClr val="1b1a0e"/>
                </a:solidFill>
                <a:effectLst/>
                <a:uFillTx/>
                <a:latin typeface="Calibri"/>
              </a:rPr>
              <a:t>pipeline-verification model</a:t>
            </a:r>
            <a:r>
              <a:rPr lang="en-US" sz="1600" b="0" u="none" strike="noStrike">
                <a:solidFill>
                  <a:srgbClr val="1b1a0e"/>
                </a:solidFill>
                <a:effectLst/>
                <a:uFillTx/>
                <a:latin typeface="Calibri"/>
              </a:rPr>
              <a:t>: it proves the explanation path end-to-end, it does not replace the official grade.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30"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1" name="TextBox 2"/>
          <p:cNvSpPr/>
          <p:nvPr/>
        </p:nvSpPr>
        <p:spPr>
          <a:xfrm>
            <a:off x="685080" y="548640"/>
            <a:ext cx="108162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SHAP -&gt; one contrastive sentence, one number</a:t>
            </a:r>
            <a:endParaRPr lang="es-ES" sz="3000" b="0" u="none" strike="noStrike">
              <a:solidFill>
                <a:srgbClr val="000000"/>
              </a:solidFill>
              <a:effectLst/>
              <a:uFillTx/>
              <a:latin typeface="Arial"/>
            </a:endParaRPr>
          </a:p>
        </p:txBody>
      </p:sp>
      <p:pic>
        <p:nvPicPr>
          <p:cNvPr id="132" name="Picture 3" descr="shap_explanation.png"/>
          <p:cNvPicPr/>
          <p:nvPr/>
        </p:nvPicPr>
        <p:blipFill>
          <a:blip r:embed="rId1"/>
          <a:stretch/>
        </p:blipFill>
        <p:spPr>
          <a:xfrm>
            <a:off x="1875240" y="1165320"/>
            <a:ext cx="7843680" cy="5609880"/>
          </a:xfrm>
          <a:prstGeom prst="rect">
            <a:avLst/>
          </a:prstGeom>
          <a:noFill/>
          <a:ln w="0">
            <a:noFill/>
          </a:ln>
        </p:spPr>
      </p:pic>
      <p:sp>
        <p:nvSpPr>
          <p:cNvPr id="133" name="TextBox 4"/>
          <p:cNvSpPr/>
          <p:nvPr/>
        </p:nvSpPr>
        <p:spPr>
          <a:xfrm>
            <a:off x="11502360" y="7725960"/>
            <a:ext cx="10816200" cy="1039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SHAP local attribution</a:t>
            </a:r>
            <a:r>
              <a:rPr lang="en-US" sz="1600" b="0" u="none" strike="noStrike">
                <a:solidFill>
                  <a:srgbClr val="1b1a0e"/>
                </a:solidFill>
                <a:effectLst/>
                <a:uFillTx/>
                <a:latin typeface="Calibri"/>
              </a:rPr>
              <a:t> computes each nutrient's contribution for </a:t>
            </a:r>
            <a:r>
              <a:rPr lang="en-US" sz="1600" b="0" i="1" u="none" strike="noStrike">
                <a:solidFill>
                  <a:srgbClr val="1b1a0e"/>
                </a:solidFill>
                <a:effectLst/>
                <a:uFillTx/>
                <a:latin typeface="Calibri"/>
              </a:rPr>
              <a:t>this</a:t>
            </a:r>
            <a:r>
              <a:rPr lang="en-US" sz="1600" b="0" u="none" strike="noStrike">
                <a:solidFill>
                  <a:srgbClr val="1b1a0e"/>
                </a:solidFill>
                <a:effectLst/>
                <a:uFillTx/>
                <a:latin typeface="Calibri"/>
              </a:rPr>
              <a:t> product</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We compress that vector into </a:t>
            </a:r>
            <a:r>
              <a:rPr lang="en-US" sz="1600" b="1" u="none" strike="noStrike">
                <a:solidFill>
                  <a:srgbClr val="1b1a0e"/>
                </a:solidFill>
                <a:effectLst/>
                <a:uFillTx/>
                <a:latin typeface="Calibri"/>
              </a:rPr>
              <a:t>one contrastive sentence with exactly one verifiable number</a:t>
            </a:r>
            <a:r>
              <a:rPr lang="en-US" sz="1600" b="0" u="none" strike="noStrike">
                <a:solidFill>
                  <a:srgbClr val="1b1a0e"/>
                </a:solidFill>
                <a:effectLst/>
                <a:uFillTx/>
                <a:latin typeface="Calibri"/>
              </a:rPr>
              <a:t> (H3)</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The full SHAP detail is parked behind an </a:t>
            </a:r>
            <a:r>
              <a:rPr lang="en-US" sz="1600" b="1" u="none" strike="noStrike">
                <a:solidFill>
                  <a:srgbClr val="1b1a0e"/>
                </a:solidFill>
                <a:effectLst/>
                <a:uFillTx/>
                <a:latin typeface="Calibri"/>
              </a:rPr>
              <a:t>"Advanced explanation"</a:t>
            </a:r>
            <a:r>
              <a:rPr lang="en-US" sz="1600" b="0" u="none" strike="noStrike">
                <a:solidFill>
                  <a:srgbClr val="1b1a0e"/>
                </a:solidFill>
                <a:effectLst/>
                <a:uFillTx/>
                <a:latin typeface="Calibri"/>
              </a:rPr>
              <a:t> — selective by default, complete on demand</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34"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5" name="TextBox 2"/>
          <p:cNvSpPr/>
          <p:nvPr/>
        </p:nvSpPr>
        <p:spPr>
          <a:xfrm>
            <a:off x="685080" y="548640"/>
            <a:ext cx="108162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The scatter drill-down: for the sceptic who verifies</a:t>
            </a:r>
            <a:endParaRPr lang="es-ES" sz="3000" b="0" u="none" strike="noStrike">
              <a:solidFill>
                <a:srgbClr val="000000"/>
              </a:solidFill>
              <a:effectLst/>
              <a:uFillTx/>
              <a:latin typeface="Arial"/>
            </a:endParaRPr>
          </a:p>
        </p:txBody>
      </p:sp>
      <p:pic>
        <p:nvPicPr>
          <p:cNvPr id="136" name="Picture 3" descr="scatter_plot.png"/>
          <p:cNvPicPr/>
          <p:nvPr/>
        </p:nvPicPr>
        <p:blipFill>
          <a:blip r:embed="rId1"/>
          <a:stretch/>
        </p:blipFill>
        <p:spPr>
          <a:xfrm>
            <a:off x="2632680" y="1554120"/>
            <a:ext cx="6922440" cy="3627720"/>
          </a:xfrm>
          <a:prstGeom prst="rect">
            <a:avLst/>
          </a:prstGeom>
          <a:noFill/>
          <a:ln w="0">
            <a:noFill/>
          </a:ln>
        </p:spPr>
      </p:pic>
      <p:sp>
        <p:nvSpPr>
          <p:cNvPr id="137" name="TextBox 4"/>
          <p:cNvSpPr/>
          <p:nvPr/>
        </p:nvSpPr>
        <p:spPr>
          <a:xfrm>
            <a:off x="685080" y="5319720"/>
            <a:ext cx="10816200" cy="1587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The contrastive sentence answers Marc in half a second; </a:t>
            </a:r>
            <a:r>
              <a:rPr lang="en-US" sz="1600" b="1" u="none" strike="noStrike">
                <a:solidFill>
                  <a:srgbClr val="1b1a0e"/>
                </a:solidFill>
                <a:effectLst/>
                <a:uFillTx/>
                <a:latin typeface="Calibri"/>
              </a:rPr>
              <a:t>Pau Estarellas wants to see the space.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6b6550"/>
                </a:solidFill>
                <a:effectLst/>
                <a:uFillTx/>
                <a:latin typeface="Courier New"/>
              </a:rPr>
              <a:t>GET /api/scatter</a:t>
            </a:r>
            <a:r>
              <a:rPr lang="en-US" sz="1600" b="0" u="none" strike="noStrike">
                <a:solidFill>
                  <a:srgbClr val="1b1a0e"/>
                </a:solidFill>
                <a:effectLst/>
                <a:uFillTx/>
                <a:latin typeface="Calibri"/>
              </a:rPr>
              <a:t> returns a </a:t>
            </a:r>
            <a:r>
              <a:rPr lang="en-US" sz="1600" b="1" u="none" strike="noStrike">
                <a:solidFill>
                  <a:srgbClr val="1b1a0e"/>
                </a:solidFill>
                <a:effectLst/>
                <a:uFillTx/>
                <a:latin typeface="Calibri"/>
              </a:rPr>
              <a:t>visual XAI scatter plot</a:t>
            </a:r>
            <a:r>
              <a:rPr lang="en-US" sz="1600" b="0" u="none" strike="noStrike">
                <a:solidFill>
                  <a:srgbClr val="1b1a0e"/>
                </a:solidFill>
                <a:effectLst/>
                <a:uFillTx/>
                <a:latin typeface="Calibri"/>
              </a:rPr>
              <a:t>: where this product sits on the health/eco plane relative to its category.</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The drill-down is </a:t>
            </a:r>
            <a:r>
              <a:rPr lang="en-US" sz="1600" b="1" u="none" strike="noStrike">
                <a:solidFill>
                  <a:srgbClr val="1b1a0e"/>
                </a:solidFill>
                <a:effectLst/>
                <a:uFillTx/>
                <a:latin typeface="Calibri"/>
              </a:rPr>
              <a:t>opt-in</a:t>
            </a:r>
            <a:r>
              <a:rPr lang="en-US" sz="1600" b="0" u="none" strike="noStrike">
                <a:solidFill>
                  <a:srgbClr val="1b1a0e"/>
                </a:solidFill>
                <a:effectLst/>
                <a:uFillTx/>
                <a:latin typeface="Calibri"/>
              </a:rPr>
              <a:t> — Miller's selectivity, and Lluís's "no moralising, just show me the graph".</a:t>
            </a:r>
            <a:endParaRPr lang="es-ES" sz="1600" b="0" u="none" strike="noStrike">
              <a:solidFill>
                <a:srgbClr val="000000"/>
              </a:solidFill>
              <a:effectLst/>
              <a:uFillTx/>
              <a:latin typeface="Arial"/>
            </a:endParaRPr>
          </a:p>
          <a:p>
            <a:pPr defTabSz="457200">
              <a:lnSpc>
                <a:spcPct val="100000"/>
              </a:lnSpc>
              <a:spcBef>
                <a:spcPts val="601"/>
              </a:spcBef>
            </a:pPr>
            <a:r>
              <a:rPr lang="en-US" sz="1500" b="1" u="none" strike="noStrike">
                <a:solidFill>
                  <a:srgbClr val="1b1a0e"/>
                </a:solidFill>
                <a:effectLst/>
                <a:uFillTx/>
                <a:latin typeface="Calibri"/>
              </a:rPr>
              <a:t>How each method helps the user:</a:t>
            </a:r>
            <a:r>
              <a:rPr lang="en-US" sz="1500" b="0" u="none" strike="noStrike">
                <a:solidFill>
                  <a:srgbClr val="1b1a0e"/>
                </a:solidFill>
                <a:effectLst/>
                <a:uFillTx/>
                <a:latin typeface="Calibri"/>
              </a:rPr>
              <a:t> sentence = instant trust; SHAP advanced view = traceability; scatter = independent verification.</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38"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9" name="TextBox 2"/>
          <p:cNvSpPr/>
          <p:nvPr/>
        </p:nvSpPr>
        <p:spPr>
          <a:xfrm>
            <a:off x="685080" y="548640"/>
            <a:ext cx="7813440" cy="5166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lang="en-US" sz="2800" b="0" u="none" strike="noStrike">
                <a:solidFill>
                  <a:srgbClr val="1b1a0e"/>
                </a:solidFill>
                <a:effectLst/>
                <a:uFillTx/>
                <a:latin typeface="Georgia"/>
              </a:rPr>
              <a:t>The AI we used — in the product and in development</a:t>
            </a:r>
            <a:endParaRPr lang="es-ES" sz="2800" b="0" u="none" strike="noStrike">
              <a:solidFill>
                <a:srgbClr val="000000"/>
              </a:solidFill>
              <a:effectLst/>
              <a:uFillTx/>
              <a:latin typeface="Arial"/>
            </a:endParaRPr>
          </a:p>
        </p:txBody>
      </p:sp>
      <p:sp>
        <p:nvSpPr>
          <p:cNvPr id="140" name="Rectangle 3"/>
          <p:cNvSpPr/>
          <p:nvPr/>
        </p:nvSpPr>
        <p:spPr>
          <a:xfrm>
            <a:off x="6093360" y="1554120"/>
            <a:ext cx="18000" cy="511992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1" name="TextBox 4"/>
          <p:cNvSpPr/>
          <p:nvPr/>
        </p:nvSpPr>
        <p:spPr>
          <a:xfrm>
            <a:off x="685800" y="1600200"/>
            <a:ext cx="5270400" cy="2247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601"/>
              </a:spcBef>
              <a:spcAft>
                <a:spcPts val="400"/>
              </a:spcAft>
            </a:pPr>
            <a:r>
              <a:rPr lang="en-US" sz="1600" b="1" u="none" strike="noStrike">
                <a:solidFill>
                  <a:srgbClr val="2c5018"/>
                </a:solidFill>
                <a:effectLst/>
                <a:uFillTx/>
                <a:latin typeface="Georgia"/>
              </a:rPr>
              <a:t>In the product (ML / XAI)</a:t>
            </a:r>
            <a:endParaRPr lang="es-ES" sz="16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Random Forest</a:t>
            </a:r>
            <a:r>
              <a:rPr lang="en-US" sz="1500" b="0" u="none" strike="noStrike">
                <a:solidFill>
                  <a:srgbClr val="1b1a0e"/>
                </a:solidFill>
                <a:effectLst/>
                <a:uFillTx/>
                <a:latin typeface="Calibri"/>
              </a:rPr>
              <a:t> (scikit-learn) — predicts Nutri-Score for the explanation pipeline</a:t>
            </a:r>
            <a:endParaRPr lang="es-ES" sz="15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SHAP</a:t>
            </a:r>
            <a:r>
              <a:rPr lang="en-US" sz="1500" b="0" u="none" strike="noStrike">
                <a:solidFill>
                  <a:srgbClr val="1b1a0e"/>
                </a:solidFill>
                <a:effectLst/>
                <a:uFillTx/>
                <a:latin typeface="Calibri"/>
              </a:rPr>
              <a:t> — local feature attribution -&gt; the one contrastive sentence</a:t>
            </a:r>
            <a:endParaRPr lang="es-ES" sz="15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Weighted KNN</a:t>
            </a:r>
            <a:r>
              <a:rPr lang="en-US" sz="1500" b="0" u="none" strike="noStrike">
                <a:solidFill>
                  <a:srgbClr val="1b1a0e"/>
                </a:solidFill>
                <a:effectLst/>
                <a:uFillTx/>
                <a:latin typeface="Calibri"/>
              </a:rPr>
              <a:t> — the Alternative Engine (healthier / greener substitutes)</a:t>
            </a:r>
            <a:endParaRPr lang="es-ES" sz="15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DuckDB</a:t>
            </a:r>
            <a:r>
              <a:rPr lang="en-US" sz="1500" b="0" u="none" strike="noStrike">
                <a:solidFill>
                  <a:srgbClr val="1b1a0e"/>
                </a:solidFill>
                <a:effectLst/>
                <a:uFillTx/>
                <a:latin typeface="Calibri"/>
              </a:rPr>
              <a:t> — queries the full OFF dump at scale</a:t>
            </a:r>
            <a:endParaRPr lang="es-ES" sz="1500" b="0" u="none" strike="noStrike">
              <a:solidFill>
                <a:srgbClr val="000000"/>
              </a:solidFill>
              <a:effectLst/>
              <a:uFillTx/>
              <a:latin typeface="Arial"/>
            </a:endParaRPr>
          </a:p>
        </p:txBody>
      </p:sp>
      <p:sp>
        <p:nvSpPr>
          <p:cNvPr id="142" name="TextBox 5"/>
          <p:cNvSpPr/>
          <p:nvPr/>
        </p:nvSpPr>
        <p:spPr>
          <a:xfrm>
            <a:off x="6231240" y="1599840"/>
            <a:ext cx="5270400" cy="1496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601"/>
              </a:spcBef>
              <a:spcAft>
                <a:spcPts val="400"/>
              </a:spcAft>
            </a:pPr>
            <a:r>
              <a:rPr lang="en-US" sz="1600" b="1" u="none" strike="noStrike">
                <a:solidFill>
                  <a:srgbClr val="2c5018"/>
                </a:solidFill>
                <a:effectLst/>
                <a:uFillTx/>
                <a:latin typeface="Georgia"/>
              </a:rPr>
              <a:t>In development (generative AI)</a:t>
            </a:r>
            <a:endParaRPr lang="es-ES" sz="16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LLM coding assistants</a:t>
            </a:r>
            <a:r>
              <a:rPr lang="en-US" sz="1500" b="0" u="none" strike="noStrike">
                <a:solidFill>
                  <a:srgbClr val="1b1a0e"/>
                </a:solidFill>
                <a:effectLst/>
                <a:uFillTx/>
                <a:latin typeface="Calibri"/>
              </a:rPr>
              <a:t> to speed up boilerplate, tests, and docs</a:t>
            </a:r>
            <a:endParaRPr lang="es-ES" sz="15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Human-verified</a:t>
            </a:r>
            <a:r>
              <a:rPr lang="en-US" sz="1500" b="0" u="none" strike="noStrike">
                <a:solidFill>
                  <a:srgbClr val="1b1a0e"/>
                </a:solidFill>
                <a:effectLst/>
                <a:uFillTx/>
                <a:latin typeface="Calibri"/>
              </a:rPr>
              <a:t>: every change reviewed, adversarially audited (this caught the dead allergen filter), and gated by tests</a:t>
            </a:r>
            <a:endParaRPr lang="es-ES" sz="1500" b="0" u="none" strike="noStrike">
              <a:solidFill>
                <a:srgbClr val="000000"/>
              </a:solidFill>
              <a:effectLst/>
              <a:uFillTx/>
              <a:latin typeface="Arial"/>
            </a:endParaRPr>
          </a:p>
          <a:p>
            <a:pPr defTabSz="457200">
              <a:lnSpc>
                <a:spcPct val="100000"/>
              </a:lnSpc>
              <a:spcBef>
                <a:spcPts val="400"/>
              </a:spcBef>
            </a:pPr>
            <a:r>
              <a:rPr lang="en-US" sz="1600" b="1" u="none" strike="noStrike">
                <a:solidFill>
                  <a:srgbClr val="2c5018"/>
                </a:solidFill>
                <a:effectLst/>
                <a:uFillTx/>
                <a:latin typeface="Calibri"/>
              </a:rPr>
              <a:t>·  </a:t>
            </a:r>
            <a:r>
              <a:rPr lang="en-US" sz="1500" b="0" u="none" strike="noStrike">
                <a:solidFill>
                  <a:srgbClr val="1b1a0e"/>
                </a:solidFill>
                <a:effectLst/>
                <a:uFillTx/>
                <a:latin typeface="Calibri"/>
              </a:rPr>
              <a:t>We </a:t>
            </a:r>
            <a:r>
              <a:rPr lang="en-US" sz="1500" b="1" u="none" strike="noStrike">
                <a:solidFill>
                  <a:srgbClr val="1b1a0e"/>
                </a:solidFill>
                <a:effectLst/>
                <a:uFillTx/>
                <a:latin typeface="Calibri"/>
              </a:rPr>
              <a:t>direct</a:t>
            </a:r>
            <a:r>
              <a:rPr lang="en-US" sz="1500" b="0" u="none" strike="noStrike">
                <a:solidFill>
                  <a:srgbClr val="1b1a0e"/>
                </a:solidFill>
                <a:effectLst/>
                <a:uFillTx/>
                <a:latin typeface="Calibri"/>
              </a:rPr>
              <a:t> the AI — the design and the verification are ours</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5018"/>
        </a:solidFill>
      </p:bgPr>
    </p:bg>
    <p:spTree>
      <p:nvGrpSpPr>
        <p:cNvPr id="1" name=""/>
        <p:cNvGrpSpPr/>
        <p:nvPr/>
      </p:nvGrpSpPr>
      <p:grpSpPr>
        <a:xfrm>
          <a:off x="0" y="0"/>
          <a:ext cx="0" cy="0"/>
          <a:chOff x="0" y="0"/>
          <a:chExt cx="0" cy="0"/>
        </a:xfrm>
      </p:grpSpPr>
      <p:sp>
        <p:nvSpPr>
          <p:cNvPr id="143" name="TextBox 1"/>
          <p:cNvSpPr/>
          <p:nvPr/>
        </p:nvSpPr>
        <p:spPr>
          <a:xfrm>
            <a:off x="8988120" y="3657240"/>
            <a:ext cx="2742480" cy="2832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lang="en-US" sz="18000" b="0" u="none" strike="noStrike">
                <a:solidFill>
                  <a:srgbClr val="4a7a2a"/>
                </a:solidFill>
                <a:effectLst/>
                <a:uFillTx/>
                <a:latin typeface="Georgia"/>
              </a:rPr>
              <a:t>3</a:t>
            </a:r>
            <a:endParaRPr lang="es-ES" sz="18000" b="0" u="none" strike="noStrike">
              <a:solidFill>
                <a:srgbClr val="ffffff"/>
              </a:solidFill>
              <a:effectLst/>
              <a:uFillTx/>
              <a:latin typeface="Arial"/>
            </a:endParaRPr>
          </a:p>
        </p:txBody>
      </p:sp>
      <p:sp>
        <p:nvSpPr>
          <p:cNvPr id="144" name="TextBox 2"/>
          <p:cNvSpPr/>
          <p:nvPr/>
        </p:nvSpPr>
        <p:spPr>
          <a:xfrm>
            <a:off x="685080" y="82260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aacc88"/>
                </a:solidFill>
                <a:effectLst/>
                <a:uFillTx/>
                <a:latin typeface="Courier New"/>
              </a:rPr>
              <a:t>Section 3</a:t>
            </a:r>
            <a:endParaRPr lang="es-ES" sz="1100" b="0" u="none" strike="noStrike">
              <a:solidFill>
                <a:srgbClr val="ffffff"/>
              </a:solidFill>
              <a:effectLst/>
              <a:uFillTx/>
              <a:latin typeface="Arial"/>
            </a:endParaRPr>
          </a:p>
        </p:txBody>
      </p:sp>
      <p:sp>
        <p:nvSpPr>
          <p:cNvPr id="145" name="TextBox 3"/>
          <p:cNvSpPr/>
          <p:nvPr/>
        </p:nvSpPr>
        <p:spPr>
          <a:xfrm>
            <a:off x="685080" y="1371600"/>
            <a:ext cx="8228880" cy="821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0" u="none" strike="noStrike">
                <a:solidFill>
                  <a:srgbClr val="faf8f0"/>
                </a:solidFill>
                <a:effectLst/>
                <a:uFillTx/>
                <a:latin typeface="Georgia"/>
              </a:rPr>
              <a:t>Key insights from user testing</a:t>
            </a:r>
            <a:endParaRPr lang="es-E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46"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7" name="TextBox 2"/>
          <p:cNvSpPr/>
          <p:nvPr/>
        </p:nvSpPr>
        <p:spPr>
          <a:xfrm>
            <a:off x="4104360" y="3420000"/>
            <a:ext cx="93956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Two instruments, built in-app (F-46)</a:t>
            </a:r>
            <a:endParaRPr lang="es-ES" sz="3000" b="0" u="none" strike="noStrike">
              <a:solidFill>
                <a:srgbClr val="000000"/>
              </a:solidFill>
              <a:effectLst/>
              <a:uFillTx/>
              <a:latin typeface="Arial"/>
            </a:endParaRPr>
          </a:p>
        </p:txBody>
      </p:sp>
      <p:pic>
        <p:nvPicPr>
          <p:cNvPr id="148" name="Picture 3" descr="eval_form.png"/>
          <p:cNvPicPr/>
          <p:nvPr/>
        </p:nvPicPr>
        <p:blipFill>
          <a:blip r:embed="rId1"/>
          <a:stretch/>
        </p:blipFill>
        <p:spPr>
          <a:xfrm>
            <a:off x="539280" y="114120"/>
            <a:ext cx="3668400" cy="6545880"/>
          </a:xfrm>
          <a:prstGeom prst="rect">
            <a:avLst/>
          </a:prstGeom>
          <a:noFill/>
          <a:ln w="0">
            <a:noFill/>
          </a:ln>
        </p:spPr>
      </p:pic>
      <p:sp>
        <p:nvSpPr>
          <p:cNvPr id="149" name="TextBox 4"/>
          <p:cNvSpPr/>
          <p:nvPr/>
        </p:nvSpPr>
        <p:spPr>
          <a:xfrm>
            <a:off x="11502360" y="10568160"/>
            <a:ext cx="10816200" cy="1283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SUS</a:t>
            </a:r>
            <a:r>
              <a:rPr lang="en-US" sz="1600" b="0" u="none" strike="noStrike">
                <a:solidFill>
                  <a:srgbClr val="1b1a0e"/>
                </a:solidFill>
                <a:effectLst/>
                <a:uFillTx/>
                <a:latin typeface="Calibri"/>
              </a:rPr>
              <a:t> (Brooke 1996) — 10 items, usability of the dashboard (KI-2)</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Explanation Satisfaction</a:t>
            </a:r>
            <a:r>
              <a:rPr lang="en-US" sz="1600" b="0" u="none" strike="noStrike">
                <a:solidFill>
                  <a:srgbClr val="1b1a0e"/>
                </a:solidFill>
                <a:effectLst/>
                <a:uFillTx/>
                <a:latin typeface="Calibri"/>
              </a:rPr>
              <a:t> — anchored to </a:t>
            </a:r>
            <a:r>
              <a:rPr lang="en-US" sz="1600" b="1" u="none" strike="noStrike">
                <a:solidFill>
                  <a:srgbClr val="1b1a0e"/>
                </a:solidFill>
                <a:effectLst/>
                <a:uFillTx/>
                <a:latin typeface="Calibri"/>
              </a:rPr>
              <a:t>XEQ</a:t>
            </a:r>
            <a:r>
              <a:rPr lang="en-US" sz="1600" b="0" u="none" strike="noStrike">
                <a:solidFill>
                  <a:srgbClr val="1b1a0e"/>
                </a:solidFill>
                <a:effectLst/>
                <a:uFillTx/>
                <a:latin typeface="Calibri"/>
              </a:rPr>
              <a:t> (Wijekoon 2024): clarity, consistency, on-demand detail, reliability/fairness, improved understanding (KI-1, KI-4)</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Both </a:t>
            </a:r>
            <a:r>
              <a:rPr lang="en-US" sz="1600" b="1" u="none" strike="noStrike">
                <a:solidFill>
                  <a:srgbClr val="1b1a0e"/>
                </a:solidFill>
                <a:effectLst/>
                <a:uFillTx/>
                <a:latin typeface="Calibri"/>
              </a:rPr>
              <a:t>wired into the prototype</a:t>
            </a:r>
            <a:r>
              <a:rPr lang="en-US" sz="1600" b="0" u="none" strike="noStrike">
                <a:solidFill>
                  <a:srgbClr val="1b1a0e"/>
                </a:solidFill>
                <a:effectLst/>
                <a:uFillTx/>
                <a:latin typeface="Calibri"/>
              </a:rPr>
              <a:t> — completed in the same browser session, no external survey tool</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50"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1"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Procedure &amp; cohort</a:t>
            </a:r>
            <a:endParaRPr lang="es-ES" sz="3000" b="0" u="none" strike="noStrike">
              <a:solidFill>
                <a:srgbClr val="000000"/>
              </a:solidFill>
              <a:effectLst/>
              <a:uFillTx/>
              <a:latin typeface="Arial"/>
            </a:endParaRPr>
          </a:p>
        </p:txBody>
      </p:sp>
      <p:sp>
        <p:nvSpPr>
          <p:cNvPr id="152" name="TextBox 3"/>
          <p:cNvSpPr/>
          <p:nvPr/>
        </p:nvSpPr>
        <p:spPr>
          <a:xfrm>
            <a:off x="685080" y="1554480"/>
            <a:ext cx="10816200" cy="210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Six task scenarios</a:t>
            </a:r>
            <a:r>
              <a:rPr lang="en-US" sz="1600" b="0" u="none" strike="noStrike">
                <a:solidFill>
                  <a:srgbClr val="1b1a0e"/>
                </a:solidFill>
                <a:effectLst/>
                <a:uFillTx/>
                <a:latin typeface="Calibri"/>
              </a:rPr>
              <a:t> mapped to documented user flows: onboarding+search · read explanation · find alternative · compare shelf · set "my usual" · drag slider</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SEQ</a:t>
            </a:r>
            <a:r>
              <a:rPr lang="en-US" sz="1600" b="0" u="none" strike="noStrike">
                <a:solidFill>
                  <a:srgbClr val="1b1a0e"/>
                </a:solidFill>
                <a:effectLst/>
                <a:uFillTx/>
                <a:latin typeface="Calibri"/>
              </a:rPr>
              <a:t> after each task for per-flow diagnostics; SUS once at the end</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Cohort:</a:t>
            </a:r>
            <a:r>
              <a:rPr lang="en-US" sz="1600" b="0" u="none" strike="noStrike">
                <a:solidFill>
                  <a:srgbClr val="1b1a0e"/>
                </a:solidFill>
                <a:effectLst/>
                <a:uFillTx/>
                <a:latin typeface="Calibri"/>
              </a:rPr>
              <a:t> the six WA3 interviewees re-used (Nielsen formative, n=6). P01 &amp; P03 are team members — declared bias, weighted as optimistic</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Scoring </a:t>
            </a:r>
            <a:r>
              <a:rPr lang="en-US" sz="1600" b="1" u="none" strike="noStrike">
                <a:solidFill>
                  <a:srgbClr val="1b1a0e"/>
                </a:solidFill>
                <a:effectLst/>
                <a:uFillTx/>
                <a:latin typeface="Calibri"/>
              </a:rPr>
              <a:t>pre-registered</a:t>
            </a:r>
            <a:r>
              <a:rPr lang="en-US" sz="1600" b="0" u="none" strike="noStrike">
                <a:solidFill>
                  <a:srgbClr val="1b1a0e"/>
                </a:solidFill>
                <a:effectLst/>
                <a:uFillTx/>
                <a:latin typeface="Calibri"/>
              </a:rPr>
              <a:t>: odd items raw minus 1, even items 5 minus raw, then x2.5 to 0-100; benchmark </a:t>
            </a:r>
            <a:r>
              <a:rPr lang="en-US" sz="1600" b="1" u="none" strike="noStrike">
                <a:solidFill>
                  <a:srgbClr val="1b1a0e"/>
                </a:solidFill>
                <a:effectLst/>
                <a:uFillTx/>
                <a:latin typeface="Calibri"/>
              </a:rPr>
              <a:t>68</a:t>
            </a:r>
            <a:r>
              <a:rPr lang="en-US" sz="1600" b="0" u="none" strike="noStrike">
                <a:solidFill>
                  <a:srgbClr val="1b1a0e"/>
                </a:solidFill>
                <a:effectLst/>
                <a:uFillTx/>
                <a:latin typeface="Calibri"/>
              </a:rPr>
              <a:t>, Sauro–Lewis grade bands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53"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4" name="TextBox 2"/>
          <p:cNvSpPr/>
          <p:nvPr/>
        </p:nvSpPr>
        <p:spPr>
          <a:xfrm>
            <a:off x="685080" y="548640"/>
            <a:ext cx="108162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Honest status: instrument built, data pending</a:t>
            </a:r>
            <a:endParaRPr lang="es-ES" sz="3000" b="0" u="none" strike="noStrike">
              <a:solidFill>
                <a:srgbClr val="000000"/>
              </a:solidFill>
              <a:effectLst/>
              <a:uFillTx/>
              <a:latin typeface="Arial"/>
            </a:endParaRPr>
          </a:p>
        </p:txBody>
      </p:sp>
      <p:sp>
        <p:nvSpPr>
          <p:cNvPr id="155" name="TextBox 3"/>
          <p:cNvSpPr/>
          <p:nvPr/>
        </p:nvSpPr>
        <p:spPr>
          <a:xfrm>
            <a:off x="685080" y="1554120"/>
            <a:ext cx="10816200" cy="1864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The instrument is </a:t>
            </a:r>
            <a:r>
              <a:rPr lang="en-US" sz="1600" b="1" u="none" strike="noStrike">
                <a:solidFill>
                  <a:srgbClr val="1b1a0e"/>
                </a:solidFill>
                <a:effectLst/>
                <a:uFillTx/>
                <a:latin typeface="Calibri"/>
              </a:rPr>
              <a:t>built, wired, and ready</a:t>
            </a:r>
            <a:r>
              <a:rPr lang="en-US" sz="1600" b="0" u="none" strike="noStrike">
                <a:solidFill>
                  <a:srgbClr val="1b1a0e"/>
                </a:solidFill>
                <a:effectLst/>
                <a:uFillTx/>
                <a:latin typeface="Calibri"/>
              </a:rPr>
              <a:t>. The task suite and cohort are defined.</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No participant data has been collected yet.</a:t>
            </a:r>
            <a:r>
              <a:rPr lang="en-US" sz="1600" b="0" u="none" strike="noStrike">
                <a:solidFill>
                  <a:srgbClr val="1b1a0e"/>
                </a:solidFill>
                <a:effectLst/>
                <a:uFillTx/>
                <a:latin typeface="Calibri"/>
              </a:rPr>
              <a:t> We will </a:t>
            </a:r>
            <a:r>
              <a:rPr lang="en-US" sz="1600" b="1" u="none" strike="noStrike">
                <a:solidFill>
                  <a:srgbClr val="1b1a0e"/>
                </a:solidFill>
                <a:effectLst/>
                <a:uFillTx/>
                <a:latin typeface="Calibri"/>
              </a:rPr>
              <a:t>not</a:t>
            </a:r>
            <a:r>
              <a:rPr lang="en-US" sz="1600" b="0" u="none" strike="noStrike">
                <a:solidFill>
                  <a:srgbClr val="1b1a0e"/>
                </a:solidFill>
                <a:effectLst/>
                <a:uFillTx/>
                <a:latin typeface="Calibri"/>
              </a:rPr>
              <a:t> quote a SUS score we did not measure.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0" u="none" strike="noStrike">
                <a:solidFill>
                  <a:srgbClr val="1b1a0e"/>
                </a:solidFill>
                <a:effectLst/>
                <a:uFillTx/>
                <a:latin typeface="Calibri"/>
              </a:rPr>
              <a:t>Pre-committing the scoring rules and thresholds </a:t>
            </a:r>
            <a:r>
              <a:rPr lang="en-US" sz="1600" b="1" u="none" strike="noStrike">
                <a:solidFill>
                  <a:srgbClr val="1b1a0e"/>
                </a:solidFill>
                <a:effectLst/>
                <a:uFillTx/>
                <a:latin typeface="Calibri"/>
              </a:rPr>
              <a:t>before</a:t>
            </a:r>
            <a:r>
              <a:rPr lang="en-US" sz="1600" b="0" u="none" strike="noStrike">
                <a:solidFill>
                  <a:srgbClr val="1b1a0e"/>
                </a:solidFill>
                <a:effectLst/>
                <a:uFillTx/>
                <a:latin typeface="Calibri"/>
              </a:rPr>
              <a:t> collection is sound method — it removes the temptation to fit interpretation to whatever numbers arrive.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Pre-registered hypotheses:</a:t>
            </a:r>
            <a:r>
              <a:rPr lang="en-US" sz="1600" b="0" u="none" strike="noStrike">
                <a:solidFill>
                  <a:srgbClr val="1b1a0e"/>
                </a:solidFill>
                <a:effectLst/>
                <a:uFillTx/>
                <a:latin typeface="Calibri"/>
              </a:rPr>
              <a:t> (H-a) contrastive + drill-down raises satisfaction for the sceptic; (H-b) zero-config default -&gt; high SEQ for the pragmatist; (H-c) any moralising copy erodes trust for the convenience seeker.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5018"/>
        </a:solidFill>
      </p:bgPr>
    </p:bg>
    <p:spTree>
      <p:nvGrpSpPr>
        <p:cNvPr id="1" name=""/>
        <p:cNvGrpSpPr/>
        <p:nvPr/>
      </p:nvGrpSpPr>
      <p:grpSpPr>
        <a:xfrm>
          <a:off x="0" y="0"/>
          <a:ext cx="0" cy="0"/>
          <a:chOff x="0" y="0"/>
          <a:chExt cx="0" cy="0"/>
        </a:xfrm>
      </p:grpSpPr>
      <p:sp>
        <p:nvSpPr>
          <p:cNvPr id="156" name="TextBox 1"/>
          <p:cNvSpPr/>
          <p:nvPr/>
        </p:nvSpPr>
        <p:spPr>
          <a:xfrm>
            <a:off x="8988120" y="3657240"/>
            <a:ext cx="2742480" cy="2832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lang="en-US" sz="18000" b="0" u="none" strike="noStrike">
                <a:solidFill>
                  <a:srgbClr val="4a7a2a"/>
                </a:solidFill>
                <a:effectLst/>
                <a:uFillTx/>
                <a:latin typeface="Georgia"/>
              </a:rPr>
              <a:t>4</a:t>
            </a:r>
            <a:endParaRPr lang="es-ES" sz="18000" b="0" u="none" strike="noStrike">
              <a:solidFill>
                <a:srgbClr val="ffffff"/>
              </a:solidFill>
              <a:effectLst/>
              <a:uFillTx/>
              <a:latin typeface="Arial"/>
            </a:endParaRPr>
          </a:p>
        </p:txBody>
      </p:sp>
      <p:sp>
        <p:nvSpPr>
          <p:cNvPr id="157" name="TextBox 2"/>
          <p:cNvSpPr/>
          <p:nvPr/>
        </p:nvSpPr>
        <p:spPr>
          <a:xfrm>
            <a:off x="685080" y="82260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aacc88"/>
                </a:solidFill>
                <a:effectLst/>
                <a:uFillTx/>
                <a:latin typeface="Courier New"/>
              </a:rPr>
              <a:t>Section 4</a:t>
            </a:r>
            <a:endParaRPr lang="es-ES" sz="1100" b="0" u="none" strike="noStrike">
              <a:solidFill>
                <a:srgbClr val="ffffff"/>
              </a:solidFill>
              <a:effectLst/>
              <a:uFillTx/>
              <a:latin typeface="Arial"/>
            </a:endParaRPr>
          </a:p>
        </p:txBody>
      </p:sp>
      <p:sp>
        <p:nvSpPr>
          <p:cNvPr id="158" name="TextBox 3"/>
          <p:cNvSpPr/>
          <p:nvPr/>
        </p:nvSpPr>
        <p:spPr>
          <a:xfrm>
            <a:off x="685080" y="1371600"/>
            <a:ext cx="822888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4800" b="0" u="none" strike="noStrike">
                <a:solidFill>
                  <a:srgbClr val="faf8f0"/>
                </a:solidFill>
                <a:effectLst/>
                <a:uFillTx/>
                <a:latin typeface="Georgia"/>
              </a:rPr>
              <a:t>Technical</a:t>
            </a:r>
            <a:endParaRPr lang="es-ES" sz="4800" b="0" u="none" strike="noStrike">
              <a:solidFill>
                <a:srgbClr val="ffffff"/>
              </a:solidFill>
              <a:effectLst/>
              <a:uFillTx/>
              <a:latin typeface="Arial"/>
            </a:endParaRPr>
          </a:p>
          <a:p>
            <a:pPr defTabSz="457200">
              <a:lnSpc>
                <a:spcPct val="100000"/>
              </a:lnSpc>
            </a:pPr>
            <a:r>
              <a:rPr lang="en-US" sz="4800" b="0" i="1" u="none" strike="noStrike">
                <a:solidFill>
                  <a:srgbClr val="cceeaa"/>
                </a:solidFill>
                <a:effectLst/>
                <a:uFillTx/>
                <a:latin typeface="Georgia"/>
              </a:rPr>
              <a:t>&amp; design challenges</a:t>
            </a:r>
            <a:endParaRPr lang="es-E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59"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0"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Open Food Facts: the API fought back</a:t>
            </a:r>
            <a:endParaRPr lang="es-ES" sz="3000" b="0" u="none" strike="noStrike">
              <a:solidFill>
                <a:srgbClr val="000000"/>
              </a:solidFill>
              <a:effectLst/>
              <a:uFillTx/>
              <a:latin typeface="Arial"/>
            </a:endParaRPr>
          </a:p>
        </p:txBody>
      </p:sp>
      <p:sp>
        <p:nvSpPr>
          <p:cNvPr id="161" name="TextBox 3"/>
          <p:cNvSpPr/>
          <p:nvPr/>
        </p:nvSpPr>
        <p:spPr>
          <a:xfrm>
            <a:off x="685080" y="1554120"/>
            <a:ext cx="10816200" cy="2248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Intermittent 503s</a:t>
            </a:r>
            <a:r>
              <a:rPr lang="en-US" sz="1600" b="0" u="none" strike="noStrike">
                <a:solidFill>
                  <a:srgbClr val="1b1a0e"/>
                </a:solidFill>
                <a:effectLst/>
                <a:uFillTx/>
                <a:latin typeface="Calibri"/>
              </a:rPr>
              <a:t> on </a:t>
            </a:r>
            <a:r>
              <a:rPr lang="en-US" sz="1600" b="0" u="none" strike="noStrike">
                <a:solidFill>
                  <a:srgbClr val="6b6550"/>
                </a:solidFill>
                <a:effectLst/>
                <a:uFillTx/>
                <a:latin typeface="Courier New"/>
              </a:rPr>
              <a:t>/search</a:t>
            </a:r>
            <a:r>
              <a:rPr lang="en-US" sz="1600" b="0" u="none" strike="noStrike">
                <a:solidFill>
                  <a:srgbClr val="1b1a0e"/>
                </a:solidFill>
                <a:effectLst/>
                <a:uFillTx/>
                <a:latin typeface="Calibri"/>
              </a:rPr>
              <a:t> -&gt; silent fallback to </a:t>
            </a:r>
            <a:r>
              <a:rPr lang="en-US" sz="1600" b="0" u="none" strike="noStrike">
                <a:solidFill>
                  <a:srgbClr val="6b6550"/>
                </a:solidFill>
                <a:effectLst/>
                <a:uFillTx/>
                <a:latin typeface="Courier New"/>
              </a:rPr>
              <a:t>sample_products.json</a:t>
            </a:r>
            <a:r>
              <a:rPr lang="en-US" sz="1600" b="0" u="none" strike="noStrike">
                <a:solidFill>
                  <a:srgbClr val="1b1a0e"/>
                </a:solidFill>
                <a:effectLst/>
                <a:uFillTx/>
                <a:latin typeface="Calibri"/>
              </a:rPr>
              <a:t>, non-blocking banner keeps the UI alive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Missing `User-Agent` -&gt; 403.</a:t>
            </a:r>
            <a:r>
              <a:rPr lang="en-US" sz="1600" b="0" u="none" strike="noStrike">
                <a:solidFill>
                  <a:srgbClr val="1b1a0e"/>
                </a:solidFill>
                <a:effectLst/>
                <a:uFillTx/>
                <a:latin typeface="Calibri"/>
              </a:rPr>
              <a:t> Mandatory header </a:t>
            </a:r>
            <a:r>
              <a:rPr lang="en-US" sz="1600" b="0" u="none" strike="noStrike">
                <a:solidFill>
                  <a:srgbClr val="6b6550"/>
                </a:solidFill>
                <a:effectLst/>
                <a:uFillTx/>
                <a:latin typeface="Courier New"/>
              </a:rPr>
              <a:t>FoodLens-MVP/0.1</a:t>
            </a:r>
            <a:r>
              <a:rPr lang="en-US" sz="1600" b="0" u="none" strike="noStrike">
                <a:solidFill>
                  <a:srgbClr val="1b1a0e"/>
                </a:solidFill>
                <a:effectLst/>
                <a:uFillTx/>
                <a:latin typeface="Calibri"/>
              </a:rPr>
              <a:t> on every call</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Field rename:</a:t>
            </a:r>
            <a:r>
              <a:rPr lang="en-US" sz="1600" b="0" u="none" strike="noStrike">
                <a:solidFill>
                  <a:srgbClr val="1b1a0e"/>
                </a:solidFill>
                <a:effectLst/>
                <a:uFillTx/>
                <a:latin typeface="Calibri"/>
              </a:rPr>
              <a:t> read </a:t>
            </a:r>
            <a:r>
              <a:rPr lang="en-US" sz="1600" b="0" u="none" strike="noStrike">
                <a:solidFill>
                  <a:srgbClr val="6b6550"/>
                </a:solidFill>
                <a:effectLst/>
                <a:uFillTx/>
                <a:latin typeface="Courier New"/>
              </a:rPr>
              <a:t>environmental_score_grade</a:t>
            </a:r>
            <a:r>
              <a:rPr lang="en-US" sz="1600" b="0" u="none" strike="noStrike">
                <a:solidFill>
                  <a:srgbClr val="1b1a0e"/>
                </a:solidFill>
                <a:effectLst/>
                <a:uFillTx/>
                <a:latin typeface="Calibri"/>
              </a:rPr>
              <a:t> </a:t>
            </a:r>
            <a:r>
              <a:rPr lang="en-US" sz="1600" b="1" u="none" strike="noStrike">
                <a:solidFill>
                  <a:srgbClr val="1b1a0e"/>
                </a:solidFill>
                <a:effectLst/>
                <a:uFillTx/>
                <a:latin typeface="Calibri"/>
              </a:rPr>
              <a:t>first</a:t>
            </a:r>
            <a:r>
              <a:rPr lang="en-US" sz="1600" b="0" u="none" strike="noStrike">
                <a:solidFill>
                  <a:srgbClr val="1b1a0e"/>
                </a:solidFill>
                <a:effectLst/>
                <a:uFillTx/>
                <a:latin typeface="Calibri"/>
              </a:rPr>
              <a:t>, fall back to legacy </a:t>
            </a:r>
            <a:r>
              <a:rPr lang="en-US" sz="1600" b="0" u="none" strike="noStrike">
                <a:solidFill>
                  <a:srgbClr val="6b6550"/>
                </a:solidFill>
                <a:effectLst/>
                <a:uFillTx/>
                <a:latin typeface="Courier New"/>
              </a:rPr>
              <a:t>ecoscore_grade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Rate limits</a:t>
            </a:r>
            <a:r>
              <a:rPr lang="en-US" sz="1600" b="0" u="none" strike="noStrike">
                <a:solidFill>
                  <a:srgbClr val="1b1a0e"/>
                </a:solidFill>
                <a:effectLst/>
                <a:uFillTx/>
                <a:latin typeface="Calibri"/>
              </a:rPr>
              <a:t> (search 10/min) -&gt; </a:t>
            </a:r>
            <a:r>
              <a:rPr lang="en-US" sz="1600" b="1" u="none" strike="noStrike">
                <a:solidFill>
                  <a:srgbClr val="1b1a0e"/>
                </a:solidFill>
                <a:effectLst/>
                <a:uFillTx/>
                <a:latin typeface="Calibri"/>
              </a:rPr>
              <a:t>Redis</a:t>
            </a:r>
            <a:r>
              <a:rPr lang="en-US" sz="1600" b="0" u="none" strike="noStrike">
                <a:solidFill>
                  <a:srgbClr val="1b1a0e"/>
                </a:solidFill>
                <a:effectLst/>
                <a:uFillTx/>
                <a:latin typeface="Calibri"/>
              </a:rPr>
              <a:t> cache budgeting on the backend</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Graceful degradation:</a:t>
            </a:r>
            <a:r>
              <a:rPr lang="en-US" sz="1600" b="0" u="none" strike="noStrike">
                <a:solidFill>
                  <a:srgbClr val="1b1a0e"/>
                </a:solidFill>
                <a:effectLst/>
                <a:uFillTx/>
                <a:latin typeface="Calibri"/>
              </a:rPr>
              <a:t> backend times out at </a:t>
            </a:r>
            <a:r>
              <a:rPr lang="en-US" sz="1600" b="1" u="none" strike="noStrike">
                <a:solidFill>
                  <a:srgbClr val="1b1a0e"/>
                </a:solidFill>
                <a:effectLst/>
                <a:uFillTx/>
                <a:latin typeface="Calibri"/>
              </a:rPr>
              <a:t>1500 ms</a:t>
            </a:r>
            <a:r>
              <a:rPr lang="en-US" sz="1600" b="0" u="none" strike="noStrike">
                <a:solidFill>
                  <a:srgbClr val="1b1a0e"/>
                </a:solidFill>
                <a:effectLst/>
                <a:uFillTx/>
                <a:latin typeface="Calibri"/>
              </a:rPr>
              <a:t> (KNN) / </a:t>
            </a:r>
            <a:r>
              <a:rPr lang="en-US" sz="1600" b="1" u="none" strike="noStrike">
                <a:solidFill>
                  <a:srgbClr val="1b1a0e"/>
                </a:solidFill>
                <a:effectLst/>
                <a:uFillTx/>
                <a:latin typeface="Calibri"/>
              </a:rPr>
              <a:t>2000 ms</a:t>
            </a:r>
            <a:r>
              <a:rPr lang="en-US" sz="1600" b="0" u="none" strike="noStrike">
                <a:solidFill>
                  <a:srgbClr val="1b1a0e"/>
                </a:solidFill>
                <a:effectLst/>
                <a:uFillTx/>
                <a:latin typeface="Calibri"/>
              </a:rPr>
              <a:t> (explanation), then falls back to the in-browser path</a:t>
            </a:r>
            <a:endParaRPr lang="es-ES" sz="1600" b="0" u="none" strike="noStrike">
              <a:solidFill>
                <a:srgbClr val="000000"/>
              </a:solidFill>
              <a:effectLst/>
              <a:uFillTx/>
              <a:latin typeface="Arial"/>
            </a:endParaRPr>
          </a:p>
          <a:p>
            <a:pPr defTabSz="457200">
              <a:lnSpc>
                <a:spcPct val="100000"/>
              </a:lnSpc>
              <a:spcBef>
                <a:spcPts val="601"/>
              </a:spcBef>
            </a:pPr>
            <a:r>
              <a:rPr lang="en-US" sz="1500" b="0" u="none" strike="noStrike">
                <a:solidFill>
                  <a:srgbClr val="1b1a0e"/>
                </a:solidFill>
                <a:effectLst/>
                <a:uFillTx/>
                <a:latin typeface="Calibri"/>
              </a:rPr>
              <a:t>Design discipline under pressure: keep the </a:t>
            </a:r>
            <a:r>
              <a:rPr lang="en-US" sz="1500" b="1" u="none" strike="noStrike">
                <a:solidFill>
                  <a:srgbClr val="1b1a0e"/>
                </a:solidFill>
                <a:effectLst/>
                <a:uFillTx/>
                <a:latin typeface="Calibri"/>
              </a:rPr>
              <a:t>eco badge visible</a:t>
            </a:r>
            <a:r>
              <a:rPr lang="en-US" sz="1500" b="0" u="none" strike="noStrike">
                <a:solidFill>
                  <a:srgbClr val="1b1a0e"/>
                </a:solidFill>
                <a:effectLst/>
                <a:uFillTx/>
                <a:latin typeface="Calibri"/>
              </a:rPr>
              <a:t> for "not-applicable" (H1); hold </a:t>
            </a:r>
            <a:r>
              <a:rPr lang="en-US" sz="1500" b="1" u="none" strike="noStrike">
                <a:solidFill>
                  <a:srgbClr val="1b1a0e"/>
                </a:solidFill>
                <a:effectLst/>
                <a:uFillTx/>
                <a:latin typeface="Calibri"/>
              </a:rPr>
              <a:t>one-sentence-one-number</a:t>
            </a:r>
            <a:r>
              <a:rPr lang="en-US" sz="1500" b="0" u="none" strike="noStrike">
                <a:solidFill>
                  <a:srgbClr val="1b1a0e"/>
                </a:solidFill>
                <a:effectLst/>
                <a:uFillTx/>
                <a:latin typeface="Calibri"/>
              </a:rPr>
              <a:t> even when SHAP hands us a rich vector (H3).</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62"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3" name="TextBox 2"/>
          <p:cNvSpPr/>
          <p:nvPr/>
        </p:nvSpPr>
        <p:spPr>
          <a:xfrm>
            <a:off x="685080" y="548640"/>
            <a:ext cx="108162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Honest QA: defects we found and fixed before release</a:t>
            </a:r>
            <a:endParaRPr lang="es-ES" sz="3000" b="0" u="none" strike="noStrike">
              <a:solidFill>
                <a:srgbClr val="000000"/>
              </a:solidFill>
              <a:effectLst/>
              <a:uFillTx/>
              <a:latin typeface="Arial"/>
            </a:endParaRPr>
          </a:p>
        </p:txBody>
      </p:sp>
      <p:sp>
        <p:nvSpPr>
          <p:cNvPr id="164" name="TextBox 3"/>
          <p:cNvSpPr/>
          <p:nvPr/>
        </p:nvSpPr>
        <p:spPr>
          <a:xfrm>
            <a:off x="685080" y="1554480"/>
            <a:ext cx="10816200" cy="2367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601"/>
              </a:spcBef>
            </a:pPr>
            <a:r>
              <a:rPr lang="en-US" sz="1500" b="0" u="none" strike="noStrike">
                <a:solidFill>
                  <a:srgbClr val="1b1a0e"/>
                </a:solidFill>
                <a:effectLst/>
                <a:uFillTx/>
                <a:latin typeface="Calibri"/>
              </a:rPr>
              <a:t>An adversarial review + engineering pass caught </a:t>
            </a:r>
            <a:r>
              <a:rPr lang="en-US" sz="1500" b="1" u="none" strike="noStrike">
                <a:solidFill>
                  <a:srgbClr val="1b1a0e"/>
                </a:solidFill>
                <a:effectLst/>
                <a:uFillTx/>
                <a:latin typeface="Calibri"/>
              </a:rPr>
              <a:t>three real defects</a:t>
            </a:r>
            <a:r>
              <a:rPr lang="en-US" sz="1500" b="0" u="none" strike="noStrike">
                <a:solidFill>
                  <a:srgbClr val="1b1a0e"/>
                </a:solidFill>
                <a:effectLst/>
                <a:uFillTx/>
                <a:latin typeface="Calibri"/>
              </a:rPr>
              <a:t> — none of which a usability test would have caught:</a:t>
            </a:r>
            <a:endParaRPr lang="es-ES" sz="15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Allergen filters were dead.</a:t>
            </a:r>
            <a:r>
              <a:rPr lang="en-US" sz="1600" b="0" u="none" strike="noStrike">
                <a:solidFill>
                  <a:srgbClr val="1b1a0e"/>
                </a:solidFill>
                <a:effectLst/>
                <a:uFillTx/>
                <a:latin typeface="Calibri"/>
              </a:rPr>
              <a:t> </a:t>
            </a:r>
            <a:r>
              <a:rPr lang="en-US" sz="1600" b="0" u="none" strike="noStrike">
                <a:solidFill>
                  <a:srgbClr val="6b6550"/>
                </a:solidFill>
                <a:effectLst/>
                <a:uFillTx/>
                <a:latin typeface="Courier New"/>
              </a:rPr>
              <a:t>api.js</a:t>
            </a:r>
            <a:r>
              <a:rPr lang="en-US" sz="1600" b="0" u="none" strike="noStrike">
                <a:solidFill>
                  <a:srgbClr val="1b1a0e"/>
                </a:solidFill>
                <a:effectLst/>
                <a:uFillTx/>
                <a:latin typeface="Calibri"/>
              </a:rPr>
              <a:t> never requested </a:t>
            </a:r>
            <a:r>
              <a:rPr lang="en-US" sz="1600" b="0" u="none" strike="noStrike">
                <a:solidFill>
                  <a:srgbClr val="6b6550"/>
                </a:solidFill>
                <a:effectLst/>
                <a:uFillTx/>
                <a:latin typeface="Courier New"/>
              </a:rPr>
              <a:t>allergens_tags</a:t>
            </a:r>
            <a:r>
              <a:rPr lang="en-US" sz="1600" b="0" u="none" strike="noStrike">
                <a:solidFill>
                  <a:srgbClr val="1b1a0e"/>
                </a:solidFill>
                <a:effectLst/>
                <a:uFillTx/>
                <a:latin typeface="Calibri"/>
              </a:rPr>
              <a:t>, so cards carried no allergen data — a </a:t>
            </a:r>
            <a:r>
              <a:rPr lang="en-US" sz="1600" b="1" u="none" strike="noStrike">
                <a:solidFill>
                  <a:srgbClr val="1b1a0e"/>
                </a:solidFill>
                <a:effectLst/>
                <a:uFillTx/>
                <a:latin typeface="Calibri"/>
              </a:rPr>
              <a:t>safety issue</a:t>
            </a:r>
            <a:r>
              <a:rPr lang="en-US" sz="1600" b="0" u="none" strike="noStrike">
                <a:solidFill>
                  <a:srgbClr val="1b1a0e"/>
                </a:solidFill>
                <a:effectLst/>
                <a:uFillTx/>
                <a:latin typeface="Calibri"/>
              </a:rPr>
              <a:t>. Fix: request the field, normalise to tokens, exact OFF-token matching.</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Category browser search was commented out.</a:t>
            </a:r>
            <a:r>
              <a:rPr lang="en-US" sz="1600" b="0" u="none" strike="noStrike">
                <a:solidFill>
                  <a:srgbClr val="1b1a0e"/>
                </a:solidFill>
                <a:effectLst/>
                <a:uFillTx/>
                <a:latin typeface="Calibri"/>
              </a:rPr>
              <a:t> </a:t>
            </a:r>
            <a:r>
              <a:rPr lang="en-US" sz="1600" b="0" u="none" strike="noStrike">
                <a:solidFill>
                  <a:srgbClr val="6b6550"/>
                </a:solidFill>
                <a:effectLst/>
                <a:uFillTx/>
                <a:latin typeface="Courier New"/>
              </a:rPr>
              <a:t>runSearch</a:t>
            </a:r>
            <a:r>
              <a:rPr lang="en-US" sz="1600" b="0" u="none" strike="noStrike">
                <a:solidFill>
                  <a:srgbClr val="1b1a0e"/>
                </a:solidFill>
                <a:effectLst/>
                <a:uFillTx/>
                <a:latin typeface="Calibri"/>
              </a:rPr>
              <a:t> wiring was dead. Fix: connected dropdown filters to live in-memory rendering.</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Falsy-zero bug.</a:t>
            </a:r>
            <a:r>
              <a:rPr lang="en-US" sz="1600" b="0" u="none" strike="noStrike">
                <a:solidFill>
                  <a:srgbClr val="1b1a0e"/>
                </a:solidFill>
                <a:effectLst/>
                <a:uFillTx/>
                <a:latin typeface="Calibri"/>
              </a:rPr>
              <a:t> A genuine </a:t>
            </a:r>
            <a:r>
              <a:rPr lang="en-US" sz="1600" b="1" u="none" strike="noStrike">
                <a:solidFill>
                  <a:srgbClr val="1b1a0e"/>
                </a:solidFill>
                <a:effectLst/>
                <a:uFillTx/>
                <a:latin typeface="Calibri"/>
              </a:rPr>
              <a:t>0 g</a:t>
            </a:r>
            <a:r>
              <a:rPr lang="en-US" sz="1600" b="0" u="none" strike="noStrike">
                <a:solidFill>
                  <a:srgbClr val="1b1a0e"/>
                </a:solidFill>
                <a:effectLst/>
                <a:uFillTx/>
                <a:latin typeface="Calibri"/>
              </a:rPr>
              <a:t> rendered as "no data" under a truthiness test. Fix: explicit </a:t>
            </a:r>
            <a:r>
              <a:rPr lang="en-US" sz="1600" b="0" u="none" strike="noStrike">
                <a:solidFill>
                  <a:srgbClr val="6b6550"/>
                </a:solidFill>
                <a:effectLst/>
                <a:uFillTx/>
                <a:latin typeface="Courier New"/>
              </a:rPr>
              <a:t>typeof</a:t>
            </a:r>
            <a:r>
              <a:rPr lang="en-US" sz="1600" b="0" u="none" strike="noStrike">
                <a:solidFill>
                  <a:srgbClr val="1b1a0e"/>
                </a:solidFill>
                <a:effectLst/>
                <a:uFillTx/>
                <a:latin typeface="Calibri"/>
              </a:rPr>
              <a:t>/null guards — real 0 shows "0"; missing shows "no data".</a:t>
            </a:r>
            <a:endParaRPr lang="es-ES" sz="1600" b="0" u="none" strike="noStrike">
              <a:solidFill>
                <a:srgbClr val="000000"/>
              </a:solidFill>
              <a:effectLst/>
              <a:uFillTx/>
              <a:latin typeface="Arial"/>
            </a:endParaRPr>
          </a:p>
          <a:p>
            <a:pPr defTabSz="457200">
              <a:lnSpc>
                <a:spcPct val="100000"/>
              </a:lnSpc>
              <a:spcBef>
                <a:spcPts val="601"/>
              </a:spcBef>
            </a:pPr>
            <a:r>
              <a:rPr lang="en-US" sz="1500" b="0" u="none" strike="noStrike">
                <a:solidFill>
                  <a:srgbClr val="1b1a0e"/>
                </a:solidFill>
                <a:effectLst/>
                <a:uFillTx/>
                <a:latin typeface="Calibri"/>
              </a:rPr>
              <a:t>We disclose these candidly. Finding them strengthens the build; hiding them would not.</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5018"/>
        </a:solidFill>
      </p:bgPr>
    </p:bg>
    <p:spTree>
      <p:nvGrpSpPr>
        <p:cNvPr id="1" name=""/>
        <p:cNvGrpSpPr/>
        <p:nvPr/>
      </p:nvGrpSpPr>
      <p:grpSpPr>
        <a:xfrm>
          <a:off x="0" y="0"/>
          <a:ext cx="0" cy="0"/>
          <a:chOff x="0" y="0"/>
          <a:chExt cx="0" cy="0"/>
        </a:xfrm>
      </p:grpSpPr>
      <p:sp>
        <p:nvSpPr>
          <p:cNvPr id="165" name="TextBox 1"/>
          <p:cNvSpPr/>
          <p:nvPr/>
        </p:nvSpPr>
        <p:spPr>
          <a:xfrm>
            <a:off x="8988120" y="3657240"/>
            <a:ext cx="2742480" cy="2832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lang="en-US" sz="18000" b="0" u="none" strike="noStrike">
                <a:solidFill>
                  <a:srgbClr val="4a7a2a"/>
                </a:solidFill>
                <a:effectLst/>
                <a:uFillTx/>
                <a:latin typeface="Georgia"/>
              </a:rPr>
              <a:t>5</a:t>
            </a:r>
            <a:endParaRPr lang="es-ES" sz="18000" b="0" u="none" strike="noStrike">
              <a:solidFill>
                <a:srgbClr val="ffffff"/>
              </a:solidFill>
              <a:effectLst/>
              <a:uFillTx/>
              <a:latin typeface="Arial"/>
            </a:endParaRPr>
          </a:p>
        </p:txBody>
      </p:sp>
      <p:sp>
        <p:nvSpPr>
          <p:cNvPr id="166" name="TextBox 2"/>
          <p:cNvSpPr/>
          <p:nvPr/>
        </p:nvSpPr>
        <p:spPr>
          <a:xfrm>
            <a:off x="685080" y="82260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aacc88"/>
                </a:solidFill>
                <a:effectLst/>
                <a:uFillTx/>
                <a:latin typeface="Courier New"/>
              </a:rPr>
              <a:t>Section 5</a:t>
            </a:r>
            <a:endParaRPr lang="es-ES" sz="1100" b="0" u="none" strike="noStrike">
              <a:solidFill>
                <a:srgbClr val="ffffff"/>
              </a:solidFill>
              <a:effectLst/>
              <a:uFillTx/>
              <a:latin typeface="Arial"/>
            </a:endParaRPr>
          </a:p>
        </p:txBody>
      </p:sp>
      <p:sp>
        <p:nvSpPr>
          <p:cNvPr id="167" name="TextBox 3"/>
          <p:cNvSpPr/>
          <p:nvPr/>
        </p:nvSpPr>
        <p:spPr>
          <a:xfrm>
            <a:off x="685080" y="1371600"/>
            <a:ext cx="8228880" cy="821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4800" b="0" u="none" strike="noStrike">
                <a:solidFill>
                  <a:srgbClr val="faf8f0"/>
                </a:solidFill>
                <a:effectLst/>
                <a:uFillTx/>
                <a:latin typeface="Georgia"/>
              </a:rPr>
              <a:t>Live demonstration</a:t>
            </a:r>
            <a:endParaRPr lang="es-E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68"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9"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What we will show live (about 8 min)</a:t>
            </a:r>
            <a:endParaRPr lang="es-ES" sz="3000" b="0" u="none" strike="noStrike">
              <a:solidFill>
                <a:srgbClr val="000000"/>
              </a:solidFill>
              <a:effectLst/>
              <a:uFillTx/>
              <a:latin typeface="Arial"/>
            </a:endParaRPr>
          </a:p>
        </p:txBody>
      </p:sp>
      <p:sp>
        <p:nvSpPr>
          <p:cNvPr id="170" name="TextBox 3"/>
          <p:cNvSpPr/>
          <p:nvPr/>
        </p:nvSpPr>
        <p:spPr>
          <a:xfrm>
            <a:off x="685080" y="1554480"/>
            <a:ext cx="10816200" cy="2938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00"/>
              </a:spcBef>
            </a:pPr>
            <a:r>
              <a:rPr lang="en-US" sz="1500" b="1" u="none" strike="noStrike">
                <a:solidFill>
                  <a:srgbClr val="2c5018"/>
                </a:solidFill>
                <a:effectLst/>
                <a:uFillTx/>
                <a:latin typeface="Courier New"/>
              </a:rPr>
              <a:t>1.  </a:t>
            </a:r>
            <a:r>
              <a:rPr lang="en-US" sz="1600" b="1" u="none" strike="noStrike">
                <a:solidFill>
                  <a:srgbClr val="1b1a0e"/>
                </a:solidFill>
                <a:effectLst/>
                <a:uFillTx/>
                <a:latin typeface="Calibri"/>
              </a:rPr>
              <a:t>Onboarding</a:t>
            </a:r>
            <a:r>
              <a:rPr lang="en-US" sz="1600" b="0" u="none" strike="noStrike">
                <a:solidFill>
                  <a:srgbClr val="1b1a0e"/>
                </a:solidFill>
                <a:effectLst/>
                <a:uFillTx/>
                <a:latin typeface="Calibri"/>
              </a:rPr>
              <a:t> — goals + age + gender only (H6), then a product search</a:t>
            </a:r>
            <a:endParaRPr lang="es-ES" sz="1600" b="0" u="none" strike="noStrike">
              <a:solidFill>
                <a:srgbClr val="000000"/>
              </a:solidFill>
              <a:effectLst/>
              <a:uFillTx/>
              <a:latin typeface="Arial"/>
            </a:endParaRPr>
          </a:p>
          <a:p>
            <a:pPr defTabSz="457200">
              <a:lnSpc>
                <a:spcPct val="100000"/>
              </a:lnSpc>
              <a:spcBef>
                <a:spcPts val="400"/>
              </a:spcBef>
            </a:pPr>
            <a:r>
              <a:rPr lang="en-US" sz="1500" b="1" u="none" strike="noStrike">
                <a:solidFill>
                  <a:srgbClr val="2c5018"/>
                </a:solidFill>
                <a:effectLst/>
                <a:uFillTx/>
                <a:latin typeface="Courier New"/>
              </a:rPr>
              <a:t>2.  </a:t>
            </a:r>
            <a:r>
              <a:rPr lang="en-US" sz="1600" b="1" u="none" strike="noStrike">
                <a:solidFill>
                  <a:srgbClr val="1b1a0e"/>
                </a:solidFill>
                <a:effectLst/>
                <a:uFillTx/>
                <a:latin typeface="Calibri"/>
              </a:rPr>
              <a:t>Dual-axis card</a:t>
            </a:r>
            <a:r>
              <a:rPr lang="en-US" sz="1600" b="0" u="none" strike="noStrike">
                <a:solidFill>
                  <a:srgbClr val="1b1a0e"/>
                </a:solidFill>
                <a:effectLst/>
                <a:uFillTx/>
                <a:latin typeface="Calibri"/>
              </a:rPr>
              <a:t> — Nutri-Score and Eco-Score side by side, contrastive sentence </a:t>
            </a:r>
            <a:r>
              <a:rPr lang="en-US" sz="1600" b="1" u="none" strike="noStrike">
                <a:solidFill>
                  <a:srgbClr val="1b1a0e"/>
                </a:solidFill>
                <a:effectLst/>
                <a:uFillTx/>
                <a:latin typeface="Calibri"/>
              </a:rPr>
              <a:t>open by default</a:t>
            </a:r>
            <a:r>
              <a:rPr lang="en-US" sz="1600" b="0" u="none" strike="noStrike">
                <a:solidFill>
                  <a:srgbClr val="1b1a0e"/>
                </a:solidFill>
                <a:effectLst/>
                <a:uFillTx/>
                <a:latin typeface="Calibri"/>
              </a:rPr>
              <a:t> (H1, H2, H3)</a:t>
            </a:r>
            <a:endParaRPr lang="es-ES" sz="1600" b="0" u="none" strike="noStrike">
              <a:solidFill>
                <a:srgbClr val="000000"/>
              </a:solidFill>
              <a:effectLst/>
              <a:uFillTx/>
              <a:latin typeface="Arial"/>
            </a:endParaRPr>
          </a:p>
          <a:p>
            <a:pPr defTabSz="457200">
              <a:lnSpc>
                <a:spcPct val="100000"/>
              </a:lnSpc>
              <a:spcBef>
                <a:spcPts val="400"/>
              </a:spcBef>
            </a:pPr>
            <a:r>
              <a:rPr lang="en-US" sz="1500" b="1" u="none" strike="noStrike">
                <a:solidFill>
                  <a:srgbClr val="2c5018"/>
                </a:solidFill>
                <a:effectLst/>
                <a:uFillTx/>
                <a:latin typeface="Courier New"/>
              </a:rPr>
              <a:t>3.  </a:t>
            </a:r>
            <a:r>
              <a:rPr lang="en-US" sz="1600" b="1" u="none" strike="noStrike">
                <a:solidFill>
                  <a:srgbClr val="1b1a0e"/>
                </a:solidFill>
                <a:effectLst/>
                <a:uFillTx/>
                <a:latin typeface="Calibri"/>
              </a:rPr>
              <a:t>Advanced explanation</a:t>
            </a:r>
            <a:r>
              <a:rPr lang="en-US" sz="1600" b="0" u="none" strike="noStrike">
                <a:solidFill>
                  <a:srgbClr val="1b1a0e"/>
                </a:solidFill>
                <a:effectLst/>
                <a:uFillTx/>
                <a:latin typeface="Calibri"/>
              </a:rPr>
              <a:t> — expand SHAP attribution; open the scatter drill-down</a:t>
            </a:r>
            <a:endParaRPr lang="es-ES" sz="1600" b="0" u="none" strike="noStrike">
              <a:solidFill>
                <a:srgbClr val="000000"/>
              </a:solidFill>
              <a:effectLst/>
              <a:uFillTx/>
              <a:latin typeface="Arial"/>
            </a:endParaRPr>
          </a:p>
          <a:p>
            <a:pPr defTabSz="457200">
              <a:lnSpc>
                <a:spcPct val="100000"/>
              </a:lnSpc>
              <a:spcBef>
                <a:spcPts val="400"/>
              </a:spcBef>
            </a:pPr>
            <a:r>
              <a:rPr lang="en-US" sz="1500" b="1" u="none" strike="noStrike">
                <a:solidFill>
                  <a:srgbClr val="2c5018"/>
                </a:solidFill>
                <a:effectLst/>
                <a:uFillTx/>
                <a:latin typeface="Courier New"/>
              </a:rPr>
              <a:t>4.  </a:t>
            </a:r>
            <a:r>
              <a:rPr lang="en-US" sz="1600" b="1" u="none" strike="noStrike">
                <a:solidFill>
                  <a:srgbClr val="1b1a0e"/>
                </a:solidFill>
                <a:effectLst/>
                <a:uFillTx/>
                <a:latin typeface="Calibri"/>
              </a:rPr>
              <a:t>Priority slider</a:t>
            </a:r>
            <a:r>
              <a:rPr lang="en-US" sz="1600" b="0" u="none" strike="noStrike">
                <a:solidFill>
                  <a:srgbClr val="1b1a0e"/>
                </a:solidFill>
                <a:effectLst/>
                <a:uFillTx/>
                <a:latin typeface="Calibri"/>
              </a:rPr>
              <a:t> — drag health/eco; show the ranking actually changes (H4, KI-5)</a:t>
            </a:r>
            <a:endParaRPr lang="es-ES" sz="1600" b="0" u="none" strike="noStrike">
              <a:solidFill>
                <a:srgbClr val="000000"/>
              </a:solidFill>
              <a:effectLst/>
              <a:uFillTx/>
              <a:latin typeface="Arial"/>
            </a:endParaRPr>
          </a:p>
          <a:p>
            <a:pPr defTabSz="457200">
              <a:lnSpc>
                <a:spcPct val="100000"/>
              </a:lnSpc>
              <a:spcBef>
                <a:spcPts val="400"/>
              </a:spcBef>
            </a:pPr>
            <a:r>
              <a:rPr lang="en-US" sz="1500" b="1" u="none" strike="noStrike">
                <a:solidFill>
                  <a:srgbClr val="2c5018"/>
                </a:solidFill>
                <a:effectLst/>
                <a:uFillTx/>
                <a:latin typeface="Courier New"/>
              </a:rPr>
              <a:t>5.  </a:t>
            </a:r>
            <a:r>
              <a:rPr lang="en-US" sz="1600" b="1" u="none" strike="noStrike">
                <a:solidFill>
                  <a:srgbClr val="1b1a0e"/>
                </a:solidFill>
                <a:effectLst/>
                <a:uFillTx/>
                <a:latin typeface="Calibri"/>
              </a:rPr>
              <a:t>Filters</a:t>
            </a:r>
            <a:r>
              <a:rPr lang="en-US" sz="1600" b="0" u="none" strike="noStrike">
                <a:solidFill>
                  <a:srgbClr val="1b1a0e"/>
                </a:solidFill>
                <a:effectLst/>
                <a:uFillTx/>
                <a:latin typeface="Calibri"/>
              </a:rPr>
              <a:t> — allergen + eco multi-criteria filtering; category browser (Batch-I)</a:t>
            </a:r>
            <a:endParaRPr lang="es-ES" sz="1600" b="0" u="none" strike="noStrike">
              <a:solidFill>
                <a:srgbClr val="000000"/>
              </a:solidFill>
              <a:effectLst/>
              <a:uFillTx/>
              <a:latin typeface="Arial"/>
            </a:endParaRPr>
          </a:p>
          <a:p>
            <a:pPr defTabSz="457200">
              <a:lnSpc>
                <a:spcPct val="100000"/>
              </a:lnSpc>
              <a:spcBef>
                <a:spcPts val="400"/>
              </a:spcBef>
            </a:pPr>
            <a:r>
              <a:rPr lang="en-US" sz="1500" b="1" u="none" strike="noStrike">
                <a:solidFill>
                  <a:srgbClr val="2c5018"/>
                </a:solidFill>
                <a:effectLst/>
                <a:uFillTx/>
                <a:latin typeface="Courier New"/>
              </a:rPr>
              <a:t>6.  </a:t>
            </a:r>
            <a:r>
              <a:rPr lang="en-US" sz="1600" b="1" u="none" strike="noStrike">
                <a:solidFill>
                  <a:srgbClr val="1b1a0e"/>
                </a:solidFill>
                <a:effectLst/>
                <a:uFillTx/>
                <a:latin typeface="Calibri"/>
              </a:rPr>
              <a:t>Compare this shelf</a:t>
            </a:r>
            <a:r>
              <a:rPr lang="en-US" sz="1600" b="0" u="none" strike="noStrike">
                <a:solidFill>
                  <a:srgbClr val="1b1a0e"/>
                </a:solidFill>
                <a:effectLst/>
                <a:uFillTx/>
                <a:latin typeface="Calibri"/>
              </a:rPr>
              <a:t> — N products -&gt; ranked list + winner-highlight table -&gt; </a:t>
            </a:r>
            <a:r>
              <a:rPr lang="en-US" sz="1600" b="1" u="none" strike="noStrike">
                <a:solidFill>
                  <a:srgbClr val="1b1a0e"/>
                </a:solidFill>
                <a:effectLst/>
                <a:uFillTx/>
                <a:latin typeface="Calibri"/>
              </a:rPr>
              <a:t>CSV export</a:t>
            </a:r>
            <a:r>
              <a:rPr lang="en-US" sz="1600" b="0" u="none" strike="noStrike">
                <a:solidFill>
                  <a:srgbClr val="1b1a0e"/>
                </a:solidFill>
                <a:effectLst/>
                <a:uFillTx/>
                <a:latin typeface="Calibri"/>
              </a:rPr>
              <a:t> (H5)</a:t>
            </a:r>
            <a:endParaRPr lang="es-ES" sz="1600" b="0" u="none" strike="noStrike">
              <a:solidFill>
                <a:srgbClr val="000000"/>
              </a:solidFill>
              <a:effectLst/>
              <a:uFillTx/>
              <a:latin typeface="Arial"/>
            </a:endParaRPr>
          </a:p>
          <a:p>
            <a:pPr defTabSz="457200">
              <a:lnSpc>
                <a:spcPct val="100000"/>
              </a:lnSpc>
              <a:spcBef>
                <a:spcPts val="400"/>
              </a:spcBef>
            </a:pPr>
            <a:r>
              <a:rPr lang="en-US" sz="1500" b="1" u="none" strike="noStrike">
                <a:solidFill>
                  <a:srgbClr val="2c5018"/>
                </a:solidFill>
                <a:effectLst/>
                <a:uFillTx/>
                <a:latin typeface="Courier New"/>
              </a:rPr>
              <a:t>7.  </a:t>
            </a:r>
            <a:r>
              <a:rPr lang="en-US" sz="1600" b="1" u="none" strike="noStrike">
                <a:solidFill>
                  <a:srgbClr val="1b1a0e"/>
                </a:solidFill>
                <a:effectLst/>
                <a:uFillTx/>
                <a:latin typeface="Calibri"/>
              </a:rPr>
              <a:t>i18n</a:t>
            </a:r>
            <a:r>
              <a:rPr lang="en-US" sz="1600" b="0" u="none" strike="noStrike">
                <a:solidFill>
                  <a:srgbClr val="1b1a0e"/>
                </a:solidFill>
                <a:effectLst/>
                <a:uFillTx/>
                <a:latin typeface="Calibri"/>
              </a:rPr>
              <a:t> EN/ES/CA · barcode scan · dark mode · PWA</a:t>
            </a:r>
            <a:endParaRPr lang="es-ES" sz="1600" b="0" u="none" strike="noStrike">
              <a:solidFill>
                <a:srgbClr val="000000"/>
              </a:solidFill>
              <a:effectLst/>
              <a:uFillTx/>
              <a:latin typeface="Arial"/>
            </a:endParaRPr>
          </a:p>
          <a:p>
            <a:pPr defTabSz="457200">
              <a:lnSpc>
                <a:spcPct val="100000"/>
              </a:lnSpc>
              <a:spcBef>
                <a:spcPts val="601"/>
              </a:spcBef>
            </a:pPr>
            <a:r>
              <a:rPr lang="en-US" sz="1500" b="1" u="none" strike="noStrike">
                <a:solidFill>
                  <a:srgbClr val="1b1a0e"/>
                </a:solidFill>
                <a:effectLst/>
                <a:uFillTx/>
                <a:latin typeface="Calibri"/>
              </a:rPr>
              <a:t>AI live, not mock-ups:</a:t>
            </a:r>
            <a:r>
              <a:rPr lang="en-US" sz="1500" b="0" u="none" strike="noStrike">
                <a:solidFill>
                  <a:srgbClr val="1b1a0e"/>
                </a:solidFill>
                <a:effectLst/>
                <a:uFillTx/>
                <a:latin typeface="Calibri"/>
              </a:rPr>
              <a:t> the SHAP explanation + scatter (step 3) and the KNN Alternative Engine (steps 5–6) run on the live scikit-learn + SHAP backend.</a:t>
            </a:r>
            <a:endParaRPr lang="es-ES" sz="1500" b="0" u="none" strike="noStrike">
              <a:solidFill>
                <a:srgbClr val="000000"/>
              </a:solidFill>
              <a:effectLst/>
              <a:uFillTx/>
              <a:latin typeface="Arial"/>
            </a:endParaRPr>
          </a:p>
          <a:p>
            <a:pPr defTabSz="457200">
              <a:lnSpc>
                <a:spcPct val="100000"/>
              </a:lnSpc>
              <a:spcBef>
                <a:spcPts val="601"/>
              </a:spcBef>
            </a:pPr>
            <a:r>
              <a:rPr lang="en-US" sz="1500" b="1" u="none" strike="noStrike">
                <a:solidFill>
                  <a:srgbClr val="1b1a0e"/>
                </a:solidFill>
                <a:effectLst/>
                <a:uFillTx/>
                <a:latin typeface="Calibri"/>
              </a:rPr>
              <a:t>Fallback:</a:t>
            </a:r>
            <a:r>
              <a:rPr lang="en-US" sz="1500" b="0" u="none" strike="noStrike">
                <a:solidFill>
                  <a:srgbClr val="1b1a0e"/>
                </a:solidFill>
                <a:effectLst/>
                <a:uFillTx/>
                <a:latin typeface="Calibri"/>
              </a:rPr>
              <a:t> if the live app fails, the next two slides are screenshot backups.</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71"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2" name="TextBox 2"/>
          <p:cNvSpPr/>
          <p:nvPr/>
        </p:nvSpPr>
        <p:spPr>
          <a:xfrm>
            <a:off x="685080" y="548640"/>
            <a:ext cx="10816200" cy="547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Demo backup A — dashboard &amp; dual-axis grid</a:t>
            </a:r>
            <a:endParaRPr lang="es-ES" sz="3000" b="0" u="none" strike="noStrike">
              <a:solidFill>
                <a:srgbClr val="000000"/>
              </a:solidFill>
              <a:effectLst/>
              <a:uFillTx/>
              <a:latin typeface="Arial"/>
            </a:endParaRPr>
          </a:p>
        </p:txBody>
      </p:sp>
      <p:pic>
        <p:nvPicPr>
          <p:cNvPr id="173" name="Picture 3" descr="dashboard_home.png"/>
          <p:cNvPicPr/>
          <p:nvPr/>
        </p:nvPicPr>
        <p:blipFill>
          <a:blip r:embed="rId1"/>
          <a:stretch/>
        </p:blipFill>
        <p:spPr>
          <a:xfrm>
            <a:off x="2159280" y="1183680"/>
            <a:ext cx="7788240" cy="5475600"/>
          </a:xfrm>
          <a:prstGeom prst="rect">
            <a:avLst/>
          </a:prstGeom>
          <a:noFill/>
          <a:ln w="0">
            <a:noFill/>
          </a:ln>
        </p:spPr>
      </p:pic>
      <p:sp>
        <p:nvSpPr>
          <p:cNvPr id="174" name="TextBox 4"/>
          <p:cNvSpPr/>
          <p:nvPr/>
        </p:nvSpPr>
        <p:spPr>
          <a:xfrm>
            <a:off x="11502360" y="7167960"/>
            <a:ext cx="10816200" cy="318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601"/>
              </a:spcBef>
            </a:pPr>
            <a:r>
              <a:rPr lang="en-US" sz="1500" b="0" u="none" strike="noStrike">
                <a:solidFill>
                  <a:srgbClr val="1b1a0e"/>
                </a:solidFill>
                <a:effectLst/>
                <a:uFillTx/>
                <a:latin typeface="Calibri"/>
              </a:rPr>
              <a:t>Results grid: every card shows both badges. Missing data renders as </a:t>
            </a:r>
            <a:r>
              <a:rPr lang="en-US" sz="1500" b="1" u="none" strike="noStrike">
                <a:solidFill>
                  <a:srgbClr val="1b1a0e"/>
                </a:solidFill>
                <a:effectLst/>
                <a:uFillTx/>
                <a:latin typeface="Calibri"/>
              </a:rPr>
              <a:t>?</a:t>
            </a:r>
            <a:r>
              <a:rPr lang="en-US" sz="1500" b="0" u="none" strike="noStrike">
                <a:solidFill>
                  <a:srgbClr val="1b1a0e"/>
                </a:solidFill>
                <a:effectLst/>
                <a:uFillTx/>
                <a:latin typeface="Calibri"/>
              </a:rPr>
              <a:t> or </a:t>
            </a:r>
            <a:r>
              <a:rPr lang="en-US" sz="1500" b="1" u="none" strike="noStrike">
                <a:solidFill>
                  <a:srgbClr val="1b1a0e"/>
                </a:solidFill>
                <a:effectLst/>
                <a:uFillTx/>
                <a:latin typeface="Calibri"/>
              </a:rPr>
              <a:t>—</a:t>
            </a:r>
            <a:r>
              <a:rPr lang="en-US" sz="1500" b="0" u="none" strike="noStrike">
                <a:solidFill>
                  <a:srgbClr val="1b1a0e"/>
                </a:solidFill>
                <a:effectLst/>
                <a:uFillTx/>
                <a:latin typeface="Calibri"/>
              </a:rPr>
              <a:t> with a caption — never suppressed (H1).</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75"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6"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Demo backup B — comparison view</a:t>
            </a:r>
            <a:endParaRPr lang="es-ES" sz="3000" b="0" u="none" strike="noStrike">
              <a:solidFill>
                <a:srgbClr val="000000"/>
              </a:solidFill>
              <a:effectLst/>
              <a:uFillTx/>
              <a:latin typeface="Arial"/>
            </a:endParaRPr>
          </a:p>
        </p:txBody>
      </p:sp>
      <p:pic>
        <p:nvPicPr>
          <p:cNvPr id="177" name="Picture 3" descr="comparison_view.png"/>
          <p:cNvPicPr/>
          <p:nvPr/>
        </p:nvPicPr>
        <p:blipFill>
          <a:blip r:embed="rId1"/>
          <a:stretch/>
        </p:blipFill>
        <p:spPr>
          <a:xfrm>
            <a:off x="2307600" y="1079640"/>
            <a:ext cx="7411320" cy="5671080"/>
          </a:xfrm>
          <a:prstGeom prst="rect">
            <a:avLst/>
          </a:prstGeom>
          <a:noFill/>
          <a:ln w="0">
            <a:noFill/>
          </a:ln>
        </p:spPr>
      </p:pic>
      <p:sp>
        <p:nvSpPr>
          <p:cNvPr id="178" name="TextBox 4"/>
          <p:cNvSpPr/>
          <p:nvPr/>
        </p:nvSpPr>
        <p:spPr>
          <a:xfrm>
            <a:off x="11502360" y="74858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601"/>
              </a:spcBef>
            </a:pPr>
            <a:r>
              <a:rPr lang="en-US" sz="1500" b="0" u="none" strike="noStrike">
                <a:solidFill>
                  <a:srgbClr val="1b1a0e"/>
                </a:solidFill>
                <a:effectLst/>
                <a:uFillTx/>
                <a:latin typeface="Calibri"/>
              </a:rPr>
              <a:t>Ranked summary + one-line contrastive justification per product + attribute table highlighting the winner per axis. Genuine </a:t>
            </a:r>
            <a:r>
              <a:rPr lang="en-US" sz="1500" b="1" u="none" strike="noStrike">
                <a:solidFill>
                  <a:srgbClr val="1b1a0e"/>
                </a:solidFill>
                <a:effectLst/>
                <a:uFillTx/>
                <a:latin typeface="Calibri"/>
              </a:rPr>
              <a:t>0 g</a:t>
            </a:r>
            <a:r>
              <a:rPr lang="en-US" sz="1500" b="0" u="none" strike="noStrike">
                <a:solidFill>
                  <a:srgbClr val="1b1a0e"/>
                </a:solidFill>
                <a:effectLst/>
                <a:uFillTx/>
                <a:latin typeface="Calibri"/>
              </a:rPr>
              <a:t> renders as "0", not "no data".</a:t>
            </a:r>
            <a:endParaRPr lang="es-E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5018"/>
        </a:solidFill>
      </p:bgPr>
    </p:bg>
    <p:spTree>
      <p:nvGrpSpPr>
        <p:cNvPr id="1" name=""/>
        <p:cNvGrpSpPr/>
        <p:nvPr/>
      </p:nvGrpSpPr>
      <p:grpSpPr>
        <a:xfrm>
          <a:off x="0" y="0"/>
          <a:ext cx="0" cy="0"/>
          <a:chOff x="0" y="0"/>
          <a:chExt cx="0" cy="0"/>
        </a:xfrm>
      </p:grpSpPr>
      <p:sp>
        <p:nvSpPr>
          <p:cNvPr id="179" name="TextBox 1"/>
          <p:cNvSpPr/>
          <p:nvPr/>
        </p:nvSpPr>
        <p:spPr>
          <a:xfrm>
            <a:off x="8988120" y="3657240"/>
            <a:ext cx="2742480" cy="2832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lang="en-US" sz="18000" b="0" u="none" strike="noStrike">
                <a:solidFill>
                  <a:srgbClr val="4a7a2a"/>
                </a:solidFill>
                <a:effectLst/>
                <a:uFillTx/>
                <a:latin typeface="Georgia"/>
              </a:rPr>
              <a:t>6</a:t>
            </a:r>
            <a:endParaRPr lang="es-ES" sz="18000" b="0" u="none" strike="noStrike">
              <a:solidFill>
                <a:srgbClr val="ffffff"/>
              </a:solidFill>
              <a:effectLst/>
              <a:uFillTx/>
              <a:latin typeface="Arial"/>
            </a:endParaRPr>
          </a:p>
        </p:txBody>
      </p:sp>
      <p:sp>
        <p:nvSpPr>
          <p:cNvPr id="180" name="TextBox 2"/>
          <p:cNvSpPr/>
          <p:nvPr/>
        </p:nvSpPr>
        <p:spPr>
          <a:xfrm>
            <a:off x="685080" y="82260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aacc88"/>
                </a:solidFill>
                <a:effectLst/>
                <a:uFillTx/>
                <a:latin typeface="Courier New"/>
              </a:rPr>
              <a:t>Section 6</a:t>
            </a:r>
            <a:endParaRPr lang="es-ES" sz="1100" b="0" u="none" strike="noStrike">
              <a:solidFill>
                <a:srgbClr val="ffffff"/>
              </a:solidFill>
              <a:effectLst/>
              <a:uFillTx/>
              <a:latin typeface="Arial"/>
            </a:endParaRPr>
          </a:p>
        </p:txBody>
      </p:sp>
      <p:sp>
        <p:nvSpPr>
          <p:cNvPr id="181" name="TextBox 3"/>
          <p:cNvSpPr/>
          <p:nvPr/>
        </p:nvSpPr>
        <p:spPr>
          <a:xfrm>
            <a:off x="685080" y="1371600"/>
            <a:ext cx="822888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4800" b="0" u="none" strike="noStrike">
                <a:solidFill>
                  <a:srgbClr val="faf8f0"/>
                </a:solidFill>
                <a:effectLst/>
                <a:uFillTx/>
                <a:latin typeface="Georgia"/>
              </a:rPr>
              <a:t>Lessons learned</a:t>
            </a:r>
            <a:endParaRPr lang="es-ES" sz="4800" b="0" u="none" strike="noStrike">
              <a:solidFill>
                <a:srgbClr val="ffffff"/>
              </a:solidFill>
              <a:effectLst/>
              <a:uFillTx/>
              <a:latin typeface="Arial"/>
            </a:endParaRPr>
          </a:p>
          <a:p>
            <a:pPr defTabSz="457200">
              <a:lnSpc>
                <a:spcPct val="100000"/>
              </a:lnSpc>
            </a:pPr>
            <a:r>
              <a:rPr lang="en-US" sz="4800" b="0" i="1" u="none" strike="noStrike">
                <a:solidFill>
                  <a:srgbClr val="cceeaa"/>
                </a:solidFill>
                <a:effectLst/>
                <a:uFillTx/>
                <a:latin typeface="Georgia"/>
              </a:rPr>
              <a:t>&amp; future improvements</a:t>
            </a:r>
            <a:endParaRPr lang="es-E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82"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83" name="TextBox 2"/>
          <p:cNvSpPr/>
          <p:nvPr/>
        </p:nvSpPr>
        <p:spPr>
          <a:xfrm>
            <a:off x="685080" y="548640"/>
            <a:ext cx="108162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Lessons learned</a:t>
            </a:r>
            <a:endParaRPr lang="es-ES" sz="3000" b="0" u="none" strike="noStrike">
              <a:solidFill>
                <a:srgbClr val="000000"/>
              </a:solidFill>
              <a:effectLst/>
              <a:uFillTx/>
              <a:latin typeface="Arial"/>
            </a:endParaRPr>
          </a:p>
        </p:txBody>
      </p:sp>
      <p:sp>
        <p:nvSpPr>
          <p:cNvPr id="184" name="TextBox 3"/>
          <p:cNvSpPr/>
          <p:nvPr/>
        </p:nvSpPr>
        <p:spPr>
          <a:xfrm>
            <a:off x="685080" y="1554120"/>
            <a:ext cx="10816200" cy="210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Research pays for itself.</a:t>
            </a:r>
            <a:r>
              <a:rPr lang="en-US" sz="1600" b="0" u="none" strike="noStrike">
                <a:solidFill>
                  <a:srgbClr val="1b1a0e"/>
                </a:solidFill>
                <a:effectLst/>
                <a:uFillTx/>
                <a:latin typeface="Calibri"/>
              </a:rPr>
              <a:t> Five Key Insights gave us a non-negotiable spec — we never argued about features from taste.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Honesty is a feature.</a:t>
            </a:r>
            <a:r>
              <a:rPr lang="en-US" sz="1600" b="0" u="none" strike="noStrike">
                <a:solidFill>
                  <a:srgbClr val="1b1a0e"/>
                </a:solidFill>
                <a:effectLst/>
                <a:uFillTx/>
                <a:latin typeface="Calibri"/>
              </a:rPr>
              <a:t> Disclosing dead filters and pending data is more credible than a polished fiction. Missing is not zero is a discipline, not a detail.</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Constraints enabled the work.</a:t>
            </a:r>
            <a:r>
              <a:rPr lang="en-US" sz="1600" b="0" u="none" strike="noStrike">
                <a:solidFill>
                  <a:srgbClr val="1b1a0e"/>
                </a:solidFill>
                <a:effectLst/>
                <a:uFillTx/>
                <a:latin typeface="Calibri"/>
              </a:rPr>
              <a:t> No build step, no framework — a vanilla app runs with a double-click, and graceful degradation kept it alive when the API didn't cooperate.</a:t>
            </a:r>
            <a:endParaRPr lang="es-ES" sz="1600" b="0" u="none" strike="noStrike">
              <a:solidFill>
                <a:srgbClr val="000000"/>
              </a:solidFill>
              <a:effectLst/>
              <a:uFillTx/>
              <a:latin typeface="Arial"/>
            </a:endParaRPr>
          </a:p>
          <a:p>
            <a:pPr defTabSz="457200">
              <a:lnSpc>
                <a:spcPct val="100000"/>
              </a:lnSpc>
              <a:spcBef>
                <a:spcPts val="499"/>
              </a:spcBef>
            </a:pPr>
            <a:r>
              <a:rPr lang="en-US" sz="1800" b="1" u="none" strike="noStrike">
                <a:solidFill>
                  <a:srgbClr val="2c5018"/>
                </a:solidFill>
                <a:effectLst/>
                <a:uFillTx/>
                <a:latin typeface="Calibri"/>
              </a:rPr>
              <a:t>·  </a:t>
            </a:r>
            <a:r>
              <a:rPr lang="en-US" sz="1600" b="1" u="none" strike="noStrike">
                <a:solidFill>
                  <a:srgbClr val="1b1a0e"/>
                </a:solidFill>
                <a:effectLst/>
                <a:uFillTx/>
                <a:latin typeface="Calibri"/>
              </a:rPr>
              <a:t>XAI is an interaction problem, not a model problem.</a:t>
            </a:r>
            <a:r>
              <a:rPr lang="en-US" sz="1600" b="0" u="none" strike="noStrike">
                <a:solidFill>
                  <a:srgbClr val="1b1a0e"/>
                </a:solidFill>
                <a:effectLst/>
                <a:uFillTx/>
                <a:latin typeface="Calibri"/>
              </a:rPr>
              <a:t> The hard part was compressing SHAP into one trustworthy sentence, not training the forest.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ed8"/>
        </a:solidFill>
      </p:bgPr>
    </p:bg>
    <p:spTree>
      <p:nvGrpSpPr>
        <p:cNvPr id="1" name=""/>
        <p:cNvGrpSpPr/>
        <p:nvPr/>
      </p:nvGrpSpPr>
      <p:grpSpPr>
        <a:xfrm>
          <a:off x="0" y="0"/>
          <a:ext cx="0" cy="0"/>
          <a:chOff x="0" y="0"/>
          <a:chExt cx="0" cy="0"/>
        </a:xfrm>
      </p:grpSpPr>
      <p:sp>
        <p:nvSpPr>
          <p:cNvPr id="185" name="Rectangle 1"/>
          <p:cNvSpPr/>
          <p:nvPr/>
        </p:nvSpPr>
        <p:spPr>
          <a:xfrm>
            <a:off x="0" y="0"/>
            <a:ext cx="12188160" cy="72720"/>
          </a:xfrm>
          <a:prstGeom prst="rect">
            <a:avLst/>
          </a:prstGeom>
          <a:solidFill>
            <a:srgbClr val="2c501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86" name="TextBox 2"/>
          <p:cNvSpPr/>
          <p:nvPr/>
        </p:nvSpPr>
        <p:spPr>
          <a:xfrm>
            <a:off x="685080" y="548640"/>
            <a:ext cx="1081620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100" b="0" u="none" strike="noStrike">
                <a:solidFill>
                  <a:srgbClr val="6b6550"/>
                </a:solidFill>
                <a:effectLst/>
                <a:uFillTx/>
                <a:latin typeface="Courier New"/>
              </a:rPr>
              <a:t>Next Steps</a:t>
            </a:r>
            <a:endParaRPr lang="es-ES" sz="1100" b="0" u="none" strike="noStrike">
              <a:solidFill>
                <a:srgbClr val="000000"/>
              </a:solidFill>
              <a:effectLst/>
              <a:uFillTx/>
              <a:latin typeface="Arial"/>
            </a:endParaRPr>
          </a:p>
        </p:txBody>
      </p:sp>
      <p:sp>
        <p:nvSpPr>
          <p:cNvPr id="187" name="TextBox 3"/>
          <p:cNvSpPr/>
          <p:nvPr/>
        </p:nvSpPr>
        <p:spPr>
          <a:xfrm>
            <a:off x="685080" y="914400"/>
            <a:ext cx="731448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000" b="0" u="none" strike="noStrike">
                <a:solidFill>
                  <a:srgbClr val="1b1a0e"/>
                </a:solidFill>
                <a:effectLst/>
                <a:uFillTx/>
                <a:latin typeface="Georgia"/>
              </a:rPr>
              <a:t>Future work &amp; close</a:t>
            </a:r>
            <a:endParaRPr lang="es-ES" sz="3000" b="0" u="none" strike="noStrike">
              <a:solidFill>
                <a:srgbClr val="000000"/>
              </a:solidFill>
              <a:effectLst/>
              <a:uFillTx/>
              <a:latin typeface="Arial"/>
            </a:endParaRPr>
          </a:p>
        </p:txBody>
      </p:sp>
      <p:sp>
        <p:nvSpPr>
          <p:cNvPr id="188" name="TextBox 4"/>
          <p:cNvSpPr/>
          <p:nvPr/>
        </p:nvSpPr>
        <p:spPr>
          <a:xfrm>
            <a:off x="685080" y="1920240"/>
            <a:ext cx="10816200" cy="1254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99"/>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Run the study</a:t>
            </a:r>
            <a:r>
              <a:rPr lang="en-US" sz="1500" b="0" u="none" strike="noStrike">
                <a:solidFill>
                  <a:srgbClr val="1b1a0e"/>
                </a:solidFill>
                <a:effectLst/>
                <a:uFillTx/>
                <a:latin typeface="Calibri"/>
              </a:rPr>
              <a:t> and populate the SUS / XEQ tables with real figures</a:t>
            </a:r>
            <a:endParaRPr lang="es-ES" sz="1500" b="0" u="none" strike="noStrike">
              <a:solidFill>
                <a:srgbClr val="000000"/>
              </a:solidFill>
              <a:effectLst/>
              <a:uFillTx/>
              <a:latin typeface="Arial"/>
            </a:endParaRPr>
          </a:p>
          <a:p>
            <a:pPr defTabSz="457200">
              <a:lnSpc>
                <a:spcPct val="100000"/>
              </a:lnSpc>
              <a:spcBef>
                <a:spcPts val="499"/>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SHAP over DuckDB</a:t>
            </a:r>
            <a:r>
              <a:rPr lang="en-US" sz="1500" b="0" u="none" strike="noStrike">
                <a:solidFill>
                  <a:srgbClr val="1b1a0e"/>
                </a:solidFill>
                <a:effectLst/>
                <a:uFillTx/>
                <a:latin typeface="Calibri"/>
              </a:rPr>
              <a:t> in the backend; scale the index from ~500 to a large fraction of the full OFF catalogue</a:t>
            </a:r>
            <a:endParaRPr lang="es-ES" sz="1500" b="0" u="none" strike="noStrike">
              <a:solidFill>
                <a:srgbClr val="000000"/>
              </a:solidFill>
              <a:effectLst/>
              <a:uFillTx/>
              <a:latin typeface="Arial"/>
            </a:endParaRPr>
          </a:p>
          <a:p>
            <a:pPr defTabSz="457200">
              <a:lnSpc>
                <a:spcPct val="100000"/>
              </a:lnSpc>
              <a:spcBef>
                <a:spcPts val="499"/>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Price as a first-class axis</a:t>
            </a:r>
            <a:r>
              <a:rPr lang="en-US" sz="1500" b="0" u="none" strike="noStrike">
                <a:solidFill>
                  <a:srgbClr val="1b1a0e"/>
                </a:solidFill>
                <a:effectLst/>
                <a:uFillTx/>
                <a:latin typeface="Calibri"/>
              </a:rPr>
              <a:t> behind Advanced (H4) — for Aina</a:t>
            </a:r>
            <a:endParaRPr lang="es-ES" sz="1500" b="0" u="none" strike="noStrike">
              <a:solidFill>
                <a:srgbClr val="000000"/>
              </a:solidFill>
              <a:effectLst/>
              <a:uFillTx/>
              <a:latin typeface="Arial"/>
            </a:endParaRPr>
          </a:p>
          <a:p>
            <a:pPr defTabSz="457200">
              <a:lnSpc>
                <a:spcPct val="100000"/>
              </a:lnSpc>
              <a:spcBef>
                <a:spcPts val="499"/>
              </a:spcBef>
            </a:pPr>
            <a:r>
              <a:rPr lang="en-US" sz="1600" b="1" u="none" strike="noStrike">
                <a:solidFill>
                  <a:srgbClr val="2c5018"/>
                </a:solidFill>
                <a:effectLst/>
                <a:uFillTx/>
                <a:latin typeface="Calibri"/>
              </a:rPr>
              <a:t>·  </a:t>
            </a:r>
            <a:r>
              <a:rPr lang="en-US" sz="1500" b="1" u="none" strike="noStrike">
                <a:solidFill>
                  <a:srgbClr val="1b1a0e"/>
                </a:solidFill>
                <a:effectLst/>
                <a:uFillTx/>
                <a:latin typeface="Calibri"/>
              </a:rPr>
              <a:t>Playwright</a:t>
            </a:r>
            <a:r>
              <a:rPr lang="en-US" sz="1500" b="0" u="none" strike="noStrike">
                <a:solidFill>
                  <a:srgbClr val="1b1a0e"/>
                </a:solidFill>
                <a:effectLst/>
                <a:uFillTx/>
                <a:latin typeface="Calibri"/>
              </a:rPr>
              <a:t> regression suite; longitudinal in-the-wild study vs. a Yuka baseline</a:t>
            </a:r>
            <a:endParaRPr lang="es-ES" sz="1500" b="0" u="none" strike="noStrike">
              <a:solidFill>
                <a:srgbClr val="000000"/>
              </a:solidFill>
              <a:effectLst/>
              <a:uFillTx/>
              <a:latin typeface="Arial"/>
            </a:endParaRPr>
          </a:p>
        </p:txBody>
      </p:sp>
      <p:sp>
        <p:nvSpPr>
          <p:cNvPr id="189" name="Rectangle 5"/>
          <p:cNvSpPr/>
          <p:nvPr/>
        </p:nvSpPr>
        <p:spPr>
          <a:xfrm>
            <a:off x="685080" y="4663080"/>
            <a:ext cx="10817280" cy="17640"/>
          </a:xfrm>
          <a:prstGeom prst="rect">
            <a:avLst/>
          </a:prstGeom>
          <a:solidFill>
            <a:srgbClr val="c8c2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6640" bIns="-2664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0" name="TextBox 6"/>
          <p:cNvSpPr/>
          <p:nvPr/>
        </p:nvSpPr>
        <p:spPr>
          <a:xfrm>
            <a:off x="685080" y="4754880"/>
            <a:ext cx="1984320" cy="638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lang="en-US" sz="3600" b="0" u="none" strike="noStrike">
                <a:solidFill>
                  <a:srgbClr val="1b1a0e"/>
                </a:solidFill>
                <a:effectLst/>
                <a:uFillTx/>
                <a:latin typeface="Georgia"/>
              </a:rPr>
              <a:t>Food</a:t>
            </a:r>
            <a:r>
              <a:rPr lang="en-US" sz="3600" b="0" i="1" u="none" strike="noStrike">
                <a:solidFill>
                  <a:srgbClr val="2c5018"/>
                </a:solidFill>
                <a:effectLst/>
                <a:uFillTx/>
                <a:latin typeface="Georgia"/>
              </a:rPr>
              <a:t>Lens</a:t>
            </a:r>
            <a:endParaRPr lang="es-ES" sz="3600" b="0" u="none" strike="noStrike">
              <a:solidFill>
                <a:srgbClr val="000000"/>
              </a:solidFill>
              <a:effectLst/>
              <a:uFillTx/>
              <a:latin typeface="Arial"/>
            </a:endParaRPr>
          </a:p>
        </p:txBody>
      </p:sp>
      <p:sp>
        <p:nvSpPr>
          <p:cNvPr id="191" name="TextBox 7"/>
          <p:cNvSpPr/>
          <p:nvPr/>
        </p:nvSpPr>
        <p:spPr>
          <a:xfrm>
            <a:off x="685080" y="5486040"/>
            <a:ext cx="6400080" cy="242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1000" b="0" u="none" strike="noStrike">
                <a:solidFill>
                  <a:srgbClr val="6b6550"/>
                </a:solidFill>
                <a:effectLst/>
                <a:uFillTx/>
                <a:latin typeface="Courier New"/>
              </a:rPr>
              <a:t>Dual-axis · Contrastive · Honest   —   github.com/AlejandroB10/foodlens</a:t>
            </a:r>
            <a:endParaRPr lang="es-ES" sz="1000" b="0" u="none" strike="noStrike">
              <a:solidFill>
                <a:srgbClr val="000000"/>
              </a:solidFill>
              <a:effectLst/>
              <a:uFillTx/>
              <a:latin typeface="Arial"/>
            </a:endParaRPr>
          </a:p>
        </p:txBody>
      </p:sp>
      <p:sp>
        <p:nvSpPr>
          <p:cNvPr id="192" name="TextBox 8"/>
          <p:cNvSpPr/>
          <p:nvPr/>
        </p:nvSpPr>
        <p:spPr>
          <a:xfrm>
            <a:off x="685080" y="5806440"/>
            <a:ext cx="640008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2400" b="0" u="none" strike="noStrike">
                <a:solidFill>
                  <a:srgbClr val="1b1a0e"/>
                </a:solidFill>
                <a:effectLst/>
                <a:uFillTx/>
                <a:latin typeface="Georgia"/>
              </a:rPr>
              <a:t>Thank you — questions?</a:t>
            </a:r>
            <a:endParaRPr lang="es-E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LibreOffice/25.8.6.2$Windows_X86_64 LibreOffice_project/b4b39682cd9868fa725bc664aff94278d315bd04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es-ES</dc:language>
  <cp:lastModifiedBy/>
  <dcterms:modified xsi:type="dcterms:W3CDTF">2026-06-08T19:20:38Z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